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0c3b4131f1414b" /><Relationship Type="http://schemas.openxmlformats.org/officeDocument/2006/relationships/extended-properties" Target="/docProps/app.xml" Id="Rcfb83759c44443c3" /><Relationship Type="http://schemas.openxmlformats.org/officeDocument/2006/relationships/officeDocument" Target="/ppt/presentation.xml" Id="Ra0333d7319474ea4" /></Relationships>
</file>

<file path=ppt/presentation.xml><?xml version="1.0" encoding="utf-8"?>
<p:presentation xmlns:p="http://schemas.openxmlformats.org/presentationml/2006/main">
  <p:sldMasterIdLst>
    <p:sldMasterId xmlns:r="http://schemas.openxmlformats.org/officeDocument/2006/relationships" id="2147483648" r:id="R8bdd3edeff17431a"/>
  </p:sldMasterIdLst>
  <p:notesMasterIdLst>
    <p:notesMasterId xmlns:r="http://schemas.openxmlformats.org/officeDocument/2006/relationships" r:id="R5251ae13324946f0"/>
  </p:notesMasterIdLst>
  <p:sldIdLst>
    <p:sldId xmlns:r="http://schemas.openxmlformats.org/officeDocument/2006/relationships" id="256" r:id="R8aee6ca58024475a"/>
    <p:sldId xmlns:r="http://schemas.openxmlformats.org/officeDocument/2006/relationships" id="257" r:id="Rdcf030fa32534cae"/>
    <p:sldId xmlns:r="http://schemas.openxmlformats.org/officeDocument/2006/relationships" id="258" r:id="R5f107c77f60a47f4"/>
    <p:sldId xmlns:r="http://schemas.openxmlformats.org/officeDocument/2006/relationships" id="259" r:id="R47d6ff40a8f14f10"/>
    <p:sldId xmlns:r="http://schemas.openxmlformats.org/officeDocument/2006/relationships" id="260" r:id="Re8f680ff24d04f7d"/>
    <p:sldId xmlns:r="http://schemas.openxmlformats.org/officeDocument/2006/relationships" id="261" r:id="Rf66f9ff6697f43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056d89c90d4693" /><Relationship Type="http://schemas.openxmlformats.org/officeDocument/2006/relationships/slideMaster" Target="/ppt/slideMasters/slideMaster1.xml" Id="R8bdd3edeff17431a" /><Relationship Type="http://schemas.openxmlformats.org/officeDocument/2006/relationships/notesMaster" Target="/ppt/notesMasters/notesMaster1.xml" Id="R5251ae13324946f0" /><Relationship Type="http://schemas.openxmlformats.org/officeDocument/2006/relationships/presProps" Target="/ppt/presProps.xml" Id="R5ba3a4e46d7d40b7" /><Relationship Type="http://schemas.openxmlformats.org/officeDocument/2006/relationships/tableStyles" Target="/ppt/tableStyles.xml" Id="Re92ea23d62ea4edb" /><Relationship Type="http://schemas.openxmlformats.org/officeDocument/2006/relationships/slide" Target="/ppt/slides/slide1.xml" Id="R8aee6ca58024475a" /><Relationship Type="http://schemas.openxmlformats.org/officeDocument/2006/relationships/slide" Target="/ppt/slides/slide2.xml" Id="Rdcf030fa32534cae" /><Relationship Type="http://schemas.openxmlformats.org/officeDocument/2006/relationships/slide" Target="/ppt/slides/slide3.xml" Id="R5f107c77f60a47f4" /><Relationship Type="http://schemas.openxmlformats.org/officeDocument/2006/relationships/slide" Target="/ppt/slides/slide4.xml" Id="R47d6ff40a8f14f10" /><Relationship Type="http://schemas.openxmlformats.org/officeDocument/2006/relationships/slide" Target="/ppt/slides/slide5.xml" Id="Re8f680ff24d04f7d" /><Relationship Type="http://schemas.openxmlformats.org/officeDocument/2006/relationships/slide" Target="/ppt/slides/slide6.xml" Id="Rf66f9ff6697f43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c6f86eab4540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85a9a0a0574a4c" /><Relationship Type="http://schemas.openxmlformats.org/officeDocument/2006/relationships/notesMaster" Target="/ppt/notesMasters/notesMaster1.xml" Id="Rd1a5929364164c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c66e29b4e54f59" /><Relationship Type="http://schemas.openxmlformats.org/officeDocument/2006/relationships/notesMaster" Target="/ppt/notesMasters/notesMaster1.xml" Id="Rbfec811ff22049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5dcc7de1514c92" /><Relationship Type="http://schemas.openxmlformats.org/officeDocument/2006/relationships/notesMaster" Target="/ppt/notesMasters/notesMaster1.xml" Id="R888aef1995414d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f3ae9af6694e9d" /><Relationship Type="http://schemas.openxmlformats.org/officeDocument/2006/relationships/notesMaster" Target="/ppt/notesMasters/notesMaster1.xml" Id="R35440c8a3e3144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47584a85ab497d" /><Relationship Type="http://schemas.openxmlformats.org/officeDocument/2006/relationships/notesMaster" Target="/ppt/notesMasters/notesMaster1.xml" Id="R2e21784271584b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8ac9564ff0416e" /><Relationship Type="http://schemas.openxmlformats.org/officeDocument/2006/relationships/notesMaster" Target="/ppt/notesMasters/notesMaster1.xml" Id="R3bb48df716f542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felt the problem ourselves: AI gave us plausible fixes almost instantly, but we were still responsible for proving them. Generalize immediately—every team adopting coding agents inherits the same review bottleneck.</a:t>
            </a:r>
          </a:p>
          <a:p xmlns:a="http://schemas.openxmlformats.org/drawingml/2006/main">
            <a:r>
              <a:t/>
            </a:r>
          </a:p>
          <a:p xmlns:a="http://schemas.openxmlformats.org/drawingml/2006/main">
            <a:r>
              <a:t>[Sources]</a:t>
            </a:r>
          </a:p>
          <a:p xmlns:a="http://schemas.openxmlformats.org/drawingml/2006/main">
            <a:r>
              <a:t>- /Users/NithinAwasome/Downloads/Daytona-Hacksprint/AGENTS.md — parallel AI-agent build workflow and human gate requirements</a:t>
            </a:r>
          </a:p>
          <a:p xmlns:a="http://schemas.openxmlformats.org/drawingml/2006/main">
            <a:r>
              <a:t>- /Users/NithinAwasome/Downloads/Daytona-Hacksprint/README.md — Popper product premise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moment that pushed us to build Popper. A normal green result is not enough: if the same test passes before and after, it is inconclusive—not evidence that the fix works.</a:t>
            </a:r>
          </a:p>
          <a:p xmlns:a="http://schemas.openxmlformats.org/drawingml/2006/main">
            <a:r>
              <a:t/>
            </a:r>
          </a:p>
          <a:p xmlns:a="http://schemas.openxmlformats.org/drawingml/2006/main">
            <a:r>
              <a:t>[Sources]</a:t>
            </a:r>
          </a:p>
          <a:p xmlns:a="http://schemas.openxmlformats.org/drawingml/2006/main">
            <a:r>
              <a:t>- /Users/NithinAwasome/Downloads/Daytona-Hacksprint/AGENTS.md — “A test that passes on both revisions proves nothing”</a:t>
            </a:r>
          </a:p>
          <a:p xmlns:a="http://schemas.openxmlformats.org/drawingml/2006/main">
            <a:r>
              <a:t>- /Users/NithinAwasome/Downloads/Daytona-Hacksprint/lib/pipeline.ts — before/after verdict logic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product in one sweep: Fireworks extracts the behavioral claim and designs attacks; Daytona executes those attacks against both revisions; CodeRabbit supplies a separate review opinion. Braintrust traces the decision, CopilotKit makes it explorable, and the human owns the final call.</a:t>
            </a:r>
          </a:p>
          <a:p xmlns:a="http://schemas.openxmlformats.org/drawingml/2006/main">
            <a:r>
              <a:t/>
            </a:r>
          </a:p>
          <a:p xmlns:a="http://schemas.openxmlformats.org/drawingml/2006/main">
            <a:r>
              <a:t>[Sources]</a:t>
            </a:r>
          </a:p>
          <a:p xmlns:a="http://schemas.openxmlformats.org/drawingml/2006/main">
            <a:r>
              <a:t>- /Users/NithinAwasome/Downloads/Daytona-Hacksprint/lib/pipeline.ts — orchestrated claim, evidence, comparison, and recommendation flow</a:t>
            </a:r>
          </a:p>
          <a:p xmlns:a="http://schemas.openxmlformats.org/drawingml/2006/main">
            <a:r>
              <a:t>- /Users/NithinAwasome/Downloads/Daytona-Hacksprint/lib/adapters/fireworks.ts — claim extraction and adversarial test generation</a:t>
            </a:r>
          </a:p>
          <a:p xmlns:a="http://schemas.openxmlformats.org/drawingml/2006/main">
            <a:r>
              <a:t>- /Users/NithinAwasome/Downloads/Daytona-Hacksprint/lib/adapters/daytona.ts — isolated before/after execution</a:t>
            </a:r>
          </a:p>
          <a:p xmlns:a="http://schemas.openxmlformats.org/drawingml/2006/main">
            <a:r>
              <a:t>- /Users/NithinAwasome/Downloads/Daytona-Hacksprint/app/api/copilotkit/[...slug]/route.ts — CopilotKit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only the proof loop. Load the recorded pr-101 run, read the claim, point to the split between execution evidence and review opinion, then end on the human block recommendation. If time remains, open the generated test.</a:t>
            </a:r>
          </a:p>
          <a:p xmlns:a="http://schemas.openxmlformats.org/drawingml/2006/main">
            <a:r>
              <a:t/>
            </a:r>
          </a:p>
          <a:p xmlns:a="http://schemas.openxmlformats.org/drawingml/2006/main">
            <a:r>
              <a:t>[Sources]</a:t>
            </a:r>
          </a:p>
          <a:p xmlns:a="http://schemas.openxmlformats.org/drawingml/2006/main">
            <a:r>
              <a:t>- https://daytona-hacksprint.vercel.app/ — deployed Popper demo</a:t>
            </a:r>
          </a:p>
          <a:p xmlns:a="http://schemas.openxmlformats.org/drawingml/2006/main">
            <a:r>
              <a:t>- /Users/NithinAwasome/Downloads/Daytona-Hacksprint/.tmp_popper_deck_v2/popper-evidence.jpg — local screenshot of the redesigned product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distinctions were our biggest engineering challenge and our most important accomplishment. We kept model opinion, executed evidence, inconclusive tests, and infrastructure failure separate. If Popper cannot gather trustworthy evidence, it blocks rather than pretending to know.</a:t>
            </a:r>
          </a:p>
          <a:p xmlns:a="http://schemas.openxmlformats.org/drawingml/2006/main">
            <a:r>
              <a:t/>
            </a:r>
          </a:p>
          <a:p xmlns:a="http://schemas.openxmlformats.org/drawingml/2006/main">
            <a:r>
              <a:t>[Sources]</a:t>
            </a:r>
          </a:p>
          <a:p xmlns:a="http://schemas.openxmlformats.org/drawingml/2006/main">
            <a:r>
              <a:t>- /Users/NithinAwasome/Downloads/Daytona-Hacksprint/AGENTS.md — evidence/opinion boundary and fail-closed rules</a:t>
            </a:r>
          </a:p>
          <a:p xmlns:a="http://schemas.openxmlformats.org/drawingml/2006/main">
            <a:r>
              <a:t>- /Users/NithinAwasome/Downloads/Daytona-Hacksprint/docs/DECISIONS.md — implementation decisions</a:t>
            </a:r>
          </a:p>
          <a:p xmlns:a="http://schemas.openxmlformats.org/drawingml/2006/main">
            <a:r>
              <a:t>- /Users/NithinAwasome/Downloads/Daytona-Hacksprint/docs/PROGRESS.md — challenges and verification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Resolve the opening: agents give us speed; Popper gives reviewers executed evidence. The system recommends, but the human remains accountable for the merge.</a:t>
            </a:r>
          </a:p>
          <a:p xmlns:a="http://schemas.openxmlformats.org/drawingml/2006/main">
            <a:r>
              <a:t/>
            </a:r>
          </a:p>
          <a:p xmlns:a="http://schemas.openxmlformats.org/drawingml/2006/main">
            <a:r>
              <a:t>[Sources]</a:t>
            </a:r>
          </a:p>
          <a:p xmlns:a="http://schemas.openxmlformats.org/drawingml/2006/main">
            <a:r>
              <a:t>- https://daytona-hacksprint.vercel.app/ — deployed Popper demo</a:t>
            </a:r>
          </a:p>
          <a:p xmlns:a="http://schemas.openxmlformats.org/drawingml/2006/main">
            <a:r>
              <a:t>- /Users/NithinAwasome/Downloads/Daytona-Hacksprint/README.md — product description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9b0fbd6f534b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2f3a2233de49b8" /><Relationship Type="http://schemas.openxmlformats.org/officeDocument/2006/relationships/slideLayout" Target="/ppt/slideLayouts/slideLayout1.xml" Id="Re1d4a5dbe29a41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d4a5dbe29a41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866d78cb754491" /><Relationship Type="http://schemas.openxmlformats.org/officeDocument/2006/relationships/notesSlide" Target="/ppt/notesSlides/notesSlide1.xml" Id="R5285fa9ace224a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d10dd0a11994576" /><Relationship Type="http://schemas.openxmlformats.org/officeDocument/2006/relationships/notesSlide" Target="/ppt/notesSlides/notesSlide2.xml" Id="Rf514f66f0f5f4f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d0d42b5908944cc" /><Relationship Type="http://schemas.openxmlformats.org/officeDocument/2006/relationships/notesSlide" Target="/ppt/notesSlides/notesSlide3.xml" Id="R52a19b7a046349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3d5add8593b4247" /><Relationship Type="http://schemas.openxmlformats.org/officeDocument/2006/relationships/image" Target="/ppt/media/image.jpeg" Id="R900f3fe6c39941f5" /><Relationship Type="http://schemas.openxmlformats.org/officeDocument/2006/relationships/hyperlink" Target="https://daytona-hacksprint.vercel.app/" TargetMode="External" Id="Rd3ca1cda322248a0" /><Relationship Type="http://schemas.openxmlformats.org/officeDocument/2006/relationships/notesSlide" Target="/ppt/notesSlides/notesSlide4.xml" Id="R6b7ad4ca0af147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0ca37890d04041" /><Relationship Type="http://schemas.openxmlformats.org/officeDocument/2006/relationships/notesSlide" Target="/ppt/notesSlides/notesSlide5.xml" Id="R63f3fd477b0c4f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d13531501e94d4c" /><Relationship Type="http://schemas.openxmlformats.org/officeDocument/2006/relationships/hyperlink" Target="https://daytona-hacksprint.vercel.app/" TargetMode="External" Id="R1b59f2d5ed1c46d1" /><Relationship Type="http://schemas.openxmlformats.org/officeDocument/2006/relationships/notesSlide" Target="/ppt/notesSlides/notesSlide6.xml" Id="R417496ce771d4ca3" /></Relationships>
</file>

<file path=ppt/slides/slide1.xml><?xml version="1.0" encoding="utf-8"?>
<p:sld xmlns:p="http://schemas.openxmlformats.org/presentationml/2006/main">
  <p:cSld>
    <p:bg>
      <p:bgPr>
        <a:solidFill xmlns:a="http://schemas.openxmlformats.org/drawingml/2006/main">
          <a:srgbClr val="07111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31FD7C1-108D-4273-A5FE-E18C7D3EE973}"/>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123B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20D19D0-2B44-4ECC-AF21-29C0C0D039D5}"/>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7111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5C84C6E-55A4-49D0-841E-A1E755F4577F}"/>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2826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AACBC79-336C-4A6B-A419-0A19B2ADD871}"/>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7111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9BAF021-FCC0-4586-8C51-FD02B731B63F}"/>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7F8FB"/>
                </a:solidFill>
                <a:latin typeface="Georgia"/>
                <a:ea typeface="Georgia"/>
                <a:cs typeface="Georgia"/>
              </a:defRPr>
            </a:pPr>
            <a:r>
              <a:rPr sz="2100" b="1" i="1">
                <a:solidFill>
                  <a:srgbClr val="F7F8FB"/>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E76A09A5-1F24-4F3F-8309-C44EB7A36A69}"/>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A8B6C8"/>
                </a:solidFill>
                <a:latin typeface="Courier New"/>
                <a:ea typeface="Courier New"/>
                <a:cs typeface="Courier New"/>
              </a:defRPr>
            </a:pPr>
            <a:r>
              <a:rPr sz="1050" b="0" i="0">
                <a:solidFill>
                  <a:srgbClr val="A8B6C8"/>
                </a:solidFill>
                <a:latin typeface="Courier New"/>
                <a:ea typeface="Courier New"/>
                <a:cs typeface="Courier New"/>
              </a:rPr>
              <a:t>01</a:t>
            </a:r>
          </a:p>
        </p:txBody>
      </p:sp>
      <p:sp>
        <p:nvSpPr>
          <p:cNvPr id="7" name="">
            <a:extLst xmlns:a="http://schemas.openxmlformats.org/drawingml/2006/main">
              <a:ext uri="{FF2B5EF4-FFF2-40B4-BE49-F238E27FC236}">
                <a16:creationId xmlns:a16="http://schemas.microsoft.com/office/drawing/2014/main" id="{217AAE4C-437E-4617-AAA1-50DA949574CF}"/>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9B8CFF"/>
                </a:solidFill>
                <a:latin typeface="Public Sans"/>
                <a:ea typeface="Public Sans"/>
                <a:cs typeface="Public Sans"/>
              </a:defRPr>
            </a:pPr>
            <a:r>
              <a:rPr sz="1050" b="1" i="0">
                <a:solidFill>
                  <a:srgbClr val="9B8CFF"/>
                </a:solidFill>
                <a:latin typeface="Public Sans"/>
                <a:ea typeface="Public Sans"/>
                <a:cs typeface="Public Sans"/>
              </a:rPr>
              <a:t>OUR PROBLEM → EVERY TEAM’S PROBLEM</a:t>
            </a:r>
          </a:p>
        </p:txBody>
      </p:sp>
      <p:sp>
        <p:nvSpPr>
          <p:cNvPr id="8" name="">
            <a:extLst xmlns:a="http://schemas.openxmlformats.org/drawingml/2006/main">
              <a:ext uri="{FF2B5EF4-FFF2-40B4-BE49-F238E27FC236}">
                <a16:creationId xmlns:a16="http://schemas.microsoft.com/office/drawing/2014/main" id="{6269444A-94A6-4E27-AA8F-4C9F52D3E182}"/>
              </a:ext>
            </a:extLst>
          </p:cNvPr>
          <p:cNvSpPr>
            <a:spLocks xmlns:a="http://schemas.openxmlformats.org/drawingml/2006/main" noGrp="1"/>
          </p:cNvSpPr>
          <p:nvPr/>
        </p:nvSpPr>
        <p:spPr>
          <a:xfrm xmlns:a="http://schemas.openxmlformats.org/drawingml/2006/main">
            <a:off x="685800" y="1066800"/>
            <a:ext cx="990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575" b="0" i="0">
                <a:solidFill>
                  <a:srgbClr val="F7F8FB"/>
                </a:solidFill>
                <a:latin typeface="Georgia"/>
                <a:ea typeface="Georgia"/>
                <a:cs typeface="Georgia"/>
              </a:defRPr>
            </a:pPr>
            <a:r>
              <a:rPr sz="4575" b="0" i="0">
                <a:solidFill>
                  <a:srgbClr val="F7F8FB"/>
                </a:solidFill>
                <a:latin typeface="Georgia"/>
                <a:ea typeface="Georgia"/>
                <a:cs typeface="Georgia"/>
              </a:rPr>
              <a:t>We got the fix in minutes.</a:t>
            </a:r>
          </a:p>
        </p:txBody>
      </p:sp>
      <p:sp>
        <p:nvSpPr>
          <p:cNvPr id="9" name="">
            <a:extLst xmlns:a="http://schemas.openxmlformats.org/drawingml/2006/main">
              <a:ext uri="{FF2B5EF4-FFF2-40B4-BE49-F238E27FC236}">
                <a16:creationId xmlns:a16="http://schemas.microsoft.com/office/drawing/2014/main" id="{28A1B7DD-B0FE-491B-91D0-66D689C3C9E1}"/>
              </a:ext>
            </a:extLst>
          </p:cNvPr>
          <p:cNvSpPr>
            <a:spLocks xmlns:a="http://schemas.openxmlformats.org/drawingml/2006/main" noGrp="1"/>
          </p:cNvSpPr>
          <p:nvPr/>
        </p:nvSpPr>
        <p:spPr>
          <a:xfrm xmlns:a="http://schemas.openxmlformats.org/drawingml/2006/main">
            <a:off x="685800" y="1866900"/>
            <a:ext cx="990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950" b="0" i="1">
                <a:solidFill>
                  <a:srgbClr val="9B8CFF"/>
                </a:solidFill>
                <a:latin typeface="Georgia"/>
                <a:ea typeface="Georgia"/>
                <a:cs typeface="Georgia"/>
              </a:defRPr>
            </a:pPr>
            <a:r>
              <a:rPr sz="4950" b="0" i="1">
                <a:solidFill>
                  <a:srgbClr val="9B8CFF"/>
                </a:solidFill>
                <a:latin typeface="Georgia"/>
                <a:ea typeface="Georgia"/>
                <a:cs typeface="Georgia"/>
              </a:rPr>
              <a:t>Proving it took longer.</a:t>
            </a:r>
          </a:p>
        </p:txBody>
      </p:sp>
      <p:sp>
        <p:nvSpPr>
          <p:cNvPr id="10" name="">
            <a:extLst xmlns:a="http://schemas.openxmlformats.org/drawingml/2006/main">
              <a:ext uri="{FF2B5EF4-FFF2-40B4-BE49-F238E27FC236}">
                <a16:creationId xmlns:a16="http://schemas.microsoft.com/office/drawing/2014/main" id="{09E753AF-4C97-4B2B-9360-5875DB0C57FA}"/>
              </a:ext>
            </a:extLst>
          </p:cNvPr>
          <p:cNvSpPr>
            <a:spLocks xmlns:a="http://schemas.openxmlformats.org/drawingml/2006/main" noGrp="1"/>
          </p:cNvSpPr>
          <p:nvPr/>
        </p:nvSpPr>
        <p:spPr>
          <a:xfrm xmlns:a="http://schemas.openxmlformats.org/drawingml/2006/main">
            <a:off x="685800" y="3676650"/>
            <a:ext cx="10820400" cy="1962150"/>
          </a:xfrm>
          <a:prstGeom xmlns:a="http://schemas.openxmlformats.org/drawingml/2006/main" prst="roundRect">
            <a:avLst>
              <a:gd name="adj" fmla="val 14563"/>
            </a:avLst>
          </a:prstGeom>
          <a:solidFill xmlns:a="http://schemas.openxmlformats.org/drawingml/2006/main">
            <a:srgbClr val="102238"/>
          </a:solidFill>
          <a:ln xmlns:a="http://schemas.openxmlformats.org/drawingml/2006/main" w="11906">
            <a:solidFill>
              <a:srgbClr val="536A84"/>
            </a:solidFill>
            <a:prstDash val="solid"/>
          </a:ln>
        </p:spPr>
      </p:sp>
      <p:sp>
        <p:nvSpPr>
          <p:cNvPr id="11" name="">
            <a:extLst xmlns:a="http://schemas.openxmlformats.org/drawingml/2006/main">
              <a:ext uri="{FF2B5EF4-FFF2-40B4-BE49-F238E27FC236}">
                <a16:creationId xmlns:a16="http://schemas.microsoft.com/office/drawing/2014/main" id="{B840A8DB-0E23-4E4E-BAB8-26455D907C1B}"/>
              </a:ext>
            </a:extLst>
          </p:cNvPr>
          <p:cNvSpPr>
            <a:spLocks xmlns:a="http://schemas.openxmlformats.org/drawingml/2006/main" noGrp="1"/>
          </p:cNvSpPr>
          <p:nvPr/>
        </p:nvSpPr>
        <p:spPr>
          <a:xfrm xmlns:a="http://schemas.openxmlformats.org/drawingml/2006/main">
            <a:off x="914400" y="3686175"/>
            <a:ext cx="10363200" cy="0"/>
          </a:xfrm>
          <a:prstGeom xmlns:a="http://schemas.openxmlformats.org/drawingml/2006/main" prst="line">
            <a:avLst/>
          </a:prstGeom>
          <a:noFill xmlns:a="http://schemas.openxmlformats.org/drawingml/2006/main"/>
          <a:ln xmlns:a="http://schemas.openxmlformats.org/drawingml/2006/main" w="9525">
            <a:solidFill>
              <a:srgbClr val="536A84"/>
            </a:solidFill>
            <a:prstDash val="solid"/>
          </a:ln>
        </p:spPr>
      </p:sp>
      <p:sp>
        <p:nvSpPr>
          <p:cNvPr id="12" name="">
            <a:extLst xmlns:a="http://schemas.openxmlformats.org/drawingml/2006/main">
              <a:ext uri="{FF2B5EF4-FFF2-40B4-BE49-F238E27FC236}">
                <a16:creationId xmlns:a16="http://schemas.microsoft.com/office/drawing/2014/main" id="{9930E95A-F513-4965-8295-1831830ED763}"/>
              </a:ext>
            </a:extLst>
          </p:cNvPr>
          <p:cNvSpPr>
            <a:spLocks xmlns:a="http://schemas.openxmlformats.org/drawingml/2006/main" noGrp="1"/>
          </p:cNvSpPr>
          <p:nvPr/>
        </p:nvSpPr>
        <p:spPr>
          <a:xfrm xmlns:a="http://schemas.openxmlformats.org/drawingml/2006/main">
            <a:off x="1009650" y="4010025"/>
            <a:ext cx="78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4FD8EC"/>
                </a:solidFill>
                <a:latin typeface="Courier New"/>
                <a:ea typeface="Courier New"/>
                <a:cs typeface="Courier New"/>
              </a:defRPr>
            </a:pPr>
            <a:r>
              <a:rPr sz="1050" b="1" i="0">
                <a:solidFill>
                  <a:srgbClr val="4FD8EC"/>
                </a:solidFill>
                <a:latin typeface="Courier New"/>
                <a:ea typeface="Courier New"/>
                <a:cs typeface="Courier New"/>
              </a:rPr>
              <a:t>US</a:t>
            </a:r>
          </a:p>
        </p:txBody>
      </p:sp>
      <p:sp>
        <p:nvSpPr>
          <p:cNvPr id="13" name="">
            <a:extLst xmlns:a="http://schemas.openxmlformats.org/drawingml/2006/main">
              <a:ext uri="{FF2B5EF4-FFF2-40B4-BE49-F238E27FC236}">
                <a16:creationId xmlns:a16="http://schemas.microsoft.com/office/drawing/2014/main" id="{6D05DF6A-C20F-4BE3-9809-4233EAC25621}"/>
              </a:ext>
            </a:extLst>
          </p:cNvPr>
          <p:cNvSpPr>
            <a:spLocks xmlns:a="http://schemas.openxmlformats.org/drawingml/2006/main" noGrp="1"/>
          </p:cNvSpPr>
          <p:nvPr/>
        </p:nvSpPr>
        <p:spPr>
          <a:xfrm xmlns:a="http://schemas.openxmlformats.org/drawingml/2006/main">
            <a:off x="990600" y="43624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0" i="0">
                <a:solidFill>
                  <a:srgbClr val="F7F8FB"/>
                </a:solidFill>
                <a:latin typeface="Georgia"/>
                <a:ea typeface="Georgia"/>
                <a:cs typeface="Georgia"/>
              </a:defRPr>
            </a:pPr>
            <a:r>
              <a:rPr sz="2550" b="0" i="0">
                <a:solidFill>
                  <a:srgbClr val="F7F8FB"/>
                </a:solidFill>
                <a:latin typeface="Georgia"/>
                <a:ea typeface="Georgia"/>
                <a:cs typeface="Georgia"/>
              </a:rPr>
              <a:t>We became the</a:t>
            </a:r>
          </a:p>
          <a:p xmlns:a="http://schemas.openxmlformats.org/drawingml/2006/main">
            <a:pPr algn="l">
              <a:defRPr sz="2550" b="0" i="0">
                <a:solidFill>
                  <a:srgbClr val="F7F8FB"/>
                </a:solidFill>
                <a:latin typeface="Georgia"/>
                <a:ea typeface="Georgia"/>
                <a:cs typeface="Georgia"/>
              </a:defRPr>
            </a:pPr>
            <a:r>
              <a:rPr sz="2550" b="0" i="0">
                <a:solidFill>
                  <a:srgbClr val="F7F8FB"/>
                </a:solidFill>
                <a:latin typeface="Georgia"/>
                <a:ea typeface="Georgia"/>
                <a:cs typeface="Georgia"/>
              </a:rPr>
              <a:t>review bottleneck.</a:t>
            </a:r>
          </a:p>
        </p:txBody>
      </p:sp>
      <p:sp>
        <p:nvSpPr>
          <p:cNvPr id="14" name="">
            <a:extLst xmlns:a="http://schemas.openxmlformats.org/drawingml/2006/main">
              <a:ext uri="{FF2B5EF4-FFF2-40B4-BE49-F238E27FC236}">
                <a16:creationId xmlns:a16="http://schemas.microsoft.com/office/drawing/2014/main" id="{0E5023A3-A1A2-4B68-8DAC-639E0CD0D0E0}"/>
              </a:ext>
            </a:extLst>
          </p:cNvPr>
          <p:cNvSpPr>
            <a:spLocks xmlns:a="http://schemas.openxmlformats.org/drawingml/2006/main" noGrp="1"/>
          </p:cNvSpPr>
          <p:nvPr/>
        </p:nvSpPr>
        <p:spPr>
          <a:xfrm xmlns:a="http://schemas.openxmlformats.org/drawingml/2006/main">
            <a:off x="5886450" y="4000500"/>
            <a:ext cx="0" cy="1314450"/>
          </a:xfrm>
          <a:prstGeom xmlns:a="http://schemas.openxmlformats.org/drawingml/2006/main" prst="line">
            <a:avLst/>
          </a:prstGeom>
          <a:noFill xmlns:a="http://schemas.openxmlformats.org/drawingml/2006/main"/>
          <a:ln xmlns:a="http://schemas.openxmlformats.org/drawingml/2006/main" w="19050">
            <a:solidFill>
              <a:srgbClr val="536A84"/>
            </a:solidFill>
            <a:prstDash val="solid"/>
          </a:ln>
        </p:spPr>
      </p:sp>
      <p:sp>
        <p:nvSpPr>
          <p:cNvPr id="15" name="">
            <a:extLst xmlns:a="http://schemas.openxmlformats.org/drawingml/2006/main">
              <a:ext uri="{FF2B5EF4-FFF2-40B4-BE49-F238E27FC236}">
                <a16:creationId xmlns:a16="http://schemas.microsoft.com/office/drawing/2014/main" id="{1A9AA157-99E0-4241-879F-6F83CAC2BB01}"/>
              </a:ext>
            </a:extLst>
          </p:cNvPr>
          <p:cNvSpPr>
            <a:spLocks xmlns:a="http://schemas.openxmlformats.org/drawingml/2006/main" noGrp="1"/>
          </p:cNvSpPr>
          <p:nvPr/>
        </p:nvSpPr>
        <p:spPr>
          <a:xfrm xmlns:a="http://schemas.openxmlformats.org/drawingml/2006/main">
            <a:off x="6457950" y="4010025"/>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FF7081"/>
                </a:solidFill>
                <a:latin typeface="Courier New"/>
                <a:ea typeface="Courier New"/>
                <a:cs typeface="Courier New"/>
              </a:defRPr>
            </a:pPr>
            <a:r>
              <a:rPr sz="1050" b="1" i="0">
                <a:solidFill>
                  <a:srgbClr val="FF7081"/>
                </a:solidFill>
                <a:latin typeface="Courier New"/>
                <a:ea typeface="Courier New"/>
                <a:cs typeface="Courier New"/>
              </a:rPr>
              <a:t>EVERY TEAM</a:t>
            </a:r>
          </a:p>
        </p:txBody>
      </p:sp>
      <p:sp>
        <p:nvSpPr>
          <p:cNvPr id="16" name="">
            <a:extLst xmlns:a="http://schemas.openxmlformats.org/drawingml/2006/main">
              <a:ext uri="{FF2B5EF4-FFF2-40B4-BE49-F238E27FC236}">
                <a16:creationId xmlns:a16="http://schemas.microsoft.com/office/drawing/2014/main" id="{567F5C8F-B4AF-4061-8AB5-9B2CB41BBFCC}"/>
              </a:ext>
            </a:extLst>
          </p:cNvPr>
          <p:cNvSpPr>
            <a:spLocks xmlns:a="http://schemas.openxmlformats.org/drawingml/2006/main" noGrp="1"/>
          </p:cNvSpPr>
          <p:nvPr/>
        </p:nvSpPr>
        <p:spPr>
          <a:xfrm xmlns:a="http://schemas.openxmlformats.org/drawingml/2006/main">
            <a:off x="6438900" y="4362450"/>
            <a:ext cx="4286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0" i="0">
                <a:solidFill>
                  <a:srgbClr val="F7F8FB"/>
                </a:solidFill>
                <a:latin typeface="Georgia"/>
                <a:ea typeface="Georgia"/>
                <a:cs typeface="Georgia"/>
              </a:defRPr>
            </a:pPr>
            <a:r>
              <a:rPr sz="2550" b="0" i="0">
                <a:solidFill>
                  <a:srgbClr val="F7F8FB"/>
                </a:solidFill>
                <a:latin typeface="Georgia"/>
                <a:ea typeface="Georgia"/>
                <a:cs typeface="Georgia"/>
              </a:rPr>
              <a:t>Coding agents make this</a:t>
            </a:r>
          </a:p>
          <a:p xmlns:a="http://schemas.openxmlformats.org/drawingml/2006/main">
            <a:pPr algn="l">
              <a:defRPr sz="2550" b="0" i="0">
                <a:solidFill>
                  <a:srgbClr val="F7F8FB"/>
                </a:solidFill>
                <a:latin typeface="Georgia"/>
                <a:ea typeface="Georgia"/>
                <a:cs typeface="Georgia"/>
              </a:defRPr>
            </a:pPr>
            <a:r>
              <a:rPr sz="2550" b="0" i="0">
                <a:solidFill>
                  <a:srgbClr val="F7F8FB"/>
                </a:solidFill>
                <a:latin typeface="Georgia"/>
                <a:ea typeface="Georgia"/>
                <a:cs typeface="Georgia"/>
              </a:rPr>
              <a:t>everyone’s bottleneck.</a:t>
            </a:r>
          </a:p>
        </p:txBody>
      </p:sp>
      <p:sp>
        <p:nvSpPr>
          <p:cNvPr id="17" name="">
            <a:extLst xmlns:a="http://schemas.openxmlformats.org/drawingml/2006/main">
              <a:ext uri="{FF2B5EF4-FFF2-40B4-BE49-F238E27FC236}">
                <a16:creationId xmlns:a16="http://schemas.microsoft.com/office/drawing/2014/main" id="{C70B25C9-DE45-445E-9125-FBFE6910C341}"/>
              </a:ext>
            </a:extLst>
          </p:cNvPr>
          <p:cNvSpPr>
            <a:spLocks xmlns:a="http://schemas.openxmlformats.org/drawingml/2006/main" noGrp="1"/>
          </p:cNvSpPr>
          <p:nvPr/>
        </p:nvSpPr>
        <p:spPr>
          <a:xfrm xmlns:a="http://schemas.openxmlformats.org/drawingml/2006/main">
            <a:off x="3886200" y="5981700"/>
            <a:ext cx="4419600" cy="361950"/>
          </a:xfrm>
          <a:prstGeom xmlns:a="http://schemas.openxmlformats.org/drawingml/2006/main" prst="roundRect">
            <a:avLst>
              <a:gd name="adj" fmla="val 50000"/>
            </a:avLst>
          </a:prstGeom>
          <a:solidFill xmlns:a="http://schemas.openxmlformats.org/drawingml/2006/main">
            <a:srgbClr val="28264F"/>
          </a:solidFill>
          <a:ln xmlns:a="http://schemas.openxmlformats.org/drawingml/2006/main" w="9525">
            <a:solidFill>
              <a:srgbClr val="9B8CFF"/>
            </a:solidFill>
            <a:prstDash val="solid"/>
          </a:ln>
        </p:spPr>
      </p:sp>
      <p:sp>
        <p:nvSpPr>
          <p:cNvPr id="18" name="">
            <a:extLst xmlns:a="http://schemas.openxmlformats.org/drawingml/2006/main">
              <a:ext uri="{FF2B5EF4-FFF2-40B4-BE49-F238E27FC236}">
                <a16:creationId xmlns:a16="http://schemas.microsoft.com/office/drawing/2014/main" id="{09D8AAAB-E201-4D8F-A438-FB419C779E8F}"/>
              </a:ext>
            </a:extLst>
          </p:cNvPr>
          <p:cNvSpPr>
            <a:spLocks xmlns:a="http://schemas.openxmlformats.org/drawingml/2006/main" noGrp="1"/>
          </p:cNvSpPr>
          <p:nvPr/>
        </p:nvSpPr>
        <p:spPr>
          <a:xfrm xmlns:a="http://schemas.openxmlformats.org/drawingml/2006/main">
            <a:off x="3886200" y="5981700"/>
            <a:ext cx="441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E3DFFF"/>
                </a:solidFill>
                <a:latin typeface="Public Sans"/>
                <a:ea typeface="Public Sans"/>
                <a:cs typeface="Public Sans"/>
              </a:defRPr>
            </a:pPr>
            <a:r>
              <a:rPr sz="1050" b="1" i="0">
                <a:solidFill>
                  <a:srgbClr val="E3DFFF"/>
                </a:solidFill>
                <a:latin typeface="Public Sans"/>
                <a:ea typeface="Public Sans"/>
                <a:cs typeface="Public Sans"/>
              </a:rPr>
              <a:t>TRUST IS NOW THE SCARCE RESOURCE</a:t>
            </a:r>
          </a:p>
        </p:txBody>
      </p:sp>
    </p:spTree>
    <p:transition spd="med" advClick="1">
      <p:fade/>
    </p:transition>
    <p:extLst>
      <p:ext uri="{BB962C8B-B14F-4D97-AF65-F5344CB8AC3E}">
        <p14:creationId xmlns:p14="http://schemas.microsoft.com/office/powerpoint/2010/main" val="1127898172"/>
      </p:ext>
    </p:extLst>
  </p:cSld>
</p:sld>
</file>

<file path=ppt/slides/slide2.xml><?xml version="1.0" encoding="utf-8"?>
<p:sld xmlns:p="http://schemas.openxmlformats.org/presentationml/2006/main">
  <p:cSld>
    <p:bg>
      <p:bgPr>
        <a:solidFill xmlns:a="http://schemas.openxmlformats.org/drawingml/2006/main">
          <a:srgbClr val="07111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9606DE5-4D47-4BDD-80A9-68CA4B17D80B}"/>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123B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758BA1-5FFE-4322-AB7D-665DA2F9E6CF}"/>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7111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5B3CA8A-5E11-4D67-9ADB-E1CF9E52C997}"/>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2826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5F38BC2-8CB7-45BC-AED5-106247436F97}"/>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7111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1A25CF3-3B80-46B4-9A1E-725998916B35}"/>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7F8FB"/>
                </a:solidFill>
                <a:latin typeface="Georgia"/>
                <a:ea typeface="Georgia"/>
                <a:cs typeface="Georgia"/>
              </a:defRPr>
            </a:pPr>
            <a:r>
              <a:rPr sz="2100" b="1" i="1">
                <a:solidFill>
                  <a:srgbClr val="F7F8FB"/>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58BFFD0E-31DB-410A-B391-541498F04DEC}"/>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A8B6C8"/>
                </a:solidFill>
                <a:latin typeface="Courier New"/>
                <a:ea typeface="Courier New"/>
                <a:cs typeface="Courier New"/>
              </a:defRPr>
            </a:pPr>
            <a:r>
              <a:rPr sz="1050" b="0" i="0">
                <a:solidFill>
                  <a:srgbClr val="A8B6C8"/>
                </a:solidFill>
                <a:latin typeface="Courier New"/>
                <a:ea typeface="Courier New"/>
                <a:cs typeface="Courier New"/>
              </a:rPr>
              <a:t>02</a:t>
            </a:r>
          </a:p>
        </p:txBody>
      </p:sp>
      <p:sp>
        <p:nvSpPr>
          <p:cNvPr id="7" name="">
            <a:extLst xmlns:a="http://schemas.openxmlformats.org/drawingml/2006/main">
              <a:ext uri="{FF2B5EF4-FFF2-40B4-BE49-F238E27FC236}">
                <a16:creationId xmlns:a16="http://schemas.microsoft.com/office/drawing/2014/main" id="{FCC0CEF8-2397-416D-A6E8-84C1F7B9D028}"/>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9B8CFF"/>
                </a:solidFill>
                <a:latin typeface="Public Sans"/>
                <a:ea typeface="Public Sans"/>
                <a:cs typeface="Public Sans"/>
              </a:defRPr>
            </a:pPr>
            <a:r>
              <a:rPr sz="1050" b="1" i="0">
                <a:solidFill>
                  <a:srgbClr val="9B8CFF"/>
                </a:solidFill>
                <a:latin typeface="Public Sans"/>
                <a:ea typeface="Public Sans"/>
                <a:cs typeface="Public Sans"/>
              </a:rPr>
              <a:t>THE FALSE GREEN</a:t>
            </a:r>
          </a:p>
        </p:txBody>
      </p:sp>
      <p:sp>
        <p:nvSpPr>
          <p:cNvPr id="8" name="">
            <a:extLst xmlns:a="http://schemas.openxmlformats.org/drawingml/2006/main">
              <a:ext uri="{FF2B5EF4-FFF2-40B4-BE49-F238E27FC236}">
                <a16:creationId xmlns:a16="http://schemas.microsoft.com/office/drawing/2014/main" id="{5D556550-EBBB-4C1F-AE78-C71FE266F0B2}"/>
              </a:ext>
            </a:extLst>
          </p:cNvPr>
          <p:cNvSpPr>
            <a:spLocks xmlns:a="http://schemas.openxmlformats.org/drawingml/2006/main" noGrp="1"/>
          </p:cNvSpPr>
          <p:nvPr/>
        </p:nvSpPr>
        <p:spPr>
          <a:xfrm xmlns:a="http://schemas.openxmlformats.org/drawingml/2006/main">
            <a:off x="685800" y="1009650"/>
            <a:ext cx="10287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0" i="0">
                <a:solidFill>
                  <a:srgbClr val="F7F8FB"/>
                </a:solidFill>
                <a:latin typeface="Georgia"/>
                <a:ea typeface="Georgia"/>
                <a:cs typeface="Georgia"/>
              </a:defRPr>
            </a:pPr>
            <a:r>
              <a:rPr sz="4350" b="0" i="0">
                <a:solidFill>
                  <a:srgbClr val="F7F8FB"/>
                </a:solidFill>
                <a:latin typeface="Georgia"/>
                <a:ea typeface="Georgia"/>
                <a:cs typeface="Georgia"/>
              </a:rPr>
              <a:t>A green check can still prove nothing.</a:t>
            </a:r>
          </a:p>
        </p:txBody>
      </p:sp>
      <p:sp>
        <p:nvSpPr>
          <p:cNvPr id="9" name="">
            <a:extLst xmlns:a="http://schemas.openxmlformats.org/drawingml/2006/main">
              <a:ext uri="{FF2B5EF4-FFF2-40B4-BE49-F238E27FC236}">
                <a16:creationId xmlns:a16="http://schemas.microsoft.com/office/drawing/2014/main" id="{5DC60C1A-58CD-4523-8F31-A85B3C3E83E9}"/>
              </a:ext>
            </a:extLst>
          </p:cNvPr>
          <p:cNvSpPr>
            <a:spLocks xmlns:a="http://schemas.openxmlformats.org/drawingml/2006/main" noGrp="1"/>
          </p:cNvSpPr>
          <p:nvPr/>
        </p:nvSpPr>
        <p:spPr>
          <a:xfrm xmlns:a="http://schemas.openxmlformats.org/drawingml/2006/main">
            <a:off x="723900" y="1924050"/>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A8B6C8"/>
                </a:solidFill>
                <a:latin typeface="Public Sans"/>
                <a:ea typeface="Public Sans"/>
                <a:cs typeface="Public Sans"/>
              </a:defRPr>
            </a:pPr>
            <a:r>
              <a:rPr sz="1725" b="0" i="0">
                <a:solidFill>
                  <a:srgbClr val="A8B6C8"/>
                </a:solidFill>
                <a:latin typeface="Public Sans"/>
                <a:ea typeface="Public Sans"/>
                <a:cs typeface="Public Sans"/>
              </a:rPr>
              <a:t>One test. Two revisions. The result looked reassuring.</a:t>
            </a:r>
          </a:p>
        </p:txBody>
      </p:sp>
      <p:sp>
        <p:nvSpPr>
          <p:cNvPr id="10" name="">
            <a:extLst xmlns:a="http://schemas.openxmlformats.org/drawingml/2006/main">
              <a:ext uri="{FF2B5EF4-FFF2-40B4-BE49-F238E27FC236}">
                <a16:creationId xmlns:a16="http://schemas.microsoft.com/office/drawing/2014/main" id="{CA964861-19BE-4C06-95C7-0A1968212E1B}"/>
              </a:ext>
            </a:extLst>
          </p:cNvPr>
          <p:cNvSpPr>
            <a:spLocks xmlns:a="http://schemas.openxmlformats.org/drawingml/2006/main" noGrp="1"/>
          </p:cNvSpPr>
          <p:nvPr/>
        </p:nvSpPr>
        <p:spPr>
          <a:xfrm xmlns:a="http://schemas.openxmlformats.org/drawingml/2006/main">
            <a:off x="876300" y="27432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A8B6C8"/>
                </a:solidFill>
                <a:latin typeface="Courier New"/>
                <a:ea typeface="Courier New"/>
                <a:cs typeface="Courier New"/>
              </a:defRPr>
            </a:pPr>
            <a:r>
              <a:rPr sz="1050" b="1" i="0">
                <a:solidFill>
                  <a:srgbClr val="A8B6C8"/>
                </a:solidFill>
                <a:latin typeface="Courier New"/>
                <a:ea typeface="Courier New"/>
                <a:cs typeface="Courier New"/>
              </a:rPr>
              <a:t>BEFORE THE FIX</a:t>
            </a:r>
          </a:p>
        </p:txBody>
      </p:sp>
      <p:sp>
        <p:nvSpPr>
          <p:cNvPr id="11" name="">
            <a:extLst xmlns:a="http://schemas.openxmlformats.org/drawingml/2006/main">
              <a:ext uri="{FF2B5EF4-FFF2-40B4-BE49-F238E27FC236}">
                <a16:creationId xmlns:a16="http://schemas.microsoft.com/office/drawing/2014/main" id="{7B973BDC-A5FA-43A1-AAFC-12EC6D69BA84}"/>
              </a:ext>
            </a:extLst>
          </p:cNvPr>
          <p:cNvSpPr>
            <a:spLocks xmlns:a="http://schemas.openxmlformats.org/drawingml/2006/main" noGrp="1"/>
          </p:cNvSpPr>
          <p:nvPr/>
        </p:nvSpPr>
        <p:spPr>
          <a:xfrm xmlns:a="http://schemas.openxmlformats.org/drawingml/2006/main">
            <a:off x="876300" y="3105150"/>
            <a:ext cx="4648200" cy="1543050"/>
          </a:xfrm>
          <a:prstGeom xmlns:a="http://schemas.openxmlformats.org/drawingml/2006/main" prst="roundRect">
            <a:avLst>
              <a:gd name="adj" fmla="val 18519"/>
            </a:avLst>
          </a:prstGeom>
          <a:solidFill xmlns:a="http://schemas.openxmlformats.org/drawingml/2006/main">
            <a:srgbClr val="123C31"/>
          </a:solidFill>
          <a:ln xmlns:a="http://schemas.openxmlformats.org/drawingml/2006/main" w="11906">
            <a:solidFill>
              <a:srgbClr val="3DDC97"/>
            </a:solidFill>
            <a:prstDash val="solid"/>
          </a:ln>
        </p:spPr>
      </p:sp>
      <p:sp>
        <p:nvSpPr>
          <p:cNvPr id="12" name="">
            <a:extLst xmlns:a="http://schemas.openxmlformats.org/drawingml/2006/main">
              <a:ext uri="{FF2B5EF4-FFF2-40B4-BE49-F238E27FC236}">
                <a16:creationId xmlns:a16="http://schemas.microsoft.com/office/drawing/2014/main" id="{4368CE55-D1D2-436C-903D-FB0720863817}"/>
              </a:ext>
            </a:extLst>
          </p:cNvPr>
          <p:cNvSpPr>
            <a:spLocks xmlns:a="http://schemas.openxmlformats.org/drawingml/2006/main" noGrp="1"/>
          </p:cNvSpPr>
          <p:nvPr/>
        </p:nvSpPr>
        <p:spPr>
          <a:xfrm xmlns:a="http://schemas.openxmlformats.org/drawingml/2006/main">
            <a:off x="1104900" y="3114675"/>
            <a:ext cx="4191000" cy="0"/>
          </a:xfrm>
          <a:prstGeom xmlns:a="http://schemas.openxmlformats.org/drawingml/2006/main" prst="line">
            <a:avLst/>
          </a:prstGeom>
          <a:noFill xmlns:a="http://schemas.openxmlformats.org/drawingml/2006/main"/>
          <a:ln xmlns:a="http://schemas.openxmlformats.org/drawingml/2006/main" w="9525">
            <a:solidFill>
              <a:srgbClr val="536A84"/>
            </a:solidFill>
            <a:prstDash val="solid"/>
          </a:ln>
        </p:spPr>
      </p:sp>
      <p:sp>
        <p:nvSpPr>
          <p:cNvPr id="13" name="">
            <a:extLst xmlns:a="http://schemas.openxmlformats.org/drawingml/2006/main">
              <a:ext uri="{FF2B5EF4-FFF2-40B4-BE49-F238E27FC236}">
                <a16:creationId xmlns:a16="http://schemas.microsoft.com/office/drawing/2014/main" id="{7AB24711-855D-4D80-B78A-CFF549251594}"/>
              </a:ext>
            </a:extLst>
          </p:cNvPr>
          <p:cNvSpPr>
            <a:spLocks xmlns:a="http://schemas.openxmlformats.org/drawingml/2006/main" noGrp="1"/>
          </p:cNvSpPr>
          <p:nvPr/>
        </p:nvSpPr>
        <p:spPr>
          <a:xfrm xmlns:a="http://schemas.openxmlformats.org/drawingml/2006/main">
            <a:off x="876300" y="3419475"/>
            <a:ext cx="4648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4350" b="0" i="1">
                <a:solidFill>
                  <a:srgbClr val="3DDC97"/>
                </a:solidFill>
                <a:latin typeface="Georgia"/>
                <a:ea typeface="Georgia"/>
                <a:cs typeface="Georgia"/>
              </a:defRPr>
            </a:pPr>
            <a:r>
              <a:rPr sz="4350" b="0" i="1">
                <a:solidFill>
                  <a:srgbClr val="3DDC97"/>
                </a:solidFill>
                <a:latin typeface="Georgia"/>
                <a:ea typeface="Georgia"/>
                <a:cs typeface="Georgia"/>
              </a:rPr>
              <a:t>PASS</a:t>
            </a:r>
          </a:p>
        </p:txBody>
      </p:sp>
      <p:sp>
        <p:nvSpPr>
          <p:cNvPr id="14" name="">
            <a:extLst xmlns:a="http://schemas.openxmlformats.org/drawingml/2006/main">
              <a:ext uri="{FF2B5EF4-FFF2-40B4-BE49-F238E27FC236}">
                <a16:creationId xmlns:a16="http://schemas.microsoft.com/office/drawing/2014/main" id="{C68FEBC9-E20F-45C7-8A81-2CEA787611F5}"/>
              </a:ext>
            </a:extLst>
          </p:cNvPr>
          <p:cNvSpPr>
            <a:spLocks xmlns:a="http://schemas.openxmlformats.org/drawingml/2006/main" noGrp="1"/>
          </p:cNvSpPr>
          <p:nvPr/>
        </p:nvSpPr>
        <p:spPr>
          <a:xfrm xmlns:a="http://schemas.openxmlformats.org/drawingml/2006/main">
            <a:off x="6667500" y="27432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A8B6C8"/>
                </a:solidFill>
                <a:latin typeface="Courier New"/>
                <a:ea typeface="Courier New"/>
                <a:cs typeface="Courier New"/>
              </a:defRPr>
            </a:pPr>
            <a:r>
              <a:rPr sz="1050" b="1" i="0">
                <a:solidFill>
                  <a:srgbClr val="A8B6C8"/>
                </a:solidFill>
                <a:latin typeface="Courier New"/>
                <a:ea typeface="Courier New"/>
                <a:cs typeface="Courier New"/>
              </a:rPr>
              <a:t>AFTER THE FIX</a:t>
            </a:r>
          </a:p>
        </p:txBody>
      </p:sp>
      <p:sp>
        <p:nvSpPr>
          <p:cNvPr id="15" name="">
            <a:extLst xmlns:a="http://schemas.openxmlformats.org/drawingml/2006/main">
              <a:ext uri="{FF2B5EF4-FFF2-40B4-BE49-F238E27FC236}">
                <a16:creationId xmlns:a16="http://schemas.microsoft.com/office/drawing/2014/main" id="{1BD1008D-028E-4B4A-85ED-6E9820BB453F}"/>
              </a:ext>
            </a:extLst>
          </p:cNvPr>
          <p:cNvSpPr>
            <a:spLocks xmlns:a="http://schemas.openxmlformats.org/drawingml/2006/main" noGrp="1"/>
          </p:cNvSpPr>
          <p:nvPr/>
        </p:nvSpPr>
        <p:spPr>
          <a:xfrm xmlns:a="http://schemas.openxmlformats.org/drawingml/2006/main">
            <a:off x="6667500" y="3105150"/>
            <a:ext cx="4648200" cy="1543050"/>
          </a:xfrm>
          <a:prstGeom xmlns:a="http://schemas.openxmlformats.org/drawingml/2006/main" prst="roundRect">
            <a:avLst>
              <a:gd name="adj" fmla="val 18519"/>
            </a:avLst>
          </a:prstGeom>
          <a:solidFill xmlns:a="http://schemas.openxmlformats.org/drawingml/2006/main">
            <a:srgbClr val="123C31"/>
          </a:solidFill>
          <a:ln xmlns:a="http://schemas.openxmlformats.org/drawingml/2006/main" w="11906">
            <a:solidFill>
              <a:srgbClr val="3DDC97"/>
            </a:solidFill>
            <a:prstDash val="solid"/>
          </a:ln>
        </p:spPr>
      </p:sp>
      <p:sp>
        <p:nvSpPr>
          <p:cNvPr id="16" name="">
            <a:extLst xmlns:a="http://schemas.openxmlformats.org/drawingml/2006/main">
              <a:ext uri="{FF2B5EF4-FFF2-40B4-BE49-F238E27FC236}">
                <a16:creationId xmlns:a16="http://schemas.microsoft.com/office/drawing/2014/main" id="{33D7E90E-6302-41FA-9F0A-CECB30145F74}"/>
              </a:ext>
            </a:extLst>
          </p:cNvPr>
          <p:cNvSpPr>
            <a:spLocks xmlns:a="http://schemas.openxmlformats.org/drawingml/2006/main" noGrp="1"/>
          </p:cNvSpPr>
          <p:nvPr/>
        </p:nvSpPr>
        <p:spPr>
          <a:xfrm xmlns:a="http://schemas.openxmlformats.org/drawingml/2006/main">
            <a:off x="6896100" y="3114675"/>
            <a:ext cx="4191000" cy="0"/>
          </a:xfrm>
          <a:prstGeom xmlns:a="http://schemas.openxmlformats.org/drawingml/2006/main" prst="line">
            <a:avLst/>
          </a:prstGeom>
          <a:noFill xmlns:a="http://schemas.openxmlformats.org/drawingml/2006/main"/>
          <a:ln xmlns:a="http://schemas.openxmlformats.org/drawingml/2006/main" w="9525">
            <a:solidFill>
              <a:srgbClr val="536A84"/>
            </a:solidFill>
            <a:prstDash val="solid"/>
          </a:ln>
        </p:spPr>
      </p:sp>
      <p:sp>
        <p:nvSpPr>
          <p:cNvPr id="17" name="">
            <a:extLst xmlns:a="http://schemas.openxmlformats.org/drawingml/2006/main">
              <a:ext uri="{FF2B5EF4-FFF2-40B4-BE49-F238E27FC236}">
                <a16:creationId xmlns:a16="http://schemas.microsoft.com/office/drawing/2014/main" id="{EB53D175-DAC5-4843-92A6-77CD1804D619}"/>
              </a:ext>
            </a:extLst>
          </p:cNvPr>
          <p:cNvSpPr>
            <a:spLocks xmlns:a="http://schemas.openxmlformats.org/drawingml/2006/main" noGrp="1"/>
          </p:cNvSpPr>
          <p:nvPr/>
        </p:nvSpPr>
        <p:spPr>
          <a:xfrm xmlns:a="http://schemas.openxmlformats.org/drawingml/2006/main">
            <a:off x="6667500" y="3419475"/>
            <a:ext cx="4648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4350" b="0" i="1">
                <a:solidFill>
                  <a:srgbClr val="3DDC97"/>
                </a:solidFill>
                <a:latin typeface="Georgia"/>
                <a:ea typeface="Georgia"/>
                <a:cs typeface="Georgia"/>
              </a:defRPr>
            </a:pPr>
            <a:r>
              <a:rPr sz="4350" b="0" i="1">
                <a:solidFill>
                  <a:srgbClr val="3DDC97"/>
                </a:solidFill>
                <a:latin typeface="Georgia"/>
                <a:ea typeface="Georgia"/>
                <a:cs typeface="Georgia"/>
              </a:rPr>
              <a:t>PASS</a:t>
            </a:r>
          </a:p>
        </p:txBody>
      </p:sp>
      <p:sp>
        <p:nvSpPr>
          <p:cNvPr id="18" name="">
            <a:extLst xmlns:a="http://schemas.openxmlformats.org/drawingml/2006/main">
              <a:ext uri="{FF2B5EF4-FFF2-40B4-BE49-F238E27FC236}">
                <a16:creationId xmlns:a16="http://schemas.microsoft.com/office/drawing/2014/main" id="{9D8D490E-CBCC-49B9-A732-F01B7CE984F5}"/>
              </a:ext>
            </a:extLst>
          </p:cNvPr>
          <p:cNvSpPr>
            <a:spLocks xmlns:a="http://schemas.openxmlformats.org/drawingml/2006/main" noGrp="1"/>
          </p:cNvSpPr>
          <p:nvPr/>
        </p:nvSpPr>
        <p:spPr>
          <a:xfrm xmlns:a="http://schemas.openxmlformats.org/drawingml/2006/main">
            <a:off x="5219700" y="3676650"/>
            <a:ext cx="1752600" cy="457200"/>
          </a:xfrm>
          <a:prstGeom xmlns:a="http://schemas.openxmlformats.org/drawingml/2006/main" prst="roundRect">
            <a:avLst>
              <a:gd name="adj" fmla="val 50000"/>
            </a:avLst>
          </a:prstGeom>
          <a:solidFill xmlns:a="http://schemas.openxmlformats.org/drawingml/2006/main">
            <a:srgbClr val="4A1D2A"/>
          </a:solidFill>
          <a:ln xmlns:a="http://schemas.openxmlformats.org/drawingml/2006/main" w="9525">
            <a:solidFill>
              <a:srgbClr val="FF7081"/>
            </a:solidFill>
            <a:prstDash val="solid"/>
          </a:ln>
        </p:spPr>
      </p:sp>
      <p:sp>
        <p:nvSpPr>
          <p:cNvPr id="19" name="">
            <a:extLst xmlns:a="http://schemas.openxmlformats.org/drawingml/2006/main">
              <a:ext uri="{FF2B5EF4-FFF2-40B4-BE49-F238E27FC236}">
                <a16:creationId xmlns:a16="http://schemas.microsoft.com/office/drawing/2014/main" id="{D6D0CD33-CFD8-4F9C-97A7-5508A6A0603B}"/>
              </a:ext>
            </a:extLst>
          </p:cNvPr>
          <p:cNvSpPr>
            <a:spLocks xmlns:a="http://schemas.openxmlformats.org/drawingml/2006/main" noGrp="1"/>
          </p:cNvSpPr>
          <p:nvPr/>
        </p:nvSpPr>
        <p:spPr>
          <a:xfrm xmlns:a="http://schemas.openxmlformats.org/drawingml/2006/main">
            <a:off x="5219700" y="36766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FFD8DD"/>
                </a:solidFill>
                <a:latin typeface="Public Sans"/>
                <a:ea typeface="Public Sans"/>
                <a:cs typeface="Public Sans"/>
              </a:defRPr>
            </a:pPr>
            <a:r>
              <a:rPr sz="1050" b="1" i="0">
                <a:solidFill>
                  <a:srgbClr val="FFD8DD"/>
                </a:solidFill>
                <a:latin typeface="Public Sans"/>
                <a:ea typeface="Public Sans"/>
                <a:cs typeface="Public Sans"/>
              </a:rPr>
              <a:t>≠ PROOF</a:t>
            </a:r>
          </a:p>
        </p:txBody>
      </p:sp>
      <p:sp>
        <p:nvSpPr>
          <p:cNvPr id="20" name="">
            <a:extLst xmlns:a="http://schemas.openxmlformats.org/drawingml/2006/main">
              <a:ext uri="{FF2B5EF4-FFF2-40B4-BE49-F238E27FC236}">
                <a16:creationId xmlns:a16="http://schemas.microsoft.com/office/drawing/2014/main" id="{C57601E2-C01D-4F1F-93D1-46A09804A0F4}"/>
              </a:ext>
            </a:extLst>
          </p:cNvPr>
          <p:cNvSpPr>
            <a:spLocks xmlns:a="http://schemas.openxmlformats.org/drawingml/2006/main" noGrp="1"/>
          </p:cNvSpPr>
          <p:nvPr/>
        </p:nvSpPr>
        <p:spPr>
          <a:xfrm xmlns:a="http://schemas.openxmlformats.org/drawingml/2006/main">
            <a:off x="1524000" y="5219700"/>
            <a:ext cx="914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400" b="0" i="1">
                <a:solidFill>
                  <a:srgbClr val="FF7081"/>
                </a:solidFill>
                <a:latin typeface="Georgia"/>
                <a:ea typeface="Georgia"/>
                <a:cs typeface="Georgia"/>
              </a:defRPr>
            </a:pPr>
            <a:r>
              <a:rPr sz="2400" b="0" i="1">
                <a:solidFill>
                  <a:srgbClr val="FF7081"/>
                </a:solidFill>
                <a:latin typeface="Georgia"/>
                <a:ea typeface="Georgia"/>
                <a:cs typeface="Georgia"/>
              </a:rPr>
              <a:t>If it passed before the change, it did not prove the change.</a:t>
            </a:r>
          </a:p>
        </p:txBody>
      </p:sp>
    </p:spTree>
    <p:transition spd="med" advClick="1">
      <p:fade/>
    </p:transition>
    <p:extLst>
      <p:ext uri="{BB962C8B-B14F-4D97-AF65-F5344CB8AC3E}">
        <p14:creationId xmlns:p14="http://schemas.microsoft.com/office/powerpoint/2010/main" val="143054732"/>
      </p:ext>
    </p:extLst>
  </p:cSld>
</p:sld>
</file>

<file path=ppt/slides/slide3.xml><?xml version="1.0" encoding="utf-8"?>
<p:sld xmlns:p="http://schemas.openxmlformats.org/presentationml/2006/main">
  <p:cSld>
    <p:bg>
      <p:bgPr>
        <a:solidFill xmlns:a="http://schemas.openxmlformats.org/drawingml/2006/main">
          <a:srgbClr val="07111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BA54EE7-E1A0-45AA-909B-4037A2DC32DF}"/>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123B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E86C6B-2757-4B8B-9C57-C539E822F6DF}"/>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7111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FE6FB7F-E0C5-4638-B8D3-60001A260F76}"/>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2826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68E89BB-0652-41EB-8CE0-E5B5E0D65AF4}"/>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7111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5AAFCDB-DCEA-410A-807B-E435D56E0A8A}"/>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7F8FB"/>
                </a:solidFill>
                <a:latin typeface="Georgia"/>
                <a:ea typeface="Georgia"/>
                <a:cs typeface="Georgia"/>
              </a:defRPr>
            </a:pPr>
            <a:r>
              <a:rPr sz="2100" b="1" i="1">
                <a:solidFill>
                  <a:srgbClr val="F7F8FB"/>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25F7FBD1-DF5C-47FD-BE6A-E5174F40ADC8}"/>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A8B6C8"/>
                </a:solidFill>
                <a:latin typeface="Courier New"/>
                <a:ea typeface="Courier New"/>
                <a:cs typeface="Courier New"/>
              </a:defRPr>
            </a:pPr>
            <a:r>
              <a:rPr sz="1050" b="0" i="0">
                <a:solidFill>
                  <a:srgbClr val="A8B6C8"/>
                </a:solidFill>
                <a:latin typeface="Courier New"/>
                <a:ea typeface="Courier New"/>
                <a:cs typeface="Courier New"/>
              </a:rPr>
              <a:t>03</a:t>
            </a:r>
          </a:p>
        </p:txBody>
      </p:sp>
      <p:sp>
        <p:nvSpPr>
          <p:cNvPr id="7" name="">
            <a:extLst xmlns:a="http://schemas.openxmlformats.org/drawingml/2006/main">
              <a:ext uri="{FF2B5EF4-FFF2-40B4-BE49-F238E27FC236}">
                <a16:creationId xmlns:a16="http://schemas.microsoft.com/office/drawing/2014/main" id="{F4A7B67B-7D8F-44B5-9D57-46B0207BA5D0}"/>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9B8CFF"/>
                </a:solidFill>
                <a:latin typeface="Public Sans"/>
                <a:ea typeface="Public Sans"/>
                <a:cs typeface="Public Sans"/>
              </a:defRPr>
            </a:pPr>
            <a:r>
              <a:rPr sz="1050" b="1" i="0">
                <a:solidFill>
                  <a:srgbClr val="9B8CFF"/>
                </a:solidFill>
                <a:latin typeface="Public Sans"/>
                <a:ea typeface="Public Sans"/>
                <a:cs typeface="Public Sans"/>
              </a:rPr>
              <a:t>WHAT POPPER DOES</a:t>
            </a:r>
          </a:p>
        </p:txBody>
      </p:sp>
      <p:sp>
        <p:nvSpPr>
          <p:cNvPr id="8" name="">
            <a:extLst xmlns:a="http://schemas.openxmlformats.org/drawingml/2006/main">
              <a:ext uri="{FF2B5EF4-FFF2-40B4-BE49-F238E27FC236}">
                <a16:creationId xmlns:a16="http://schemas.microsoft.com/office/drawing/2014/main" id="{A6BD8872-DDF5-4CBE-8A53-F15B12304CE2}"/>
              </a:ext>
            </a:extLst>
          </p:cNvPr>
          <p:cNvSpPr>
            <a:spLocks xmlns:a="http://schemas.openxmlformats.org/drawingml/2006/main" noGrp="1"/>
          </p:cNvSpPr>
          <p:nvPr/>
        </p:nvSpPr>
        <p:spPr>
          <a:xfrm xmlns:a="http://schemas.openxmlformats.org/drawingml/2006/main">
            <a:off x="685800" y="990600"/>
            <a:ext cx="9906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0" i="0">
                <a:solidFill>
                  <a:srgbClr val="F7F8FB"/>
                </a:solidFill>
                <a:latin typeface="Georgia"/>
                <a:ea typeface="Georgia"/>
                <a:cs typeface="Georgia"/>
              </a:defRPr>
            </a:pPr>
            <a:r>
              <a:rPr sz="4350" b="0" i="0">
                <a:solidFill>
                  <a:srgbClr val="F7F8FB"/>
                </a:solidFill>
                <a:latin typeface="Georgia"/>
                <a:ea typeface="Georgia"/>
                <a:cs typeface="Georgia"/>
              </a:rPr>
              <a:t>Every PR claim has to earn trust.</a:t>
            </a:r>
          </a:p>
        </p:txBody>
      </p:sp>
      <p:sp>
        <p:nvSpPr>
          <p:cNvPr id="9" name="">
            <a:extLst xmlns:a="http://schemas.openxmlformats.org/drawingml/2006/main">
              <a:ext uri="{FF2B5EF4-FFF2-40B4-BE49-F238E27FC236}">
                <a16:creationId xmlns:a16="http://schemas.microsoft.com/office/drawing/2014/main" id="{68678B9A-A186-4267-B801-7AF3D53463F5}"/>
              </a:ext>
            </a:extLst>
          </p:cNvPr>
          <p:cNvSpPr>
            <a:spLocks xmlns:a="http://schemas.openxmlformats.org/drawingml/2006/main" noGrp="1"/>
          </p:cNvSpPr>
          <p:nvPr/>
        </p:nvSpPr>
        <p:spPr>
          <a:xfrm xmlns:a="http://schemas.openxmlformats.org/drawingml/2006/main">
            <a:off x="723900" y="188595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A8B6C8"/>
                </a:solidFill>
                <a:latin typeface="Public Sans"/>
                <a:ea typeface="Public Sans"/>
                <a:cs typeface="Public Sans"/>
              </a:defRPr>
            </a:pPr>
            <a:r>
              <a:rPr sz="1725" b="0" i="0">
                <a:solidFill>
                  <a:srgbClr val="A8B6C8"/>
                </a:solidFill>
                <a:latin typeface="Public Sans"/>
                <a:ea typeface="Public Sans"/>
                <a:cs typeface="Public Sans"/>
              </a:rPr>
              <a:t>Popper turns a pull request’s promise into an adversarial experiment.</a:t>
            </a:r>
          </a:p>
        </p:txBody>
      </p:sp>
      <p:sp>
        <p:nvSpPr>
          <p:cNvPr id="10" name="">
            <a:extLst xmlns:a="http://schemas.openxmlformats.org/drawingml/2006/main">
              <a:ext uri="{FF2B5EF4-FFF2-40B4-BE49-F238E27FC236}">
                <a16:creationId xmlns:a16="http://schemas.microsoft.com/office/drawing/2014/main" id="{D18E4D08-05C0-41CA-9E27-0EBC61F9C004}"/>
              </a:ext>
            </a:extLst>
          </p:cNvPr>
          <p:cNvSpPr>
            <a:spLocks xmlns:a="http://schemas.openxmlformats.org/drawingml/2006/main" noGrp="1"/>
          </p:cNvSpPr>
          <p:nvPr/>
        </p:nvSpPr>
        <p:spPr>
          <a:xfrm xmlns:a="http://schemas.openxmlformats.org/drawingml/2006/main">
            <a:off x="685800" y="2647950"/>
            <a:ext cx="3181350" cy="2133600"/>
          </a:xfrm>
          <a:prstGeom xmlns:a="http://schemas.openxmlformats.org/drawingml/2006/main" prst="roundRect">
            <a:avLst>
              <a:gd name="adj" fmla="val 12500"/>
            </a:avLst>
          </a:prstGeom>
          <a:solidFill xmlns:a="http://schemas.openxmlformats.org/drawingml/2006/main">
            <a:srgbClr val="28264F"/>
          </a:solidFill>
          <a:ln xmlns:a="http://schemas.openxmlformats.org/drawingml/2006/main" w="11906">
            <a:solidFill>
              <a:srgbClr val="9B8CFF"/>
            </a:solidFill>
            <a:prstDash val="solid"/>
          </a:ln>
        </p:spPr>
      </p:sp>
      <p:sp>
        <p:nvSpPr>
          <p:cNvPr id="11" name="">
            <a:extLst xmlns:a="http://schemas.openxmlformats.org/drawingml/2006/main">
              <a:ext uri="{FF2B5EF4-FFF2-40B4-BE49-F238E27FC236}">
                <a16:creationId xmlns:a16="http://schemas.microsoft.com/office/drawing/2014/main" id="{B2C7214A-F691-4AE4-9898-648898B24491}"/>
              </a:ext>
            </a:extLst>
          </p:cNvPr>
          <p:cNvSpPr>
            <a:spLocks xmlns:a="http://schemas.openxmlformats.org/drawingml/2006/main" noGrp="1"/>
          </p:cNvSpPr>
          <p:nvPr/>
        </p:nvSpPr>
        <p:spPr>
          <a:xfrm xmlns:a="http://schemas.openxmlformats.org/drawingml/2006/main">
            <a:off x="914400" y="2657475"/>
            <a:ext cx="2724150" cy="0"/>
          </a:xfrm>
          <a:prstGeom xmlns:a="http://schemas.openxmlformats.org/drawingml/2006/main" prst="line">
            <a:avLst/>
          </a:prstGeom>
          <a:noFill xmlns:a="http://schemas.openxmlformats.org/drawingml/2006/main"/>
          <a:ln xmlns:a="http://schemas.openxmlformats.org/drawingml/2006/main" w="9525">
            <a:solidFill>
              <a:srgbClr val="536A84"/>
            </a:solidFill>
            <a:prstDash val="solid"/>
          </a:ln>
        </p:spPr>
      </p:sp>
      <p:sp>
        <p:nvSpPr>
          <p:cNvPr id="12" name="">
            <a:extLst xmlns:a="http://schemas.openxmlformats.org/drawingml/2006/main">
              <a:ext uri="{FF2B5EF4-FFF2-40B4-BE49-F238E27FC236}">
                <a16:creationId xmlns:a16="http://schemas.microsoft.com/office/drawing/2014/main" id="{47154044-3614-4A79-BC65-69398045189D}"/>
              </a:ext>
            </a:extLst>
          </p:cNvPr>
          <p:cNvSpPr>
            <a:spLocks xmlns:a="http://schemas.openxmlformats.org/drawingml/2006/main" noGrp="1"/>
          </p:cNvSpPr>
          <p:nvPr/>
        </p:nvSpPr>
        <p:spPr>
          <a:xfrm xmlns:a="http://schemas.openxmlformats.org/drawingml/2006/main">
            <a:off x="933450" y="29146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9B8CFF"/>
                </a:solidFill>
                <a:latin typeface="Courier New"/>
                <a:ea typeface="Courier New"/>
                <a:cs typeface="Courier New"/>
              </a:defRPr>
            </a:pPr>
            <a:r>
              <a:rPr sz="975" b="1" i="0">
                <a:solidFill>
                  <a:srgbClr val="9B8CFF"/>
                </a:solidFill>
                <a:latin typeface="Courier New"/>
                <a:ea typeface="Courier New"/>
                <a:cs typeface="Courier New"/>
              </a:rPr>
              <a:t>01 / ATTACK</a:t>
            </a:r>
          </a:p>
        </p:txBody>
      </p:sp>
      <p:sp>
        <p:nvSpPr>
          <p:cNvPr id="13" name="">
            <a:extLst xmlns:a="http://schemas.openxmlformats.org/drawingml/2006/main">
              <a:ext uri="{FF2B5EF4-FFF2-40B4-BE49-F238E27FC236}">
                <a16:creationId xmlns:a16="http://schemas.microsoft.com/office/drawing/2014/main" id="{7B673FF1-2360-4AD2-BF71-F1FBE3C26906}"/>
              </a:ext>
            </a:extLst>
          </p:cNvPr>
          <p:cNvSpPr>
            <a:spLocks xmlns:a="http://schemas.openxmlformats.org/drawingml/2006/main" noGrp="1"/>
          </p:cNvSpPr>
          <p:nvPr/>
        </p:nvSpPr>
        <p:spPr>
          <a:xfrm xmlns:a="http://schemas.openxmlformats.org/drawingml/2006/main">
            <a:off x="933450" y="329565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F7F8FB"/>
                </a:solidFill>
                <a:latin typeface="Georgia"/>
                <a:ea typeface="Georgia"/>
                <a:cs typeface="Georgia"/>
              </a:defRPr>
            </a:pPr>
            <a:r>
              <a:rPr sz="2325" b="1" i="0">
                <a:solidFill>
                  <a:srgbClr val="F7F8FB"/>
                </a:solidFill>
                <a:latin typeface="Georgia"/>
                <a:ea typeface="Georgia"/>
                <a:cs typeface="Georgia"/>
              </a:rPr>
              <a:t>Fireworks</a:t>
            </a:r>
          </a:p>
        </p:txBody>
      </p:sp>
      <p:sp>
        <p:nvSpPr>
          <p:cNvPr id="14" name="">
            <a:extLst xmlns:a="http://schemas.openxmlformats.org/drawingml/2006/main">
              <a:ext uri="{FF2B5EF4-FFF2-40B4-BE49-F238E27FC236}">
                <a16:creationId xmlns:a16="http://schemas.microsoft.com/office/drawing/2014/main" id="{01A43C9F-C0FD-4F1F-A2E8-C812CE74D346}"/>
              </a:ext>
            </a:extLst>
          </p:cNvPr>
          <p:cNvSpPr>
            <a:spLocks xmlns:a="http://schemas.openxmlformats.org/drawingml/2006/main" noGrp="1"/>
          </p:cNvSpPr>
          <p:nvPr/>
        </p:nvSpPr>
        <p:spPr>
          <a:xfrm xmlns:a="http://schemas.openxmlformats.org/drawingml/2006/main">
            <a:off x="933450" y="3876675"/>
            <a:ext cx="2686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A8B6C8"/>
                </a:solidFill>
                <a:latin typeface="Public Sans"/>
                <a:ea typeface="Public Sans"/>
                <a:cs typeface="Public Sans"/>
              </a:defRPr>
            </a:pPr>
            <a:r>
              <a:rPr sz="1350" b="0" i="0">
                <a:solidFill>
                  <a:srgbClr val="A8B6C8"/>
                </a:solidFill>
                <a:latin typeface="Public Sans"/>
                <a:ea typeface="Public Sans"/>
                <a:cs typeface="Public Sans"/>
              </a:rPr>
              <a:t>Extract the claim.</a:t>
            </a:r>
          </a:p>
          <a:p xmlns:a="http://schemas.openxmlformats.org/drawingml/2006/main">
            <a:pPr algn="l">
              <a:defRPr sz="1350" b="0" i="0">
                <a:solidFill>
                  <a:srgbClr val="A8B6C8"/>
                </a:solidFill>
                <a:latin typeface="Public Sans"/>
                <a:ea typeface="Public Sans"/>
                <a:cs typeface="Public Sans"/>
              </a:defRPr>
            </a:pPr>
            <a:r>
              <a:rPr sz="1350" b="0" i="0">
                <a:solidFill>
                  <a:srgbClr val="A8B6C8"/>
                </a:solidFill>
                <a:latin typeface="Public Sans"/>
                <a:ea typeface="Public Sans"/>
                <a:cs typeface="Public Sans"/>
              </a:rPr>
              <a:t>Generate tests to falsify it.</a:t>
            </a:r>
          </a:p>
        </p:txBody>
      </p:sp>
      <p:sp>
        <p:nvSpPr>
          <p:cNvPr id="15" name="">
            <a:extLst xmlns:a="http://schemas.openxmlformats.org/drawingml/2006/main">
              <a:ext uri="{FF2B5EF4-FFF2-40B4-BE49-F238E27FC236}">
                <a16:creationId xmlns:a16="http://schemas.microsoft.com/office/drawing/2014/main" id="{DCCE23F4-6C27-49B0-A8CB-6EE03764878D}"/>
              </a:ext>
            </a:extLst>
          </p:cNvPr>
          <p:cNvSpPr>
            <a:spLocks xmlns:a="http://schemas.openxmlformats.org/drawingml/2006/main" noGrp="1"/>
          </p:cNvSpPr>
          <p:nvPr/>
        </p:nvSpPr>
        <p:spPr>
          <a:xfrm xmlns:a="http://schemas.openxmlformats.org/drawingml/2006/main">
            <a:off x="4276725" y="2647950"/>
            <a:ext cx="3181350" cy="2133600"/>
          </a:xfrm>
          <a:prstGeom xmlns:a="http://schemas.openxmlformats.org/drawingml/2006/main" prst="roundRect">
            <a:avLst>
              <a:gd name="adj" fmla="val 12500"/>
            </a:avLst>
          </a:prstGeom>
          <a:solidFill xmlns:a="http://schemas.openxmlformats.org/drawingml/2006/main">
            <a:srgbClr val="123B4A"/>
          </a:solidFill>
          <a:ln xmlns:a="http://schemas.openxmlformats.org/drawingml/2006/main" w="11906">
            <a:solidFill>
              <a:srgbClr val="4FD8EC"/>
            </a:solidFill>
            <a:prstDash val="solid"/>
          </a:ln>
        </p:spPr>
      </p:sp>
      <p:sp>
        <p:nvSpPr>
          <p:cNvPr id="16" name="">
            <a:extLst xmlns:a="http://schemas.openxmlformats.org/drawingml/2006/main">
              <a:ext uri="{FF2B5EF4-FFF2-40B4-BE49-F238E27FC236}">
                <a16:creationId xmlns:a16="http://schemas.microsoft.com/office/drawing/2014/main" id="{7AA8E164-030D-427A-A12A-5911D322C64F}"/>
              </a:ext>
            </a:extLst>
          </p:cNvPr>
          <p:cNvSpPr>
            <a:spLocks xmlns:a="http://schemas.openxmlformats.org/drawingml/2006/main" noGrp="1"/>
          </p:cNvSpPr>
          <p:nvPr/>
        </p:nvSpPr>
        <p:spPr>
          <a:xfrm xmlns:a="http://schemas.openxmlformats.org/drawingml/2006/main">
            <a:off x="4505325" y="2657475"/>
            <a:ext cx="2724150" cy="0"/>
          </a:xfrm>
          <a:prstGeom xmlns:a="http://schemas.openxmlformats.org/drawingml/2006/main" prst="line">
            <a:avLst/>
          </a:prstGeom>
          <a:noFill xmlns:a="http://schemas.openxmlformats.org/drawingml/2006/main"/>
          <a:ln xmlns:a="http://schemas.openxmlformats.org/drawingml/2006/main" w="9525">
            <a:solidFill>
              <a:srgbClr val="536A84"/>
            </a:solidFill>
            <a:prstDash val="solid"/>
          </a:ln>
        </p:spPr>
      </p:sp>
      <p:sp>
        <p:nvSpPr>
          <p:cNvPr id="17" name="">
            <a:extLst xmlns:a="http://schemas.openxmlformats.org/drawingml/2006/main">
              <a:ext uri="{FF2B5EF4-FFF2-40B4-BE49-F238E27FC236}">
                <a16:creationId xmlns:a16="http://schemas.microsoft.com/office/drawing/2014/main" id="{74AC3450-C261-4BFD-81A1-38CA36FAD706}"/>
              </a:ext>
            </a:extLst>
          </p:cNvPr>
          <p:cNvSpPr>
            <a:spLocks xmlns:a="http://schemas.openxmlformats.org/drawingml/2006/main" noGrp="1"/>
          </p:cNvSpPr>
          <p:nvPr/>
        </p:nvSpPr>
        <p:spPr>
          <a:xfrm xmlns:a="http://schemas.openxmlformats.org/drawingml/2006/main">
            <a:off x="4524375" y="29146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4FD8EC"/>
                </a:solidFill>
                <a:latin typeface="Courier New"/>
                <a:ea typeface="Courier New"/>
                <a:cs typeface="Courier New"/>
              </a:defRPr>
            </a:pPr>
            <a:r>
              <a:rPr sz="975" b="1" i="0">
                <a:solidFill>
                  <a:srgbClr val="4FD8EC"/>
                </a:solidFill>
                <a:latin typeface="Courier New"/>
                <a:ea typeface="Courier New"/>
                <a:cs typeface="Courier New"/>
              </a:rPr>
              <a:t>02 / EXECUTE</a:t>
            </a:r>
          </a:p>
        </p:txBody>
      </p:sp>
      <p:sp>
        <p:nvSpPr>
          <p:cNvPr id="18" name="">
            <a:extLst xmlns:a="http://schemas.openxmlformats.org/drawingml/2006/main">
              <a:ext uri="{FF2B5EF4-FFF2-40B4-BE49-F238E27FC236}">
                <a16:creationId xmlns:a16="http://schemas.microsoft.com/office/drawing/2014/main" id="{2BB8E8C6-4573-43AD-8A24-AA27D3895FE2}"/>
              </a:ext>
            </a:extLst>
          </p:cNvPr>
          <p:cNvSpPr>
            <a:spLocks xmlns:a="http://schemas.openxmlformats.org/drawingml/2006/main" noGrp="1"/>
          </p:cNvSpPr>
          <p:nvPr/>
        </p:nvSpPr>
        <p:spPr>
          <a:xfrm xmlns:a="http://schemas.openxmlformats.org/drawingml/2006/main">
            <a:off x="4524375" y="329565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F7F8FB"/>
                </a:solidFill>
                <a:latin typeface="Georgia"/>
                <a:ea typeface="Georgia"/>
                <a:cs typeface="Georgia"/>
              </a:defRPr>
            </a:pPr>
            <a:r>
              <a:rPr sz="2325" b="1" i="0">
                <a:solidFill>
                  <a:srgbClr val="F7F8FB"/>
                </a:solidFill>
                <a:latin typeface="Georgia"/>
                <a:ea typeface="Georgia"/>
                <a:cs typeface="Georgia"/>
              </a:rPr>
              <a:t>Daytona</a:t>
            </a:r>
          </a:p>
        </p:txBody>
      </p:sp>
      <p:sp>
        <p:nvSpPr>
          <p:cNvPr id="19" name="">
            <a:extLst xmlns:a="http://schemas.openxmlformats.org/drawingml/2006/main">
              <a:ext uri="{FF2B5EF4-FFF2-40B4-BE49-F238E27FC236}">
                <a16:creationId xmlns:a16="http://schemas.microsoft.com/office/drawing/2014/main" id="{6757DC8E-C2F5-4F33-BDD5-5CC115F4029F}"/>
              </a:ext>
            </a:extLst>
          </p:cNvPr>
          <p:cNvSpPr>
            <a:spLocks xmlns:a="http://schemas.openxmlformats.org/drawingml/2006/main" noGrp="1"/>
          </p:cNvSpPr>
          <p:nvPr/>
        </p:nvSpPr>
        <p:spPr>
          <a:xfrm xmlns:a="http://schemas.openxmlformats.org/drawingml/2006/main">
            <a:off x="4524375" y="3876675"/>
            <a:ext cx="2686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A8B6C8"/>
                </a:solidFill>
                <a:latin typeface="Public Sans"/>
                <a:ea typeface="Public Sans"/>
                <a:cs typeface="Public Sans"/>
              </a:defRPr>
            </a:pPr>
            <a:r>
              <a:rPr sz="1350" b="0" i="0">
                <a:solidFill>
                  <a:srgbClr val="A8B6C8"/>
                </a:solidFill>
                <a:latin typeface="Public Sans"/>
                <a:ea typeface="Public Sans"/>
                <a:cs typeface="Public Sans"/>
              </a:rPr>
              <a:t>Run each test on the</a:t>
            </a:r>
          </a:p>
          <a:p xmlns:a="http://schemas.openxmlformats.org/drawingml/2006/main">
            <a:pPr algn="l">
              <a:defRPr sz="1350" b="0" i="0">
                <a:solidFill>
                  <a:srgbClr val="A8B6C8"/>
                </a:solidFill>
                <a:latin typeface="Public Sans"/>
                <a:ea typeface="Public Sans"/>
                <a:cs typeface="Public Sans"/>
              </a:defRPr>
            </a:pPr>
            <a:r>
              <a:rPr sz="1350" b="0" i="0">
                <a:solidFill>
                  <a:srgbClr val="A8B6C8"/>
                </a:solidFill>
                <a:latin typeface="Public Sans"/>
                <a:ea typeface="Public Sans"/>
                <a:cs typeface="Public Sans"/>
              </a:rPr>
              <a:t>before and after code.</a:t>
            </a:r>
          </a:p>
        </p:txBody>
      </p:sp>
      <p:sp>
        <p:nvSpPr>
          <p:cNvPr id="20" name="">
            <a:extLst xmlns:a="http://schemas.openxmlformats.org/drawingml/2006/main">
              <a:ext uri="{FF2B5EF4-FFF2-40B4-BE49-F238E27FC236}">
                <a16:creationId xmlns:a16="http://schemas.microsoft.com/office/drawing/2014/main" id="{378A7CED-7E56-449E-BF20-9AF1474134EB}"/>
              </a:ext>
            </a:extLst>
          </p:cNvPr>
          <p:cNvSpPr>
            <a:spLocks xmlns:a="http://schemas.openxmlformats.org/drawingml/2006/main" noGrp="1"/>
          </p:cNvSpPr>
          <p:nvPr/>
        </p:nvSpPr>
        <p:spPr>
          <a:xfrm xmlns:a="http://schemas.openxmlformats.org/drawingml/2006/main">
            <a:off x="7867650" y="2647950"/>
            <a:ext cx="3181350" cy="2133600"/>
          </a:xfrm>
          <a:prstGeom xmlns:a="http://schemas.openxmlformats.org/drawingml/2006/main" prst="roundRect">
            <a:avLst>
              <a:gd name="adj" fmla="val 12500"/>
            </a:avLst>
          </a:prstGeom>
          <a:solidFill xmlns:a="http://schemas.openxmlformats.org/drawingml/2006/main">
            <a:srgbClr val="463716"/>
          </a:solidFill>
          <a:ln xmlns:a="http://schemas.openxmlformats.org/drawingml/2006/main" w="11906">
            <a:solidFill>
              <a:srgbClr val="FFC86B"/>
            </a:solidFill>
            <a:prstDash val="solid"/>
          </a:ln>
        </p:spPr>
      </p:sp>
      <p:sp>
        <p:nvSpPr>
          <p:cNvPr id="21" name="">
            <a:extLst xmlns:a="http://schemas.openxmlformats.org/drawingml/2006/main">
              <a:ext uri="{FF2B5EF4-FFF2-40B4-BE49-F238E27FC236}">
                <a16:creationId xmlns:a16="http://schemas.microsoft.com/office/drawing/2014/main" id="{9ACAB1E4-7B3A-4010-BC41-9F5D63EFB83F}"/>
              </a:ext>
            </a:extLst>
          </p:cNvPr>
          <p:cNvSpPr>
            <a:spLocks xmlns:a="http://schemas.openxmlformats.org/drawingml/2006/main" noGrp="1"/>
          </p:cNvSpPr>
          <p:nvPr/>
        </p:nvSpPr>
        <p:spPr>
          <a:xfrm xmlns:a="http://schemas.openxmlformats.org/drawingml/2006/main">
            <a:off x="8096250" y="2657475"/>
            <a:ext cx="2724150" cy="0"/>
          </a:xfrm>
          <a:prstGeom xmlns:a="http://schemas.openxmlformats.org/drawingml/2006/main" prst="line">
            <a:avLst/>
          </a:prstGeom>
          <a:noFill xmlns:a="http://schemas.openxmlformats.org/drawingml/2006/main"/>
          <a:ln xmlns:a="http://schemas.openxmlformats.org/drawingml/2006/main" w="9525">
            <a:solidFill>
              <a:srgbClr val="536A84"/>
            </a:solidFill>
            <a:prstDash val="solid"/>
          </a:ln>
        </p:spPr>
      </p:sp>
      <p:sp>
        <p:nvSpPr>
          <p:cNvPr id="22" name="">
            <a:extLst xmlns:a="http://schemas.openxmlformats.org/drawingml/2006/main">
              <a:ext uri="{FF2B5EF4-FFF2-40B4-BE49-F238E27FC236}">
                <a16:creationId xmlns:a16="http://schemas.microsoft.com/office/drawing/2014/main" id="{B5BEA3BE-BED6-45CE-8179-306FDF4695A5}"/>
              </a:ext>
            </a:extLst>
          </p:cNvPr>
          <p:cNvSpPr>
            <a:spLocks xmlns:a="http://schemas.openxmlformats.org/drawingml/2006/main" noGrp="1"/>
          </p:cNvSpPr>
          <p:nvPr/>
        </p:nvSpPr>
        <p:spPr>
          <a:xfrm xmlns:a="http://schemas.openxmlformats.org/drawingml/2006/main">
            <a:off x="8115300" y="29146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FFC86B"/>
                </a:solidFill>
                <a:latin typeface="Courier New"/>
                <a:ea typeface="Courier New"/>
                <a:cs typeface="Courier New"/>
              </a:defRPr>
            </a:pPr>
            <a:r>
              <a:rPr sz="975" b="1" i="0">
                <a:solidFill>
                  <a:srgbClr val="FFC86B"/>
                </a:solidFill>
                <a:latin typeface="Courier New"/>
                <a:ea typeface="Courier New"/>
                <a:cs typeface="Courier New"/>
              </a:rPr>
              <a:t>03 / COMPARE</a:t>
            </a:r>
          </a:p>
        </p:txBody>
      </p:sp>
      <p:sp>
        <p:nvSpPr>
          <p:cNvPr id="23" name="">
            <a:extLst xmlns:a="http://schemas.openxmlformats.org/drawingml/2006/main">
              <a:ext uri="{FF2B5EF4-FFF2-40B4-BE49-F238E27FC236}">
                <a16:creationId xmlns:a16="http://schemas.microsoft.com/office/drawing/2014/main" id="{4B962BD8-A3EE-46DB-8D8A-380E416C9A2E}"/>
              </a:ext>
            </a:extLst>
          </p:cNvPr>
          <p:cNvSpPr>
            <a:spLocks xmlns:a="http://schemas.openxmlformats.org/drawingml/2006/main" noGrp="1"/>
          </p:cNvSpPr>
          <p:nvPr/>
        </p:nvSpPr>
        <p:spPr>
          <a:xfrm xmlns:a="http://schemas.openxmlformats.org/drawingml/2006/main">
            <a:off x="8115300" y="329565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F7F8FB"/>
                </a:solidFill>
                <a:latin typeface="Georgia"/>
                <a:ea typeface="Georgia"/>
                <a:cs typeface="Georgia"/>
              </a:defRPr>
            </a:pPr>
            <a:r>
              <a:rPr sz="2325" b="1" i="0">
                <a:solidFill>
                  <a:srgbClr val="F7F8FB"/>
                </a:solidFill>
                <a:latin typeface="Georgia"/>
                <a:ea typeface="Georgia"/>
                <a:cs typeface="Georgia"/>
              </a:rPr>
              <a:t>CodeRabbit</a:t>
            </a:r>
          </a:p>
        </p:txBody>
      </p:sp>
      <p:sp>
        <p:nvSpPr>
          <p:cNvPr id="24" name="">
            <a:extLst xmlns:a="http://schemas.openxmlformats.org/drawingml/2006/main">
              <a:ext uri="{FF2B5EF4-FFF2-40B4-BE49-F238E27FC236}">
                <a16:creationId xmlns:a16="http://schemas.microsoft.com/office/drawing/2014/main" id="{5E370373-3048-4C9A-8AE5-E028B4B920DF}"/>
              </a:ext>
            </a:extLst>
          </p:cNvPr>
          <p:cNvSpPr>
            <a:spLocks xmlns:a="http://schemas.openxmlformats.org/drawingml/2006/main" noGrp="1"/>
          </p:cNvSpPr>
          <p:nvPr/>
        </p:nvSpPr>
        <p:spPr>
          <a:xfrm xmlns:a="http://schemas.openxmlformats.org/drawingml/2006/main">
            <a:off x="8115300" y="3876675"/>
            <a:ext cx="2686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A8B6C8"/>
                </a:solidFill>
                <a:latin typeface="Public Sans"/>
                <a:ea typeface="Public Sans"/>
                <a:cs typeface="Public Sans"/>
              </a:defRPr>
            </a:pPr>
            <a:r>
              <a:rPr sz="1350" b="0" i="0">
                <a:solidFill>
                  <a:srgbClr val="A8B6C8"/>
                </a:solidFill>
                <a:latin typeface="Public Sans"/>
                <a:ea typeface="Public Sans"/>
                <a:cs typeface="Public Sans"/>
              </a:rPr>
              <a:t>Set execution evidence beside</a:t>
            </a:r>
          </a:p>
          <a:p xmlns:a="http://schemas.openxmlformats.org/drawingml/2006/main">
            <a:pPr algn="l">
              <a:defRPr sz="1350" b="0" i="0">
                <a:solidFill>
                  <a:srgbClr val="A8B6C8"/>
                </a:solidFill>
                <a:latin typeface="Public Sans"/>
                <a:ea typeface="Public Sans"/>
                <a:cs typeface="Public Sans"/>
              </a:defRPr>
            </a:pPr>
            <a:r>
              <a:rPr sz="1350" b="0" i="0">
                <a:solidFill>
                  <a:srgbClr val="A8B6C8"/>
                </a:solidFill>
                <a:latin typeface="Public Sans"/>
                <a:ea typeface="Public Sans"/>
                <a:cs typeface="Public Sans"/>
              </a:rPr>
              <a:t>an independent review opinion.</a:t>
            </a:r>
          </a:p>
        </p:txBody>
      </p:sp>
      <p:sp>
        <p:nvSpPr>
          <p:cNvPr id="25" name="">
            <a:extLst xmlns:a="http://schemas.openxmlformats.org/drawingml/2006/main">
              <a:ext uri="{FF2B5EF4-FFF2-40B4-BE49-F238E27FC236}">
                <a16:creationId xmlns:a16="http://schemas.microsoft.com/office/drawing/2014/main" id="{C0C5B3BE-3128-4A65-B166-79FCDC84AFF1}"/>
              </a:ext>
            </a:extLst>
          </p:cNvPr>
          <p:cNvSpPr>
            <a:spLocks xmlns:a="http://schemas.openxmlformats.org/drawingml/2006/main" noGrp="1"/>
          </p:cNvSpPr>
          <p:nvPr/>
        </p:nvSpPr>
        <p:spPr>
          <a:xfrm xmlns:a="http://schemas.openxmlformats.org/drawingml/2006/main">
            <a:off x="685800" y="5219700"/>
            <a:ext cx="10820400" cy="876300"/>
          </a:xfrm>
          <a:prstGeom xmlns:a="http://schemas.openxmlformats.org/drawingml/2006/main" prst="roundRect">
            <a:avLst>
              <a:gd name="adj" fmla="val 26087"/>
            </a:avLst>
          </a:prstGeom>
          <a:solidFill xmlns:a="http://schemas.openxmlformats.org/drawingml/2006/main">
            <a:srgbClr val="0A192A"/>
          </a:solidFill>
          <a:ln xmlns:a="http://schemas.openxmlformats.org/drawingml/2006/main" w="11906">
            <a:solidFill>
              <a:srgbClr val="536A84"/>
            </a:solidFill>
            <a:prstDash val="solid"/>
          </a:ln>
        </p:spPr>
      </p:sp>
      <p:sp>
        <p:nvSpPr>
          <p:cNvPr id="26" name="">
            <a:extLst xmlns:a="http://schemas.openxmlformats.org/drawingml/2006/main">
              <a:ext uri="{FF2B5EF4-FFF2-40B4-BE49-F238E27FC236}">
                <a16:creationId xmlns:a16="http://schemas.microsoft.com/office/drawing/2014/main" id="{B856466B-9E58-44E6-BB4B-960C5F82627B}"/>
              </a:ext>
            </a:extLst>
          </p:cNvPr>
          <p:cNvSpPr>
            <a:spLocks xmlns:a="http://schemas.openxmlformats.org/drawingml/2006/main" noGrp="1"/>
          </p:cNvSpPr>
          <p:nvPr/>
        </p:nvSpPr>
        <p:spPr>
          <a:xfrm xmlns:a="http://schemas.openxmlformats.org/drawingml/2006/main">
            <a:off x="914400" y="5229225"/>
            <a:ext cx="10363200" cy="0"/>
          </a:xfrm>
          <a:prstGeom xmlns:a="http://schemas.openxmlformats.org/drawingml/2006/main" prst="line">
            <a:avLst/>
          </a:prstGeom>
          <a:noFill xmlns:a="http://schemas.openxmlformats.org/drawingml/2006/main"/>
          <a:ln xmlns:a="http://schemas.openxmlformats.org/drawingml/2006/main" w="9525">
            <a:solidFill>
              <a:srgbClr val="536A84"/>
            </a:solidFill>
            <a:prstDash val="solid"/>
          </a:ln>
        </p:spPr>
      </p:sp>
      <p:sp>
        <p:nvSpPr>
          <p:cNvPr id="27" name="">
            <a:extLst xmlns:a="http://schemas.openxmlformats.org/drawingml/2006/main">
              <a:ext uri="{FF2B5EF4-FFF2-40B4-BE49-F238E27FC236}">
                <a16:creationId xmlns:a16="http://schemas.microsoft.com/office/drawing/2014/main" id="{32232768-AFBC-4ED1-B5AE-D771017DC37A}"/>
              </a:ext>
            </a:extLst>
          </p:cNvPr>
          <p:cNvSpPr>
            <a:spLocks xmlns:a="http://schemas.openxmlformats.org/drawingml/2006/main" noGrp="1"/>
          </p:cNvSpPr>
          <p:nvPr/>
        </p:nvSpPr>
        <p:spPr>
          <a:xfrm xmlns:a="http://schemas.openxmlformats.org/drawingml/2006/main">
            <a:off x="990600" y="5524500"/>
            <a:ext cx="3028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9B8CFF"/>
                </a:solidFill>
                <a:latin typeface="Public Sans"/>
                <a:ea typeface="Public Sans"/>
                <a:cs typeface="Public Sans"/>
              </a:defRPr>
            </a:pPr>
            <a:r>
              <a:rPr sz="1275" b="1" i="0">
                <a:solidFill>
                  <a:srgbClr val="9B8CFF"/>
                </a:solidFill>
                <a:latin typeface="Public Sans"/>
                <a:ea typeface="Public Sans"/>
                <a:cs typeface="Public Sans"/>
              </a:rPr>
              <a:t>Braintrust traces the evidence</a:t>
            </a:r>
          </a:p>
        </p:txBody>
      </p:sp>
      <p:sp>
        <p:nvSpPr>
          <p:cNvPr id="28" name="">
            <a:extLst xmlns:a="http://schemas.openxmlformats.org/drawingml/2006/main">
              <a:ext uri="{FF2B5EF4-FFF2-40B4-BE49-F238E27FC236}">
                <a16:creationId xmlns:a16="http://schemas.microsoft.com/office/drawing/2014/main" id="{C0E04A59-A3B2-43F4-B9B5-B468DEF1E239}"/>
              </a:ext>
            </a:extLst>
          </p:cNvPr>
          <p:cNvSpPr>
            <a:spLocks xmlns:a="http://schemas.openxmlformats.org/drawingml/2006/main" noGrp="1"/>
          </p:cNvSpPr>
          <p:nvPr/>
        </p:nvSpPr>
        <p:spPr>
          <a:xfrm xmlns:a="http://schemas.openxmlformats.org/drawingml/2006/main">
            <a:off x="4400550" y="552450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4FD8EC"/>
                </a:solidFill>
                <a:latin typeface="Public Sans"/>
                <a:ea typeface="Public Sans"/>
                <a:cs typeface="Public Sans"/>
              </a:defRPr>
            </a:pPr>
            <a:r>
              <a:rPr sz="1275" b="1" i="0">
                <a:solidFill>
                  <a:srgbClr val="4FD8EC"/>
                </a:solidFill>
                <a:latin typeface="Public Sans"/>
                <a:ea typeface="Public Sans"/>
                <a:cs typeface="Public Sans"/>
              </a:rPr>
              <a:t>CopilotKit lets reviewers interrogate it</a:t>
            </a:r>
          </a:p>
        </p:txBody>
      </p:sp>
      <p:sp>
        <p:nvSpPr>
          <p:cNvPr id="29" name="">
            <a:extLst xmlns:a="http://schemas.openxmlformats.org/drawingml/2006/main">
              <a:ext uri="{FF2B5EF4-FFF2-40B4-BE49-F238E27FC236}">
                <a16:creationId xmlns:a16="http://schemas.microsoft.com/office/drawing/2014/main" id="{DA8EE82D-2876-4526-A771-1088B7A9A486}"/>
              </a:ext>
            </a:extLst>
          </p:cNvPr>
          <p:cNvSpPr>
            <a:spLocks xmlns:a="http://schemas.openxmlformats.org/drawingml/2006/main" noGrp="1"/>
          </p:cNvSpPr>
          <p:nvPr/>
        </p:nvSpPr>
        <p:spPr>
          <a:xfrm xmlns:a="http://schemas.openxmlformats.org/drawingml/2006/main">
            <a:off x="8401050" y="5524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i="0">
                <a:solidFill>
                  <a:srgbClr val="3DDC97"/>
                </a:solidFill>
                <a:latin typeface="Public Sans"/>
                <a:ea typeface="Public Sans"/>
                <a:cs typeface="Public Sans"/>
              </a:defRPr>
            </a:pPr>
            <a:r>
              <a:rPr sz="1275" b="1" i="0">
                <a:solidFill>
                  <a:srgbClr val="3DDC97"/>
                </a:solidFill>
                <a:latin typeface="Public Sans"/>
                <a:ea typeface="Public Sans"/>
                <a:cs typeface="Public Sans"/>
              </a:rPr>
              <a:t>A human decides</a:t>
            </a:r>
          </a:p>
        </p:txBody>
      </p:sp>
    </p:spTree>
    <p:transition spd="med" advClick="1">
      <p:fade/>
    </p:transition>
    <p:extLst>
      <p:ext uri="{BB962C8B-B14F-4D97-AF65-F5344CB8AC3E}">
        <p14:creationId xmlns:p14="http://schemas.microsoft.com/office/powerpoint/2010/main" val="407670183"/>
      </p:ext>
    </p:extLst>
  </p:cSld>
</p:sld>
</file>

<file path=ppt/slides/slide4.xml><?xml version="1.0" encoding="utf-8"?>
<p:sld xmlns:p="http://schemas.openxmlformats.org/presentationml/2006/main">
  <p:cSld>
    <p:bg>
      <p:bgPr>
        <a:solidFill xmlns:a="http://schemas.openxmlformats.org/drawingml/2006/main">
          <a:srgbClr val="07111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7B143F9-D6F4-4F82-B2BD-0202E01B1C05}"/>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123B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02F52E2-D0F4-4786-B7A8-D3D0B40F4AA8}"/>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7111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0867898-C328-41BF-AB1D-70548D30DA00}"/>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2826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E99D9A9-B3E6-415F-9CAD-FD909837129C}"/>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7111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AD218BA-E93E-419B-A68E-22595622F5F1}"/>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7F8FB"/>
                </a:solidFill>
                <a:latin typeface="Georgia"/>
                <a:ea typeface="Georgia"/>
                <a:cs typeface="Georgia"/>
              </a:defRPr>
            </a:pPr>
            <a:r>
              <a:rPr sz="2100" b="1" i="1">
                <a:solidFill>
                  <a:srgbClr val="F7F8FB"/>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61270886-DBDA-42C2-AFCE-510BDF6047BE}"/>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A8B6C8"/>
                </a:solidFill>
                <a:latin typeface="Courier New"/>
                <a:ea typeface="Courier New"/>
                <a:cs typeface="Courier New"/>
              </a:defRPr>
            </a:pPr>
            <a:r>
              <a:rPr sz="1050" b="0" i="0">
                <a:solidFill>
                  <a:srgbClr val="A8B6C8"/>
                </a:solidFill>
                <a:latin typeface="Courier New"/>
                <a:ea typeface="Courier New"/>
                <a:cs typeface="Courier New"/>
              </a:rPr>
              <a:t>04</a:t>
            </a:r>
          </a:p>
        </p:txBody>
      </p:sp>
      <p:sp>
        <p:nvSpPr>
          <p:cNvPr id="7" name="">
            <a:extLst xmlns:a="http://schemas.openxmlformats.org/drawingml/2006/main">
              <a:ext uri="{FF2B5EF4-FFF2-40B4-BE49-F238E27FC236}">
                <a16:creationId xmlns:a16="http://schemas.microsoft.com/office/drawing/2014/main" id="{64CC6994-AB50-4920-B334-CB0DE3A7B823}"/>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9B8CFF"/>
                </a:solidFill>
                <a:latin typeface="Public Sans"/>
                <a:ea typeface="Public Sans"/>
                <a:cs typeface="Public Sans"/>
              </a:defRPr>
            </a:pPr>
            <a:r>
              <a:rPr sz="1050" b="1" i="0">
                <a:solidFill>
                  <a:srgbClr val="9B8CFF"/>
                </a:solidFill>
                <a:latin typeface="Public Sans"/>
                <a:ea typeface="Public Sans"/>
                <a:cs typeface="Public Sans"/>
              </a:rPr>
              <a:t>LIVE DEMO</a:t>
            </a:r>
          </a:p>
        </p:txBody>
      </p:sp>
      <p:sp>
        <p:nvSpPr>
          <p:cNvPr id="8" name="">
            <a:extLst xmlns:a="http://schemas.openxmlformats.org/drawingml/2006/main">
              <a:ext uri="{FF2B5EF4-FFF2-40B4-BE49-F238E27FC236}">
                <a16:creationId xmlns:a16="http://schemas.microsoft.com/office/drawing/2014/main" id="{75079A11-B8DF-4FEA-8532-952CF9C6CAAF}"/>
              </a:ext>
            </a:extLst>
          </p:cNvPr>
          <p:cNvSpPr>
            <a:spLocks xmlns:a="http://schemas.openxmlformats.org/drawingml/2006/main" noGrp="1"/>
          </p:cNvSpPr>
          <p:nvPr/>
        </p:nvSpPr>
        <p:spPr>
          <a:xfrm xmlns:a="http://schemas.openxmlformats.org/drawingml/2006/main">
            <a:off x="685800" y="914400"/>
            <a:ext cx="990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75" b="0" i="0">
                <a:solidFill>
                  <a:srgbClr val="F7F8FB"/>
                </a:solidFill>
                <a:latin typeface="Georgia"/>
                <a:ea typeface="Georgia"/>
                <a:cs typeface="Georgia"/>
              </a:defRPr>
            </a:pPr>
            <a:r>
              <a:rPr sz="3975" b="0" i="0">
                <a:solidFill>
                  <a:srgbClr val="F7F8FB"/>
                </a:solidFill>
                <a:latin typeface="Georgia"/>
                <a:ea typeface="Georgia"/>
                <a:cs typeface="Georgia"/>
              </a:rPr>
              <a:t>Watch the claim meet the evidence.</a:t>
            </a:r>
          </a:p>
        </p:txBody>
      </p:sp>
      <p:sp>
        <p:nvSpPr>
          <p:cNvPr id="9" name="">
            <a:extLst xmlns:a="http://schemas.openxmlformats.org/drawingml/2006/main">
              <a:ext uri="{FF2B5EF4-FFF2-40B4-BE49-F238E27FC236}">
                <a16:creationId xmlns:a16="http://schemas.microsoft.com/office/drawing/2014/main" id="{9E223555-9C58-44D3-BE6C-0EE19D22BFF6}"/>
              </a:ext>
            </a:extLst>
          </p:cNvPr>
          <p:cNvSpPr>
            <a:spLocks xmlns:a="http://schemas.openxmlformats.org/drawingml/2006/main" noGrp="1"/>
          </p:cNvSpPr>
          <p:nvPr/>
        </p:nvSpPr>
        <p:spPr>
          <a:xfrm xmlns:a="http://schemas.openxmlformats.org/drawingml/2006/main">
            <a:off x="533400" y="1752600"/>
            <a:ext cx="7791450" cy="4343400"/>
          </a:xfrm>
          <a:prstGeom xmlns:a="http://schemas.openxmlformats.org/drawingml/2006/main" prst="roundRect">
            <a:avLst>
              <a:gd name="adj" fmla="val 6140"/>
            </a:avLst>
          </a:prstGeom>
          <a:solidFill xmlns:a="http://schemas.openxmlformats.org/drawingml/2006/main">
            <a:srgbClr val="0A192A"/>
          </a:solidFill>
          <a:ln xmlns:a="http://schemas.openxmlformats.org/drawingml/2006/main" w="11906">
            <a:solidFill>
              <a:srgbClr val="536A84"/>
            </a:solidFill>
            <a:prstDash val="solid"/>
          </a:ln>
        </p:spPr>
      </p:sp>
      <p:sp>
        <p:nvSpPr>
          <p:cNvPr id="10" name="">
            <a:extLst xmlns:a="http://schemas.openxmlformats.org/drawingml/2006/main">
              <a:ext uri="{FF2B5EF4-FFF2-40B4-BE49-F238E27FC236}">
                <a16:creationId xmlns:a16="http://schemas.microsoft.com/office/drawing/2014/main" id="{1347D70E-BA78-4F5E-9BA2-9C7A36B7D83E}"/>
              </a:ext>
            </a:extLst>
          </p:cNvPr>
          <p:cNvSpPr>
            <a:spLocks xmlns:a="http://schemas.openxmlformats.org/drawingml/2006/main" noGrp="1"/>
          </p:cNvSpPr>
          <p:nvPr/>
        </p:nvSpPr>
        <p:spPr>
          <a:xfrm xmlns:a="http://schemas.openxmlformats.org/drawingml/2006/main">
            <a:off x="762000" y="1762125"/>
            <a:ext cx="7334250" cy="0"/>
          </a:xfrm>
          <a:prstGeom xmlns:a="http://schemas.openxmlformats.org/drawingml/2006/main" prst="line">
            <a:avLst/>
          </a:prstGeom>
          <a:noFill xmlns:a="http://schemas.openxmlformats.org/drawingml/2006/main"/>
          <a:ln xmlns:a="http://schemas.openxmlformats.org/drawingml/2006/main" w="9525">
            <a:solidFill>
              <a:srgbClr val="536A84"/>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00f3fe6c39941f5"/>
          <a:srcRect xmlns:a="http://schemas.openxmlformats.org/drawingml/2006/main" l="0" t="1637" r="0" b="1637"/>
          <a:stretch xmlns:a="http://schemas.openxmlformats.org/drawingml/2006/main">
            <a:fillRect l="0" t="0" r="0" b="0"/>
          </a:stretch>
        </p:blipFill>
        <p:spPr>
          <a:xfrm xmlns:a="http://schemas.openxmlformats.org/drawingml/2006/main">
            <a:off x="647700" y="1866900"/>
            <a:ext cx="7562850" cy="4114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3D05C55-2C8F-4764-9551-1B9E9E89EDCF}"/>
              </a:ext>
            </a:extLst>
          </p:cNvPr>
          <p:cNvSpPr>
            <a:spLocks xmlns:a="http://schemas.openxmlformats.org/drawingml/2006/main" noGrp="1"/>
          </p:cNvSpPr>
          <p:nvPr/>
        </p:nvSpPr>
        <p:spPr>
          <a:xfrm xmlns:a="http://schemas.openxmlformats.org/drawingml/2006/main">
            <a:off x="8572500" y="1752600"/>
            <a:ext cx="3086100" cy="4343400"/>
          </a:xfrm>
          <a:prstGeom xmlns:a="http://schemas.openxmlformats.org/drawingml/2006/main" prst="roundRect">
            <a:avLst>
              <a:gd name="adj" fmla="val 8642"/>
            </a:avLst>
          </a:prstGeom>
          <a:solidFill xmlns:a="http://schemas.openxmlformats.org/drawingml/2006/main">
            <a:srgbClr val="142A41"/>
          </a:solidFill>
          <a:ln xmlns:a="http://schemas.openxmlformats.org/drawingml/2006/main" w="11906">
            <a:solidFill>
              <a:srgbClr val="9B8CFF"/>
            </a:solidFill>
            <a:prstDash val="solid"/>
          </a:ln>
        </p:spPr>
      </p:sp>
      <p:sp>
        <p:nvSpPr>
          <p:cNvPr id="13" name="">
            <a:extLst xmlns:a="http://schemas.openxmlformats.org/drawingml/2006/main">
              <a:ext uri="{FF2B5EF4-FFF2-40B4-BE49-F238E27FC236}">
                <a16:creationId xmlns:a16="http://schemas.microsoft.com/office/drawing/2014/main" id="{6BEC93AD-016E-4D90-8B03-ACD7A8870726}"/>
              </a:ext>
            </a:extLst>
          </p:cNvPr>
          <p:cNvSpPr>
            <a:spLocks xmlns:a="http://schemas.openxmlformats.org/drawingml/2006/main" noGrp="1"/>
          </p:cNvSpPr>
          <p:nvPr/>
        </p:nvSpPr>
        <p:spPr>
          <a:xfrm xmlns:a="http://schemas.openxmlformats.org/drawingml/2006/main">
            <a:off x="8801100" y="1762125"/>
            <a:ext cx="2628900" cy="0"/>
          </a:xfrm>
          <a:prstGeom xmlns:a="http://schemas.openxmlformats.org/drawingml/2006/main" prst="line">
            <a:avLst/>
          </a:prstGeom>
          <a:noFill xmlns:a="http://schemas.openxmlformats.org/drawingml/2006/main"/>
          <a:ln xmlns:a="http://schemas.openxmlformats.org/drawingml/2006/main" w="9525">
            <a:solidFill>
              <a:srgbClr val="536A84"/>
            </a:solidFill>
            <a:prstDash val="solid"/>
          </a:ln>
        </p:spPr>
      </p:sp>
      <p:sp>
        <p:nvSpPr>
          <p:cNvPr id="14" name="">
            <a:extLst xmlns:a="http://schemas.openxmlformats.org/drawingml/2006/main">
              <a:ext uri="{FF2B5EF4-FFF2-40B4-BE49-F238E27FC236}">
                <a16:creationId xmlns:a16="http://schemas.microsoft.com/office/drawing/2014/main" id="{60D9E5A1-F8C5-4D21-A669-815FC98632CD}"/>
              </a:ext>
            </a:extLst>
          </p:cNvPr>
          <p:cNvSpPr>
            <a:spLocks xmlns:a="http://schemas.openxmlformats.org/drawingml/2006/main" noGrp="1"/>
          </p:cNvSpPr>
          <p:nvPr/>
        </p:nvSpPr>
        <p:spPr>
          <a:xfrm xmlns:a="http://schemas.openxmlformats.org/drawingml/2006/main">
            <a:off x="8839200" y="2057400"/>
            <a:ext cx="2552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9B8CFF"/>
                </a:solidFill>
                <a:latin typeface="Courier New"/>
                <a:ea typeface="Courier New"/>
                <a:cs typeface="Courier New"/>
              </a:defRPr>
            </a:pPr>
            <a:r>
              <a:rPr sz="1050" b="1" i="0">
                <a:solidFill>
                  <a:srgbClr val="9B8CFF"/>
                </a:solidFill>
                <a:latin typeface="Courier New"/>
                <a:ea typeface="Courier New"/>
                <a:cs typeface="Courier New"/>
              </a:rPr>
              <a:t>90-SECOND DEMO</a:t>
            </a:r>
          </a:p>
        </p:txBody>
      </p:sp>
      <p:sp>
        <p:nvSpPr>
          <p:cNvPr id="15" name="">
            <a:extLst xmlns:a="http://schemas.openxmlformats.org/drawingml/2006/main">
              <a:ext uri="{FF2B5EF4-FFF2-40B4-BE49-F238E27FC236}">
                <a16:creationId xmlns:a16="http://schemas.microsoft.com/office/drawing/2014/main" id="{D452FEB0-0395-4FA9-8915-4946D3966B53}"/>
              </a:ext>
            </a:extLst>
          </p:cNvPr>
          <p:cNvSpPr>
            <a:spLocks xmlns:a="http://schemas.openxmlformats.org/drawingml/2006/main" noGrp="1"/>
          </p:cNvSpPr>
          <p:nvPr/>
        </p:nvSpPr>
        <p:spPr>
          <a:xfrm xmlns:a="http://schemas.openxmlformats.org/drawingml/2006/main">
            <a:off x="8839200" y="2647950"/>
            <a:ext cx="400050" cy="400050"/>
          </a:xfrm>
          <a:prstGeom xmlns:a="http://schemas.openxmlformats.org/drawingml/2006/main" prst="roundRect">
            <a:avLst>
              <a:gd name="adj" fmla="val 50000"/>
            </a:avLst>
          </a:prstGeom>
          <a:solidFill xmlns:a="http://schemas.openxmlformats.org/drawingml/2006/main">
            <a:srgbClr val="0A192A"/>
          </a:solidFill>
          <a:ln xmlns:a="http://schemas.openxmlformats.org/drawingml/2006/main" w="9525">
            <a:solidFill>
              <a:srgbClr val="536A84"/>
            </a:solidFill>
            <a:prstDash val="solid"/>
          </a:ln>
        </p:spPr>
      </p:sp>
      <p:sp>
        <p:nvSpPr>
          <p:cNvPr id="16" name="">
            <a:extLst xmlns:a="http://schemas.openxmlformats.org/drawingml/2006/main">
              <a:ext uri="{FF2B5EF4-FFF2-40B4-BE49-F238E27FC236}">
                <a16:creationId xmlns:a16="http://schemas.microsoft.com/office/drawing/2014/main" id="{10AFE2B1-8788-47C4-9F28-C91459566021}"/>
              </a:ext>
            </a:extLst>
          </p:cNvPr>
          <p:cNvSpPr>
            <a:spLocks xmlns:a="http://schemas.openxmlformats.org/drawingml/2006/main" noGrp="1"/>
          </p:cNvSpPr>
          <p:nvPr/>
        </p:nvSpPr>
        <p:spPr>
          <a:xfrm xmlns:a="http://schemas.openxmlformats.org/drawingml/2006/main">
            <a:off x="8839200" y="2647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A8B6C8"/>
                </a:solidFill>
                <a:latin typeface="Public Sans"/>
                <a:ea typeface="Public Sans"/>
                <a:cs typeface="Public Sans"/>
              </a:defRPr>
            </a:pPr>
            <a:r>
              <a:rPr sz="1050" b="1" i="0">
                <a:solidFill>
                  <a:srgbClr val="A8B6C8"/>
                </a:solidFill>
                <a:latin typeface="Public Sans"/>
                <a:ea typeface="Public Sans"/>
                <a:cs typeface="Public Sans"/>
              </a:rPr>
              <a:t>01</a:t>
            </a:r>
          </a:p>
        </p:txBody>
      </p:sp>
      <p:sp>
        <p:nvSpPr>
          <p:cNvPr id="17" name="">
            <a:extLst xmlns:a="http://schemas.openxmlformats.org/drawingml/2006/main">
              <a:ext uri="{FF2B5EF4-FFF2-40B4-BE49-F238E27FC236}">
                <a16:creationId xmlns:a16="http://schemas.microsoft.com/office/drawing/2014/main" id="{1ED7CE5E-18F6-4F5A-82F9-A762E7E7C562}"/>
              </a:ext>
            </a:extLst>
          </p:cNvPr>
          <p:cNvSpPr>
            <a:spLocks xmlns:a="http://schemas.openxmlformats.org/drawingml/2006/main" noGrp="1"/>
          </p:cNvSpPr>
          <p:nvPr/>
        </p:nvSpPr>
        <p:spPr>
          <a:xfrm xmlns:a="http://schemas.openxmlformats.org/drawingml/2006/main">
            <a:off x="9391650" y="2714625"/>
            <a:ext cx="1962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7F8FB"/>
                </a:solidFill>
                <a:latin typeface="Public Sans"/>
                <a:ea typeface="Public Sans"/>
                <a:cs typeface="Public Sans"/>
              </a:defRPr>
            </a:pPr>
            <a:r>
              <a:rPr sz="1275" b="1" i="0">
                <a:solidFill>
                  <a:srgbClr val="F7F8FB"/>
                </a:solidFill>
                <a:latin typeface="Public Sans"/>
                <a:ea typeface="Public Sans"/>
                <a:cs typeface="Public Sans"/>
              </a:rPr>
              <a:t>Load a recorded PR run</a:t>
            </a:r>
          </a:p>
        </p:txBody>
      </p:sp>
      <p:sp>
        <p:nvSpPr>
          <p:cNvPr id="18" name="">
            <a:extLst xmlns:a="http://schemas.openxmlformats.org/drawingml/2006/main">
              <a:ext uri="{FF2B5EF4-FFF2-40B4-BE49-F238E27FC236}">
                <a16:creationId xmlns:a16="http://schemas.microsoft.com/office/drawing/2014/main" id="{24E8619D-3C96-4AA8-8FEE-460891E13B26}"/>
              </a:ext>
            </a:extLst>
          </p:cNvPr>
          <p:cNvSpPr>
            <a:spLocks xmlns:a="http://schemas.openxmlformats.org/drawingml/2006/main" noGrp="1"/>
          </p:cNvSpPr>
          <p:nvPr/>
        </p:nvSpPr>
        <p:spPr>
          <a:xfrm xmlns:a="http://schemas.openxmlformats.org/drawingml/2006/main">
            <a:off x="8839200" y="3409950"/>
            <a:ext cx="400050" cy="400050"/>
          </a:xfrm>
          <a:prstGeom xmlns:a="http://schemas.openxmlformats.org/drawingml/2006/main" prst="roundRect">
            <a:avLst>
              <a:gd name="adj" fmla="val 50000"/>
            </a:avLst>
          </a:prstGeom>
          <a:solidFill xmlns:a="http://schemas.openxmlformats.org/drawingml/2006/main">
            <a:srgbClr val="4A1D2A"/>
          </a:solidFill>
          <a:ln xmlns:a="http://schemas.openxmlformats.org/drawingml/2006/main" w="9525">
            <a:solidFill>
              <a:srgbClr val="FF7081"/>
            </a:solidFill>
            <a:prstDash val="solid"/>
          </a:ln>
        </p:spPr>
      </p:sp>
      <p:sp>
        <p:nvSpPr>
          <p:cNvPr id="19" name="">
            <a:extLst xmlns:a="http://schemas.openxmlformats.org/drawingml/2006/main">
              <a:ext uri="{FF2B5EF4-FFF2-40B4-BE49-F238E27FC236}">
                <a16:creationId xmlns:a16="http://schemas.microsoft.com/office/drawing/2014/main" id="{E1D24422-C0DF-4B12-AA07-488FCEFC31F9}"/>
              </a:ext>
            </a:extLst>
          </p:cNvPr>
          <p:cNvSpPr>
            <a:spLocks xmlns:a="http://schemas.openxmlformats.org/drawingml/2006/main" noGrp="1"/>
          </p:cNvSpPr>
          <p:nvPr/>
        </p:nvSpPr>
        <p:spPr>
          <a:xfrm xmlns:a="http://schemas.openxmlformats.org/drawingml/2006/main">
            <a:off x="8839200" y="3409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FF7081"/>
                </a:solidFill>
                <a:latin typeface="Public Sans"/>
                <a:ea typeface="Public Sans"/>
                <a:cs typeface="Public Sans"/>
              </a:defRPr>
            </a:pPr>
            <a:r>
              <a:rPr sz="1050" b="1" i="0">
                <a:solidFill>
                  <a:srgbClr val="FF7081"/>
                </a:solidFill>
                <a:latin typeface="Public Sans"/>
                <a:ea typeface="Public Sans"/>
                <a:cs typeface="Public Sans"/>
              </a:rPr>
              <a:t>02</a:t>
            </a:r>
          </a:p>
        </p:txBody>
      </p:sp>
      <p:sp>
        <p:nvSpPr>
          <p:cNvPr id="20" name="">
            <a:extLst xmlns:a="http://schemas.openxmlformats.org/drawingml/2006/main">
              <a:ext uri="{FF2B5EF4-FFF2-40B4-BE49-F238E27FC236}">
                <a16:creationId xmlns:a16="http://schemas.microsoft.com/office/drawing/2014/main" id="{10CB92CA-97AB-46E3-926C-0BA528FBA0DB}"/>
              </a:ext>
            </a:extLst>
          </p:cNvPr>
          <p:cNvSpPr>
            <a:spLocks xmlns:a="http://schemas.openxmlformats.org/drawingml/2006/main" noGrp="1"/>
          </p:cNvSpPr>
          <p:nvPr/>
        </p:nvSpPr>
        <p:spPr>
          <a:xfrm xmlns:a="http://schemas.openxmlformats.org/drawingml/2006/main">
            <a:off x="9391650" y="3476625"/>
            <a:ext cx="1962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7F8FB"/>
                </a:solidFill>
                <a:latin typeface="Public Sans"/>
                <a:ea typeface="Public Sans"/>
                <a:cs typeface="Public Sans"/>
              </a:defRPr>
            </a:pPr>
            <a:r>
              <a:rPr sz="1275" b="1" i="0">
                <a:solidFill>
                  <a:srgbClr val="F7F8FB"/>
                </a:solidFill>
                <a:latin typeface="Public Sans"/>
                <a:ea typeface="Public Sans"/>
                <a:cs typeface="Public Sans"/>
              </a:rPr>
              <a:t>See evidence disagree</a:t>
            </a:r>
          </a:p>
        </p:txBody>
      </p:sp>
      <p:sp>
        <p:nvSpPr>
          <p:cNvPr id="21" name="">
            <a:extLst xmlns:a="http://schemas.openxmlformats.org/drawingml/2006/main">
              <a:ext uri="{FF2B5EF4-FFF2-40B4-BE49-F238E27FC236}">
                <a16:creationId xmlns:a16="http://schemas.microsoft.com/office/drawing/2014/main" id="{19F0A9B0-39BA-4321-80E1-FF245B1AE028}"/>
              </a:ext>
            </a:extLst>
          </p:cNvPr>
          <p:cNvSpPr>
            <a:spLocks xmlns:a="http://schemas.openxmlformats.org/drawingml/2006/main" noGrp="1"/>
          </p:cNvSpPr>
          <p:nvPr/>
        </p:nvSpPr>
        <p:spPr>
          <a:xfrm xmlns:a="http://schemas.openxmlformats.org/drawingml/2006/main">
            <a:off x="8839200" y="4171950"/>
            <a:ext cx="400050" cy="400050"/>
          </a:xfrm>
          <a:prstGeom xmlns:a="http://schemas.openxmlformats.org/drawingml/2006/main" prst="roundRect">
            <a:avLst>
              <a:gd name="adj" fmla="val 50000"/>
            </a:avLst>
          </a:prstGeom>
          <a:solidFill xmlns:a="http://schemas.openxmlformats.org/drawingml/2006/main">
            <a:srgbClr val="0A192A"/>
          </a:solidFill>
          <a:ln xmlns:a="http://schemas.openxmlformats.org/drawingml/2006/main" w="9525">
            <a:solidFill>
              <a:srgbClr val="536A84"/>
            </a:solidFill>
            <a:prstDash val="solid"/>
          </a:ln>
        </p:spPr>
      </p:sp>
      <p:sp>
        <p:nvSpPr>
          <p:cNvPr id="22" name="">
            <a:extLst xmlns:a="http://schemas.openxmlformats.org/drawingml/2006/main">
              <a:ext uri="{FF2B5EF4-FFF2-40B4-BE49-F238E27FC236}">
                <a16:creationId xmlns:a16="http://schemas.microsoft.com/office/drawing/2014/main" id="{C2CFC652-F6E3-4776-8E6E-FBAFBF8148FC}"/>
              </a:ext>
            </a:extLst>
          </p:cNvPr>
          <p:cNvSpPr>
            <a:spLocks xmlns:a="http://schemas.openxmlformats.org/drawingml/2006/main" noGrp="1"/>
          </p:cNvSpPr>
          <p:nvPr/>
        </p:nvSpPr>
        <p:spPr>
          <a:xfrm xmlns:a="http://schemas.openxmlformats.org/drawingml/2006/main">
            <a:off x="883920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A8B6C8"/>
                </a:solidFill>
                <a:latin typeface="Public Sans"/>
                <a:ea typeface="Public Sans"/>
                <a:cs typeface="Public Sans"/>
              </a:defRPr>
            </a:pPr>
            <a:r>
              <a:rPr sz="1050" b="1" i="0">
                <a:solidFill>
                  <a:srgbClr val="A8B6C8"/>
                </a:solidFill>
                <a:latin typeface="Public Sans"/>
                <a:ea typeface="Public Sans"/>
                <a:cs typeface="Public Sans"/>
              </a:rPr>
              <a:t>03</a:t>
            </a:r>
          </a:p>
        </p:txBody>
      </p:sp>
      <p:sp>
        <p:nvSpPr>
          <p:cNvPr id="23" name="">
            <a:extLst xmlns:a="http://schemas.openxmlformats.org/drawingml/2006/main">
              <a:ext uri="{FF2B5EF4-FFF2-40B4-BE49-F238E27FC236}">
                <a16:creationId xmlns:a16="http://schemas.microsoft.com/office/drawing/2014/main" id="{554A43ED-5A18-40D5-9172-1E9F416A1783}"/>
              </a:ext>
            </a:extLst>
          </p:cNvPr>
          <p:cNvSpPr>
            <a:spLocks xmlns:a="http://schemas.openxmlformats.org/drawingml/2006/main" noGrp="1"/>
          </p:cNvSpPr>
          <p:nvPr/>
        </p:nvSpPr>
        <p:spPr>
          <a:xfrm xmlns:a="http://schemas.openxmlformats.org/drawingml/2006/main">
            <a:off x="9391650" y="4238625"/>
            <a:ext cx="1962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7F8FB"/>
                </a:solidFill>
                <a:latin typeface="Public Sans"/>
                <a:ea typeface="Public Sans"/>
                <a:cs typeface="Public Sans"/>
              </a:defRPr>
            </a:pPr>
            <a:r>
              <a:rPr sz="1275" b="1" i="0">
                <a:solidFill>
                  <a:srgbClr val="F7F8FB"/>
                </a:solidFill>
                <a:latin typeface="Public Sans"/>
                <a:ea typeface="Public Sans"/>
                <a:cs typeface="Public Sans"/>
              </a:rPr>
              <a:t>Let the human decide</a:t>
            </a:r>
          </a:p>
        </p:txBody>
      </p:sp>
      <p:sp>
        <p:nvSpPr>
          <p:cNvPr id="24" name="">
            <a:extLst xmlns:a="http://schemas.openxmlformats.org/drawingml/2006/main">
              <a:ext uri="{FF2B5EF4-FFF2-40B4-BE49-F238E27FC236}">
                <a16:creationId xmlns:a16="http://schemas.microsoft.com/office/drawing/2014/main" id="{BC264FB0-AD91-4A96-BF39-36A7B476EE91}"/>
              </a:ext>
            </a:extLst>
          </p:cNvPr>
          <p:cNvSpPr>
            <a:spLocks xmlns:a="http://schemas.openxmlformats.org/drawingml/2006/main" noGrp="1"/>
          </p:cNvSpPr>
          <p:nvPr/>
        </p:nvSpPr>
        <p:spPr>
          <a:xfrm xmlns:a="http://schemas.openxmlformats.org/drawingml/2006/main">
            <a:off x="8839200" y="5219700"/>
            <a:ext cx="255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4FD8EC"/>
                </a:solidFill>
                <a:latin typeface="Public Sans"/>
                <a:ea typeface="Public Sans"/>
                <a:cs typeface="Public Sans"/>
              </a:defRPr>
            </a:pPr>
            <a:r>
              <a:rPr sz="1125" b="1" i="0">
                <a:solidFill>
                  <a:srgbClr val="4FD8EC"/>
                </a:solidFill>
                <a:latin typeface="Public Sans"/>
                <a:ea typeface="Public Sans"/>
                <a:cs typeface="Public Sans"/>
                <a:hlinkClick xmlns:r="http://schemas.openxmlformats.org/officeDocument/2006/relationships" r:id="Rd3ca1cda322248a0"/>
              </a:rPr>
              <a:t>daytona-hacksprint.vercel.app</a:t>
            </a:r>
          </a:p>
        </p:txBody>
      </p:sp>
    </p:spTree>
    <p:transition spd="med" advClick="1">
      <p:fade/>
    </p:transition>
    <p:extLst>
      <p:ext uri="{BB962C8B-B14F-4D97-AF65-F5344CB8AC3E}">
        <p14:creationId xmlns:p14="http://schemas.microsoft.com/office/powerpoint/2010/main" val="1028499290"/>
      </p:ext>
    </p:extLst>
  </p:cSld>
</p:sld>
</file>

<file path=ppt/slides/slide5.xml><?xml version="1.0" encoding="utf-8"?>
<p:sld xmlns:p="http://schemas.openxmlformats.org/presentationml/2006/main">
  <p:cSld>
    <p:bg>
      <p:bgPr>
        <a:solidFill xmlns:a="http://schemas.openxmlformats.org/drawingml/2006/main">
          <a:srgbClr val="07111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8B13E2B-B3FB-4202-88D6-69CBA24ED114}"/>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123B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E34D549-26E2-42C7-941D-BBE0A54894FB}"/>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7111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01F2BCB-FA5F-4EDA-9E18-499B7AB486E1}"/>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2826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BEE799D-F07E-4C56-A23A-BA7E135723D1}"/>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7111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3EF9635-C911-4AAA-A733-3B378F49DFE5}"/>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7F8FB"/>
                </a:solidFill>
                <a:latin typeface="Georgia"/>
                <a:ea typeface="Georgia"/>
                <a:cs typeface="Georgia"/>
              </a:defRPr>
            </a:pPr>
            <a:r>
              <a:rPr sz="2100" b="1" i="1">
                <a:solidFill>
                  <a:srgbClr val="F7F8FB"/>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832B5DBD-27CA-4352-ADD3-483455AC2415}"/>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A8B6C8"/>
                </a:solidFill>
                <a:latin typeface="Courier New"/>
                <a:ea typeface="Courier New"/>
                <a:cs typeface="Courier New"/>
              </a:defRPr>
            </a:pPr>
            <a:r>
              <a:rPr sz="1050" b="0" i="0">
                <a:solidFill>
                  <a:srgbClr val="A8B6C8"/>
                </a:solidFill>
                <a:latin typeface="Courier New"/>
                <a:ea typeface="Courier New"/>
                <a:cs typeface="Courier New"/>
              </a:rPr>
              <a:t>05</a:t>
            </a:r>
          </a:p>
        </p:txBody>
      </p:sp>
      <p:sp>
        <p:nvSpPr>
          <p:cNvPr id="7" name="">
            <a:extLst xmlns:a="http://schemas.openxmlformats.org/drawingml/2006/main">
              <a:ext uri="{FF2B5EF4-FFF2-40B4-BE49-F238E27FC236}">
                <a16:creationId xmlns:a16="http://schemas.microsoft.com/office/drawing/2014/main" id="{C944D973-D61E-4057-ACA1-73C2A392051C}"/>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9B8CFF"/>
                </a:solidFill>
                <a:latin typeface="Public Sans"/>
                <a:ea typeface="Public Sans"/>
                <a:cs typeface="Public Sans"/>
              </a:defRPr>
            </a:pPr>
            <a:r>
              <a:rPr sz="1050" b="1" i="0">
                <a:solidFill>
                  <a:srgbClr val="9B8CFF"/>
                </a:solidFill>
                <a:latin typeface="Public Sans"/>
                <a:ea typeface="Public Sans"/>
                <a:cs typeface="Public Sans"/>
              </a:rPr>
              <a:t>WHAT WE LEARNED</a:t>
            </a:r>
          </a:p>
        </p:txBody>
      </p:sp>
      <p:sp>
        <p:nvSpPr>
          <p:cNvPr id="8" name="">
            <a:extLst xmlns:a="http://schemas.openxmlformats.org/drawingml/2006/main">
              <a:ext uri="{FF2B5EF4-FFF2-40B4-BE49-F238E27FC236}">
                <a16:creationId xmlns:a16="http://schemas.microsoft.com/office/drawing/2014/main" id="{96E2890C-4721-4126-959E-921595C286D5}"/>
              </a:ext>
            </a:extLst>
          </p:cNvPr>
          <p:cNvSpPr>
            <a:spLocks xmlns:a="http://schemas.openxmlformats.org/drawingml/2006/main" noGrp="1"/>
          </p:cNvSpPr>
          <p:nvPr/>
        </p:nvSpPr>
        <p:spPr>
          <a:xfrm xmlns:a="http://schemas.openxmlformats.org/drawingml/2006/main">
            <a:off x="685800" y="1009650"/>
            <a:ext cx="933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0" i="0">
                <a:solidFill>
                  <a:srgbClr val="F7F8FB"/>
                </a:solidFill>
                <a:latin typeface="Georgia"/>
                <a:ea typeface="Georgia"/>
                <a:cs typeface="Georgia"/>
              </a:defRPr>
            </a:pPr>
            <a:r>
              <a:rPr sz="4350" b="0" i="0">
                <a:solidFill>
                  <a:srgbClr val="F7F8FB"/>
                </a:solidFill>
                <a:latin typeface="Georgia"/>
                <a:ea typeface="Georgia"/>
                <a:cs typeface="Georgia"/>
              </a:rPr>
              <a:t>We had to verify the verifier.</a:t>
            </a:r>
          </a:p>
        </p:txBody>
      </p:sp>
      <p:sp>
        <p:nvSpPr>
          <p:cNvPr id="9" name="">
            <a:extLst xmlns:a="http://schemas.openxmlformats.org/drawingml/2006/main">
              <a:ext uri="{FF2B5EF4-FFF2-40B4-BE49-F238E27FC236}">
                <a16:creationId xmlns:a16="http://schemas.microsoft.com/office/drawing/2014/main" id="{349F68D3-0FE7-492E-B683-B2A8D82523C3}"/>
              </a:ext>
            </a:extLst>
          </p:cNvPr>
          <p:cNvSpPr>
            <a:spLocks xmlns:a="http://schemas.openxmlformats.org/drawingml/2006/main" noGrp="1"/>
          </p:cNvSpPr>
          <p:nvPr/>
        </p:nvSpPr>
        <p:spPr>
          <a:xfrm xmlns:a="http://schemas.openxmlformats.org/drawingml/2006/main">
            <a:off x="723900" y="1924050"/>
            <a:ext cx="781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A8B6C8"/>
                </a:solidFill>
                <a:latin typeface="Public Sans"/>
                <a:ea typeface="Public Sans"/>
                <a:cs typeface="Public Sans"/>
              </a:defRPr>
            </a:pPr>
            <a:r>
              <a:rPr sz="1650" b="0" i="0">
                <a:solidFill>
                  <a:srgbClr val="A8B6C8"/>
                </a:solidFill>
                <a:latin typeface="Public Sans"/>
                <a:ea typeface="Public Sans"/>
                <a:cs typeface="Public Sans"/>
              </a:rPr>
              <a:t>The hard part was preserving the meaning of evidence.</a:t>
            </a:r>
          </a:p>
        </p:txBody>
      </p:sp>
      <p:sp>
        <p:nvSpPr>
          <p:cNvPr id="10" name="">
            <a:extLst xmlns:a="http://schemas.openxmlformats.org/drawingml/2006/main">
              <a:ext uri="{FF2B5EF4-FFF2-40B4-BE49-F238E27FC236}">
                <a16:creationId xmlns:a16="http://schemas.microsoft.com/office/drawing/2014/main" id="{9FE8461C-0774-4F30-BE99-EA415D762721}"/>
              </a:ext>
            </a:extLst>
          </p:cNvPr>
          <p:cNvSpPr>
            <a:spLocks xmlns:a="http://schemas.openxmlformats.org/drawingml/2006/main" noGrp="1"/>
          </p:cNvSpPr>
          <p:nvPr/>
        </p:nvSpPr>
        <p:spPr>
          <a:xfrm xmlns:a="http://schemas.openxmlformats.org/drawingml/2006/main">
            <a:off x="685800" y="2667000"/>
            <a:ext cx="3181350" cy="2476500"/>
          </a:xfrm>
          <a:prstGeom xmlns:a="http://schemas.openxmlformats.org/drawingml/2006/main" prst="roundRect">
            <a:avLst>
              <a:gd name="adj" fmla="val 11538"/>
            </a:avLst>
          </a:prstGeom>
          <a:solidFill xmlns:a="http://schemas.openxmlformats.org/drawingml/2006/main">
            <a:srgbClr val="123C31"/>
          </a:solidFill>
          <a:ln xmlns:a="http://schemas.openxmlformats.org/drawingml/2006/main" w="11906">
            <a:solidFill>
              <a:srgbClr val="3DDC97"/>
            </a:solidFill>
            <a:prstDash val="solid"/>
          </a:ln>
        </p:spPr>
      </p:sp>
      <p:sp>
        <p:nvSpPr>
          <p:cNvPr id="11" name="">
            <a:extLst xmlns:a="http://schemas.openxmlformats.org/drawingml/2006/main">
              <a:ext uri="{FF2B5EF4-FFF2-40B4-BE49-F238E27FC236}">
                <a16:creationId xmlns:a16="http://schemas.microsoft.com/office/drawing/2014/main" id="{C551A8D6-A4BA-4CFC-9216-29320031CF5B}"/>
              </a:ext>
            </a:extLst>
          </p:cNvPr>
          <p:cNvSpPr>
            <a:spLocks xmlns:a="http://schemas.openxmlformats.org/drawingml/2006/main" noGrp="1"/>
          </p:cNvSpPr>
          <p:nvPr/>
        </p:nvSpPr>
        <p:spPr>
          <a:xfrm xmlns:a="http://schemas.openxmlformats.org/drawingml/2006/main">
            <a:off x="914400" y="2676525"/>
            <a:ext cx="2724150" cy="0"/>
          </a:xfrm>
          <a:prstGeom xmlns:a="http://schemas.openxmlformats.org/drawingml/2006/main" prst="line">
            <a:avLst/>
          </a:prstGeom>
          <a:noFill xmlns:a="http://schemas.openxmlformats.org/drawingml/2006/main"/>
          <a:ln xmlns:a="http://schemas.openxmlformats.org/drawingml/2006/main" w="9525">
            <a:solidFill>
              <a:srgbClr val="536A84"/>
            </a:solidFill>
            <a:prstDash val="solid"/>
          </a:ln>
        </p:spPr>
      </p:sp>
      <p:sp>
        <p:nvSpPr>
          <p:cNvPr id="12" name="">
            <a:extLst xmlns:a="http://schemas.openxmlformats.org/drawingml/2006/main">
              <a:ext uri="{FF2B5EF4-FFF2-40B4-BE49-F238E27FC236}">
                <a16:creationId xmlns:a16="http://schemas.microsoft.com/office/drawing/2014/main" id="{599D085D-B3F6-4A08-B373-D5C79EC25EF6}"/>
              </a:ext>
            </a:extLst>
          </p:cNvPr>
          <p:cNvSpPr>
            <a:spLocks xmlns:a="http://schemas.openxmlformats.org/drawingml/2006/main" noGrp="1"/>
          </p:cNvSpPr>
          <p:nvPr/>
        </p:nvSpPr>
        <p:spPr>
          <a:xfrm xmlns:a="http://schemas.openxmlformats.org/drawingml/2006/main">
            <a:off x="933450" y="2952750"/>
            <a:ext cx="2705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3DDC97"/>
                </a:solidFill>
                <a:latin typeface="Courier New"/>
                <a:ea typeface="Courier New"/>
                <a:cs typeface="Courier New"/>
              </a:defRPr>
            </a:pPr>
            <a:r>
              <a:rPr sz="975" b="1" i="0">
                <a:solidFill>
                  <a:srgbClr val="3DDC97"/>
                </a:solidFill>
                <a:latin typeface="Courier New"/>
                <a:ea typeface="Courier New"/>
                <a:cs typeface="Courier New"/>
              </a:rPr>
              <a:t>GREEN ≠ PROOF</a:t>
            </a:r>
          </a:p>
        </p:txBody>
      </p:sp>
      <p:sp>
        <p:nvSpPr>
          <p:cNvPr id="13" name="">
            <a:extLst xmlns:a="http://schemas.openxmlformats.org/drawingml/2006/main">
              <a:ext uri="{FF2B5EF4-FFF2-40B4-BE49-F238E27FC236}">
                <a16:creationId xmlns:a16="http://schemas.microsoft.com/office/drawing/2014/main" id="{30C7EAC1-E96F-44B4-A720-AE449C9C8AB8}"/>
              </a:ext>
            </a:extLst>
          </p:cNvPr>
          <p:cNvSpPr>
            <a:spLocks xmlns:a="http://schemas.openxmlformats.org/drawingml/2006/main" noGrp="1"/>
          </p:cNvSpPr>
          <p:nvPr/>
        </p:nvSpPr>
        <p:spPr>
          <a:xfrm xmlns:a="http://schemas.openxmlformats.org/drawingml/2006/main">
            <a:off x="933450" y="3476625"/>
            <a:ext cx="2705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0" i="1">
                <a:solidFill>
                  <a:srgbClr val="F7F8FB"/>
                </a:solidFill>
                <a:latin typeface="Georgia"/>
                <a:ea typeface="Georgia"/>
                <a:cs typeface="Georgia"/>
              </a:defRPr>
            </a:pPr>
            <a:r>
              <a:rPr sz="2325" b="0" i="1">
                <a:solidFill>
                  <a:srgbClr val="F7F8FB"/>
                </a:solidFill>
                <a:latin typeface="Georgia"/>
                <a:ea typeface="Georgia"/>
                <a:cs typeface="Georgia"/>
              </a:rPr>
              <a:t>Pass before + after</a:t>
            </a:r>
          </a:p>
        </p:txBody>
      </p:sp>
      <p:sp>
        <p:nvSpPr>
          <p:cNvPr id="14" name="">
            <a:extLst xmlns:a="http://schemas.openxmlformats.org/drawingml/2006/main">
              <a:ext uri="{FF2B5EF4-FFF2-40B4-BE49-F238E27FC236}">
                <a16:creationId xmlns:a16="http://schemas.microsoft.com/office/drawing/2014/main" id="{A36528BE-CC5D-450B-804C-628E21D123B8}"/>
              </a:ext>
            </a:extLst>
          </p:cNvPr>
          <p:cNvSpPr>
            <a:spLocks xmlns:a="http://schemas.openxmlformats.org/drawingml/2006/main" noGrp="1"/>
          </p:cNvSpPr>
          <p:nvPr/>
        </p:nvSpPr>
        <p:spPr>
          <a:xfrm xmlns:a="http://schemas.openxmlformats.org/drawingml/2006/main">
            <a:off x="933450" y="4476750"/>
            <a:ext cx="2686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A8B6C8"/>
                </a:solidFill>
                <a:latin typeface="Public Sans"/>
                <a:ea typeface="Public Sans"/>
                <a:cs typeface="Public Sans"/>
              </a:defRPr>
            </a:pPr>
            <a:r>
              <a:rPr sz="1275" b="0" i="0">
                <a:solidFill>
                  <a:srgbClr val="A8B6C8"/>
                </a:solidFill>
                <a:latin typeface="Public Sans"/>
                <a:ea typeface="Public Sans"/>
                <a:cs typeface="Public Sans"/>
              </a:rPr>
              <a:t>That test is inconclusive.</a:t>
            </a:r>
          </a:p>
        </p:txBody>
      </p:sp>
      <p:sp>
        <p:nvSpPr>
          <p:cNvPr id="15" name="">
            <a:extLst xmlns:a="http://schemas.openxmlformats.org/drawingml/2006/main">
              <a:ext uri="{FF2B5EF4-FFF2-40B4-BE49-F238E27FC236}">
                <a16:creationId xmlns:a16="http://schemas.microsoft.com/office/drawing/2014/main" id="{27E4168E-C4A2-4ADC-95B3-1CA355A83E95}"/>
              </a:ext>
            </a:extLst>
          </p:cNvPr>
          <p:cNvSpPr>
            <a:spLocks xmlns:a="http://schemas.openxmlformats.org/drawingml/2006/main" noGrp="1"/>
          </p:cNvSpPr>
          <p:nvPr/>
        </p:nvSpPr>
        <p:spPr>
          <a:xfrm xmlns:a="http://schemas.openxmlformats.org/drawingml/2006/main">
            <a:off x="4276725" y="2667000"/>
            <a:ext cx="3181350" cy="2476500"/>
          </a:xfrm>
          <a:prstGeom xmlns:a="http://schemas.openxmlformats.org/drawingml/2006/main" prst="roundRect">
            <a:avLst>
              <a:gd name="adj" fmla="val 11538"/>
            </a:avLst>
          </a:prstGeom>
          <a:solidFill xmlns:a="http://schemas.openxmlformats.org/drawingml/2006/main">
            <a:srgbClr val="463716"/>
          </a:solidFill>
          <a:ln xmlns:a="http://schemas.openxmlformats.org/drawingml/2006/main" w="11906">
            <a:solidFill>
              <a:srgbClr val="FFC86B"/>
            </a:solidFill>
            <a:prstDash val="solid"/>
          </a:ln>
        </p:spPr>
      </p:sp>
      <p:sp>
        <p:nvSpPr>
          <p:cNvPr id="16" name="">
            <a:extLst xmlns:a="http://schemas.openxmlformats.org/drawingml/2006/main">
              <a:ext uri="{FF2B5EF4-FFF2-40B4-BE49-F238E27FC236}">
                <a16:creationId xmlns:a16="http://schemas.microsoft.com/office/drawing/2014/main" id="{D4A67BC3-352D-4426-8359-CD49CF7F8D42}"/>
              </a:ext>
            </a:extLst>
          </p:cNvPr>
          <p:cNvSpPr>
            <a:spLocks xmlns:a="http://schemas.openxmlformats.org/drawingml/2006/main" noGrp="1"/>
          </p:cNvSpPr>
          <p:nvPr/>
        </p:nvSpPr>
        <p:spPr>
          <a:xfrm xmlns:a="http://schemas.openxmlformats.org/drawingml/2006/main">
            <a:off x="4505325" y="2676525"/>
            <a:ext cx="2724150" cy="0"/>
          </a:xfrm>
          <a:prstGeom xmlns:a="http://schemas.openxmlformats.org/drawingml/2006/main" prst="line">
            <a:avLst/>
          </a:prstGeom>
          <a:noFill xmlns:a="http://schemas.openxmlformats.org/drawingml/2006/main"/>
          <a:ln xmlns:a="http://schemas.openxmlformats.org/drawingml/2006/main" w="9525">
            <a:solidFill>
              <a:srgbClr val="536A84"/>
            </a:solidFill>
            <a:prstDash val="solid"/>
          </a:ln>
        </p:spPr>
      </p:sp>
      <p:sp>
        <p:nvSpPr>
          <p:cNvPr id="17" name="">
            <a:extLst xmlns:a="http://schemas.openxmlformats.org/drawingml/2006/main">
              <a:ext uri="{FF2B5EF4-FFF2-40B4-BE49-F238E27FC236}">
                <a16:creationId xmlns:a16="http://schemas.microsoft.com/office/drawing/2014/main" id="{63E35C85-5CAF-428B-810F-3502342B1367}"/>
              </a:ext>
            </a:extLst>
          </p:cNvPr>
          <p:cNvSpPr>
            <a:spLocks xmlns:a="http://schemas.openxmlformats.org/drawingml/2006/main" noGrp="1"/>
          </p:cNvSpPr>
          <p:nvPr/>
        </p:nvSpPr>
        <p:spPr>
          <a:xfrm xmlns:a="http://schemas.openxmlformats.org/drawingml/2006/main">
            <a:off x="4524375" y="2952750"/>
            <a:ext cx="2705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FFC86B"/>
                </a:solidFill>
                <a:latin typeface="Courier New"/>
                <a:ea typeface="Courier New"/>
                <a:cs typeface="Courier New"/>
              </a:defRPr>
            </a:pPr>
            <a:r>
              <a:rPr sz="975" b="1" i="0">
                <a:solidFill>
                  <a:srgbClr val="FFC86B"/>
                </a:solidFill>
                <a:latin typeface="Courier New"/>
                <a:ea typeface="Courier New"/>
                <a:cs typeface="Courier New"/>
              </a:rPr>
              <a:t>TIMEOUT ≠ FAILURE</a:t>
            </a:r>
          </a:p>
        </p:txBody>
      </p:sp>
      <p:sp>
        <p:nvSpPr>
          <p:cNvPr id="18" name="">
            <a:extLst xmlns:a="http://schemas.openxmlformats.org/drawingml/2006/main">
              <a:ext uri="{FF2B5EF4-FFF2-40B4-BE49-F238E27FC236}">
                <a16:creationId xmlns:a16="http://schemas.microsoft.com/office/drawing/2014/main" id="{D491EF7F-9C8B-4764-B896-22C75BB339EA}"/>
              </a:ext>
            </a:extLst>
          </p:cNvPr>
          <p:cNvSpPr>
            <a:spLocks xmlns:a="http://schemas.openxmlformats.org/drawingml/2006/main" noGrp="1"/>
          </p:cNvSpPr>
          <p:nvPr/>
        </p:nvSpPr>
        <p:spPr>
          <a:xfrm xmlns:a="http://schemas.openxmlformats.org/drawingml/2006/main">
            <a:off x="4524375" y="3476625"/>
            <a:ext cx="2705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0" i="1">
                <a:solidFill>
                  <a:srgbClr val="F7F8FB"/>
                </a:solidFill>
                <a:latin typeface="Georgia"/>
                <a:ea typeface="Georgia"/>
                <a:cs typeface="Georgia"/>
              </a:defRPr>
            </a:pPr>
            <a:r>
              <a:rPr sz="2325" b="0" i="1">
                <a:solidFill>
                  <a:srgbClr val="F7F8FB"/>
                </a:solidFill>
                <a:latin typeface="Georgia"/>
                <a:ea typeface="Georgia"/>
                <a:cs typeface="Georgia"/>
              </a:rPr>
              <a:t>Sandbox unavailable</a:t>
            </a:r>
          </a:p>
        </p:txBody>
      </p:sp>
      <p:sp>
        <p:nvSpPr>
          <p:cNvPr id="19" name="">
            <a:extLst xmlns:a="http://schemas.openxmlformats.org/drawingml/2006/main">
              <a:ext uri="{FF2B5EF4-FFF2-40B4-BE49-F238E27FC236}">
                <a16:creationId xmlns:a16="http://schemas.microsoft.com/office/drawing/2014/main" id="{1AA75536-C47E-49DB-8427-07E694ABF803}"/>
              </a:ext>
            </a:extLst>
          </p:cNvPr>
          <p:cNvSpPr>
            <a:spLocks xmlns:a="http://schemas.openxmlformats.org/drawingml/2006/main" noGrp="1"/>
          </p:cNvSpPr>
          <p:nvPr/>
        </p:nvSpPr>
        <p:spPr>
          <a:xfrm xmlns:a="http://schemas.openxmlformats.org/drawingml/2006/main">
            <a:off x="4524375" y="4476750"/>
            <a:ext cx="2686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A8B6C8"/>
                </a:solidFill>
                <a:latin typeface="Public Sans"/>
                <a:ea typeface="Public Sans"/>
                <a:cs typeface="Public Sans"/>
              </a:defRPr>
            </a:pPr>
            <a:r>
              <a:rPr sz="1275" b="0" i="0">
                <a:solidFill>
                  <a:srgbClr val="A8B6C8"/>
                </a:solidFill>
                <a:latin typeface="Public Sans"/>
                <a:ea typeface="Public Sans"/>
                <a:cs typeface="Public Sans"/>
              </a:rPr>
              <a:t>That is missing evidence.</a:t>
            </a:r>
          </a:p>
        </p:txBody>
      </p:sp>
      <p:sp>
        <p:nvSpPr>
          <p:cNvPr id="20" name="">
            <a:extLst xmlns:a="http://schemas.openxmlformats.org/drawingml/2006/main">
              <a:ext uri="{FF2B5EF4-FFF2-40B4-BE49-F238E27FC236}">
                <a16:creationId xmlns:a16="http://schemas.microsoft.com/office/drawing/2014/main" id="{9CC3505A-2DC3-4BDD-92DD-ED705AC4B50D}"/>
              </a:ext>
            </a:extLst>
          </p:cNvPr>
          <p:cNvSpPr>
            <a:spLocks xmlns:a="http://schemas.openxmlformats.org/drawingml/2006/main" noGrp="1"/>
          </p:cNvSpPr>
          <p:nvPr/>
        </p:nvSpPr>
        <p:spPr>
          <a:xfrm xmlns:a="http://schemas.openxmlformats.org/drawingml/2006/main">
            <a:off x="7867650" y="2667000"/>
            <a:ext cx="3181350" cy="2476500"/>
          </a:xfrm>
          <a:prstGeom xmlns:a="http://schemas.openxmlformats.org/drawingml/2006/main" prst="roundRect">
            <a:avLst>
              <a:gd name="adj" fmla="val 11538"/>
            </a:avLst>
          </a:prstGeom>
          <a:solidFill xmlns:a="http://schemas.openxmlformats.org/drawingml/2006/main">
            <a:srgbClr val="4A1D2A"/>
          </a:solidFill>
          <a:ln xmlns:a="http://schemas.openxmlformats.org/drawingml/2006/main" w="11906">
            <a:solidFill>
              <a:srgbClr val="FF7081"/>
            </a:solidFill>
            <a:prstDash val="solid"/>
          </a:ln>
        </p:spPr>
      </p:sp>
      <p:sp>
        <p:nvSpPr>
          <p:cNvPr id="21" name="">
            <a:extLst xmlns:a="http://schemas.openxmlformats.org/drawingml/2006/main">
              <a:ext uri="{FF2B5EF4-FFF2-40B4-BE49-F238E27FC236}">
                <a16:creationId xmlns:a16="http://schemas.microsoft.com/office/drawing/2014/main" id="{F81E89CD-118C-4A4B-804B-288BC279EE28}"/>
              </a:ext>
            </a:extLst>
          </p:cNvPr>
          <p:cNvSpPr>
            <a:spLocks xmlns:a="http://schemas.openxmlformats.org/drawingml/2006/main" noGrp="1"/>
          </p:cNvSpPr>
          <p:nvPr/>
        </p:nvSpPr>
        <p:spPr>
          <a:xfrm xmlns:a="http://schemas.openxmlformats.org/drawingml/2006/main">
            <a:off x="8096250" y="2676525"/>
            <a:ext cx="2724150" cy="0"/>
          </a:xfrm>
          <a:prstGeom xmlns:a="http://schemas.openxmlformats.org/drawingml/2006/main" prst="line">
            <a:avLst/>
          </a:prstGeom>
          <a:noFill xmlns:a="http://schemas.openxmlformats.org/drawingml/2006/main"/>
          <a:ln xmlns:a="http://schemas.openxmlformats.org/drawingml/2006/main" w="9525">
            <a:solidFill>
              <a:srgbClr val="536A84"/>
            </a:solidFill>
            <a:prstDash val="solid"/>
          </a:ln>
        </p:spPr>
      </p:sp>
      <p:sp>
        <p:nvSpPr>
          <p:cNvPr id="22" name="">
            <a:extLst xmlns:a="http://schemas.openxmlformats.org/drawingml/2006/main">
              <a:ext uri="{FF2B5EF4-FFF2-40B4-BE49-F238E27FC236}">
                <a16:creationId xmlns:a16="http://schemas.microsoft.com/office/drawing/2014/main" id="{F94F1E3F-1C0C-4360-9D75-4E0BDB7018A0}"/>
              </a:ext>
            </a:extLst>
          </p:cNvPr>
          <p:cNvSpPr>
            <a:spLocks xmlns:a="http://schemas.openxmlformats.org/drawingml/2006/main" noGrp="1"/>
          </p:cNvSpPr>
          <p:nvPr/>
        </p:nvSpPr>
        <p:spPr>
          <a:xfrm xmlns:a="http://schemas.openxmlformats.org/drawingml/2006/main">
            <a:off x="8115300" y="2952750"/>
            <a:ext cx="2705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FF7081"/>
                </a:solidFill>
                <a:latin typeface="Courier New"/>
                <a:ea typeface="Courier New"/>
                <a:cs typeface="Courier New"/>
              </a:defRPr>
            </a:pPr>
            <a:r>
              <a:rPr sz="975" b="1" i="0">
                <a:solidFill>
                  <a:srgbClr val="FF7081"/>
                </a:solidFill>
                <a:latin typeface="Courier New"/>
                <a:ea typeface="Courier New"/>
                <a:cs typeface="Courier New"/>
              </a:rPr>
              <a:t>OPINION ≠ EVIDENCE</a:t>
            </a:r>
          </a:p>
        </p:txBody>
      </p:sp>
      <p:sp>
        <p:nvSpPr>
          <p:cNvPr id="23" name="">
            <a:extLst xmlns:a="http://schemas.openxmlformats.org/drawingml/2006/main">
              <a:ext uri="{FF2B5EF4-FFF2-40B4-BE49-F238E27FC236}">
                <a16:creationId xmlns:a16="http://schemas.microsoft.com/office/drawing/2014/main" id="{CC0D4B19-2F4C-4579-8649-72EEB6D8C093}"/>
              </a:ext>
            </a:extLst>
          </p:cNvPr>
          <p:cNvSpPr>
            <a:spLocks xmlns:a="http://schemas.openxmlformats.org/drawingml/2006/main" noGrp="1"/>
          </p:cNvSpPr>
          <p:nvPr/>
        </p:nvSpPr>
        <p:spPr>
          <a:xfrm xmlns:a="http://schemas.openxmlformats.org/drawingml/2006/main">
            <a:off x="8115300" y="3476625"/>
            <a:ext cx="2705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0" i="1">
                <a:solidFill>
                  <a:srgbClr val="F7F8FB"/>
                </a:solidFill>
                <a:latin typeface="Georgia"/>
                <a:ea typeface="Georgia"/>
                <a:cs typeface="Georgia"/>
              </a:defRPr>
            </a:pPr>
            <a:r>
              <a:rPr sz="2325" b="0" i="1">
                <a:solidFill>
                  <a:srgbClr val="F7F8FB"/>
                </a:solidFill>
                <a:latin typeface="Georgia"/>
                <a:ea typeface="Georgia"/>
                <a:cs typeface="Georgia"/>
              </a:rPr>
              <a:t>Review says “looks good”</a:t>
            </a:r>
          </a:p>
        </p:txBody>
      </p:sp>
      <p:sp>
        <p:nvSpPr>
          <p:cNvPr id="24" name="">
            <a:extLst xmlns:a="http://schemas.openxmlformats.org/drawingml/2006/main">
              <a:ext uri="{FF2B5EF4-FFF2-40B4-BE49-F238E27FC236}">
                <a16:creationId xmlns:a16="http://schemas.microsoft.com/office/drawing/2014/main" id="{FA26F308-2F40-486E-9F2E-8CBC9E1D2998}"/>
              </a:ext>
            </a:extLst>
          </p:cNvPr>
          <p:cNvSpPr>
            <a:spLocks xmlns:a="http://schemas.openxmlformats.org/drawingml/2006/main" noGrp="1"/>
          </p:cNvSpPr>
          <p:nvPr/>
        </p:nvSpPr>
        <p:spPr>
          <a:xfrm xmlns:a="http://schemas.openxmlformats.org/drawingml/2006/main">
            <a:off x="8115300" y="4476750"/>
            <a:ext cx="2686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A8B6C8"/>
                </a:solidFill>
                <a:latin typeface="Public Sans"/>
                <a:ea typeface="Public Sans"/>
                <a:cs typeface="Public Sans"/>
              </a:defRPr>
            </a:pPr>
            <a:r>
              <a:rPr sz="1275" b="0" i="0">
                <a:solidFill>
                  <a:srgbClr val="A8B6C8"/>
                </a:solidFill>
                <a:latin typeface="Public Sans"/>
                <a:ea typeface="Public Sans"/>
                <a:cs typeface="Public Sans"/>
              </a:rPr>
              <a:t>Only execution can prove behavior.</a:t>
            </a:r>
          </a:p>
        </p:txBody>
      </p:sp>
      <p:sp>
        <p:nvSpPr>
          <p:cNvPr id="25" name="">
            <a:extLst xmlns:a="http://schemas.openxmlformats.org/drawingml/2006/main">
              <a:ext uri="{FF2B5EF4-FFF2-40B4-BE49-F238E27FC236}">
                <a16:creationId xmlns:a16="http://schemas.microsoft.com/office/drawing/2014/main" id="{A2538724-9394-4780-8912-0696BEDEA6F6}"/>
              </a:ext>
            </a:extLst>
          </p:cNvPr>
          <p:cNvSpPr>
            <a:spLocks xmlns:a="http://schemas.openxmlformats.org/drawingml/2006/main" noGrp="1"/>
          </p:cNvSpPr>
          <p:nvPr/>
        </p:nvSpPr>
        <p:spPr>
          <a:xfrm xmlns:a="http://schemas.openxmlformats.org/drawingml/2006/main">
            <a:off x="3257550" y="5657850"/>
            <a:ext cx="5676900" cy="400050"/>
          </a:xfrm>
          <a:prstGeom xmlns:a="http://schemas.openxmlformats.org/drawingml/2006/main" prst="roundRect">
            <a:avLst>
              <a:gd name="adj" fmla="val 50000"/>
            </a:avLst>
          </a:prstGeom>
          <a:solidFill xmlns:a="http://schemas.openxmlformats.org/drawingml/2006/main">
            <a:srgbClr val="28264F"/>
          </a:solidFill>
          <a:ln xmlns:a="http://schemas.openxmlformats.org/drawingml/2006/main" w="9525">
            <a:solidFill>
              <a:srgbClr val="9B8CFF"/>
            </a:solidFill>
            <a:prstDash val="solid"/>
          </a:ln>
        </p:spPr>
      </p:sp>
      <p:sp>
        <p:nvSpPr>
          <p:cNvPr id="26" name="">
            <a:extLst xmlns:a="http://schemas.openxmlformats.org/drawingml/2006/main">
              <a:ext uri="{FF2B5EF4-FFF2-40B4-BE49-F238E27FC236}">
                <a16:creationId xmlns:a16="http://schemas.microsoft.com/office/drawing/2014/main" id="{9876FFDA-DC16-4893-BAC3-A12D264BE2FD}"/>
              </a:ext>
            </a:extLst>
          </p:cNvPr>
          <p:cNvSpPr>
            <a:spLocks xmlns:a="http://schemas.openxmlformats.org/drawingml/2006/main" noGrp="1"/>
          </p:cNvSpPr>
          <p:nvPr/>
        </p:nvSpPr>
        <p:spPr>
          <a:xfrm xmlns:a="http://schemas.openxmlformats.org/drawingml/2006/main">
            <a:off x="3257550" y="5657850"/>
            <a:ext cx="567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E3DFFF"/>
                </a:solidFill>
                <a:latin typeface="Public Sans"/>
                <a:ea typeface="Public Sans"/>
                <a:cs typeface="Public Sans"/>
              </a:defRPr>
            </a:pPr>
            <a:r>
              <a:rPr sz="1050" b="1" i="0">
                <a:solidFill>
                  <a:srgbClr val="E3DFFF"/>
                </a:solidFill>
                <a:latin typeface="Public Sans"/>
                <a:ea typeface="Public Sans"/>
                <a:cs typeface="Public Sans"/>
              </a:rPr>
              <a:t>WHEN PROOF IS MISSING, THE GATE STAYS CLOSED</a:t>
            </a:r>
          </a:p>
        </p:txBody>
      </p:sp>
    </p:spTree>
    <p:transition spd="med" advClick="1">
      <p:fade/>
    </p:transition>
    <p:extLst>
      <p:ext uri="{BB962C8B-B14F-4D97-AF65-F5344CB8AC3E}">
        <p14:creationId xmlns:p14="http://schemas.microsoft.com/office/powerpoint/2010/main" val="1632446087"/>
      </p:ext>
    </p:extLst>
  </p:cSld>
</p:sld>
</file>

<file path=ppt/slides/slide6.xml><?xml version="1.0" encoding="utf-8"?>
<p:sld xmlns:p="http://schemas.openxmlformats.org/presentationml/2006/main">
  <p:cSld>
    <p:bg>
      <p:bgPr>
        <a:solidFill xmlns:a="http://schemas.openxmlformats.org/drawingml/2006/main">
          <a:srgbClr val="07111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D481872-5EA7-4E07-9208-CEA310128795}"/>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123B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20DBC07-3400-48EE-AD9E-9E8D34F3F3E5}"/>
              </a:ext>
            </a:extLst>
          </p:cNvPr>
          <p:cNvSpPr>
            <a:spLocks xmlns:a="http://schemas.openxmlformats.org/drawingml/2006/main" noGrp="1"/>
          </p:cNvSpPr>
          <p:nvPr/>
        </p:nvSpPr>
        <p:spPr>
          <a:xfrm xmlns:a="http://schemas.openxmlformats.org/drawingml/2006/main">
            <a:off x="502920" y="5265420"/>
            <a:ext cx="1089660" cy="1089660"/>
          </a:xfrm>
          <a:prstGeom xmlns:a="http://schemas.openxmlformats.org/drawingml/2006/main" prst="ellipse">
            <a:avLst/>
          </a:prstGeom>
          <a:solidFill xmlns:a="http://schemas.openxmlformats.org/drawingml/2006/main">
            <a:srgbClr val="07111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62F658C-08D2-4103-89FB-FC72BDC94C8B}"/>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2826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9E0C24F-181B-4BD4-A67A-8F65EDEFCA97}"/>
              </a:ext>
            </a:extLst>
          </p:cNvPr>
          <p:cNvSpPr>
            <a:spLocks xmlns:a="http://schemas.openxmlformats.org/drawingml/2006/main" noGrp="1"/>
          </p:cNvSpPr>
          <p:nvPr/>
        </p:nvSpPr>
        <p:spPr>
          <a:xfrm xmlns:a="http://schemas.openxmlformats.org/drawingml/2006/main">
            <a:off x="10744200" y="457200"/>
            <a:ext cx="990600" cy="990600"/>
          </a:xfrm>
          <a:prstGeom xmlns:a="http://schemas.openxmlformats.org/drawingml/2006/main" prst="ellipse">
            <a:avLst/>
          </a:prstGeom>
          <a:solidFill xmlns:a="http://schemas.openxmlformats.org/drawingml/2006/main">
            <a:srgbClr val="07111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60C7F26-4080-409D-AB0F-C29442F07ECE}"/>
              </a:ext>
            </a:extLst>
          </p:cNvPr>
          <p:cNvSpPr>
            <a:spLocks xmlns:a="http://schemas.openxmlformats.org/drawingml/2006/main" noGrp="1"/>
          </p:cNvSpPr>
          <p:nvPr/>
        </p:nvSpPr>
        <p:spPr>
          <a:xfrm xmlns:a="http://schemas.openxmlformats.org/drawingml/2006/main">
            <a:off x="685800" y="2667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1">
                <a:solidFill>
                  <a:srgbClr val="F7F8FB"/>
                </a:solidFill>
                <a:latin typeface="Georgia"/>
                <a:ea typeface="Georgia"/>
                <a:cs typeface="Georgia"/>
              </a:defRPr>
            </a:pPr>
            <a:r>
              <a:rPr sz="2100" b="1" i="1">
                <a:solidFill>
                  <a:srgbClr val="F7F8FB"/>
                </a:solidFill>
                <a:latin typeface="Georgia"/>
                <a:ea typeface="Georgia"/>
                <a:cs typeface="Georgia"/>
              </a:rPr>
              <a:t>Popper</a:t>
            </a:r>
          </a:p>
        </p:txBody>
      </p:sp>
      <p:sp>
        <p:nvSpPr>
          <p:cNvPr id="6" name="">
            <a:extLst xmlns:a="http://schemas.openxmlformats.org/drawingml/2006/main">
              <a:ext uri="{FF2B5EF4-FFF2-40B4-BE49-F238E27FC236}">
                <a16:creationId xmlns:a16="http://schemas.microsoft.com/office/drawing/2014/main" id="{EC9C8541-2977-411B-BECE-86813E9B1BAD}"/>
              </a:ext>
            </a:extLst>
          </p:cNvPr>
          <p:cNvSpPr>
            <a:spLocks xmlns:a="http://schemas.openxmlformats.org/drawingml/2006/main" noGrp="1"/>
          </p:cNvSpPr>
          <p:nvPr/>
        </p:nvSpPr>
        <p:spPr>
          <a:xfrm xmlns:a="http://schemas.openxmlformats.org/drawingml/2006/main">
            <a:off x="10839450" y="3238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i="0">
                <a:solidFill>
                  <a:srgbClr val="A8B6C8"/>
                </a:solidFill>
                <a:latin typeface="Courier New"/>
                <a:ea typeface="Courier New"/>
                <a:cs typeface="Courier New"/>
              </a:defRPr>
            </a:pPr>
            <a:r>
              <a:rPr sz="1050" b="0" i="0">
                <a:solidFill>
                  <a:srgbClr val="A8B6C8"/>
                </a:solidFill>
                <a:latin typeface="Courier New"/>
                <a:ea typeface="Courier New"/>
                <a:cs typeface="Courier New"/>
              </a:rPr>
              <a:t>06</a:t>
            </a:r>
          </a:p>
        </p:txBody>
      </p:sp>
      <p:sp>
        <p:nvSpPr>
          <p:cNvPr id="7" name="">
            <a:extLst xmlns:a="http://schemas.openxmlformats.org/drawingml/2006/main">
              <a:ext uri="{FF2B5EF4-FFF2-40B4-BE49-F238E27FC236}">
                <a16:creationId xmlns:a16="http://schemas.microsoft.com/office/drawing/2014/main" id="{F62273A8-9775-4375-AEB3-CC2DC6D8C1AA}"/>
              </a:ext>
            </a:extLst>
          </p:cNvPr>
          <p:cNvSpPr>
            <a:spLocks xmlns:a="http://schemas.openxmlformats.org/drawingml/2006/main" noGrp="1"/>
          </p:cNvSpPr>
          <p:nvPr/>
        </p:nvSpPr>
        <p:spPr>
          <a:xfrm xmlns:a="http://schemas.openxmlformats.org/drawingml/2006/main">
            <a:off x="704850" y="571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9B8CFF"/>
                </a:solidFill>
                <a:latin typeface="Public Sans"/>
                <a:ea typeface="Public Sans"/>
                <a:cs typeface="Public Sans"/>
              </a:defRPr>
            </a:pPr>
            <a:r>
              <a:rPr sz="1050" b="1" i="0">
                <a:solidFill>
                  <a:srgbClr val="9B8CFF"/>
                </a:solidFill>
                <a:latin typeface="Public Sans"/>
                <a:ea typeface="Public Sans"/>
                <a:cs typeface="Public Sans"/>
              </a:rPr>
              <a:t>THE PROMISE</a:t>
            </a:r>
          </a:p>
        </p:txBody>
      </p:sp>
      <p:sp>
        <p:nvSpPr>
          <p:cNvPr id="8" name="">
            <a:extLst xmlns:a="http://schemas.openxmlformats.org/drawingml/2006/main">
              <a:ext uri="{FF2B5EF4-FFF2-40B4-BE49-F238E27FC236}">
                <a16:creationId xmlns:a16="http://schemas.microsoft.com/office/drawing/2014/main" id="{F3E2EF89-24AF-4549-908A-CBB8228F856E}"/>
              </a:ext>
            </a:extLst>
          </p:cNvPr>
          <p:cNvSpPr>
            <a:spLocks xmlns:a="http://schemas.openxmlformats.org/drawingml/2006/main" noGrp="1"/>
          </p:cNvSpPr>
          <p:nvPr/>
        </p:nvSpPr>
        <p:spPr>
          <a:xfrm xmlns:a="http://schemas.openxmlformats.org/drawingml/2006/main">
            <a:off x="8572500" y="2381250"/>
            <a:ext cx="3619500" cy="3619500"/>
          </a:xfrm>
          <a:prstGeom xmlns:a="http://schemas.openxmlformats.org/drawingml/2006/main" prst="ellipse">
            <a:avLst/>
          </a:prstGeom>
          <a:solidFill xmlns:a="http://schemas.openxmlformats.org/drawingml/2006/main">
            <a:srgbClr val="4A1D2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D9051C8-7916-4B3D-AB60-2FF867E96CF9}"/>
              </a:ext>
            </a:extLst>
          </p:cNvPr>
          <p:cNvSpPr>
            <a:spLocks xmlns:a="http://schemas.openxmlformats.org/drawingml/2006/main" noGrp="1"/>
          </p:cNvSpPr>
          <p:nvPr/>
        </p:nvSpPr>
        <p:spPr>
          <a:xfrm xmlns:a="http://schemas.openxmlformats.org/drawingml/2006/main">
            <a:off x="9441180" y="3249930"/>
            <a:ext cx="1882140" cy="1882140"/>
          </a:xfrm>
          <a:prstGeom xmlns:a="http://schemas.openxmlformats.org/drawingml/2006/main" prst="ellipse">
            <a:avLst/>
          </a:prstGeom>
          <a:solidFill xmlns:a="http://schemas.openxmlformats.org/drawingml/2006/main">
            <a:srgbClr val="07111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3D186AD-62EB-4C2C-A56E-8B05C7A39D8E}"/>
              </a:ext>
            </a:extLst>
          </p:cNvPr>
          <p:cNvSpPr>
            <a:spLocks xmlns:a="http://schemas.openxmlformats.org/drawingml/2006/main" noGrp="1"/>
          </p:cNvSpPr>
          <p:nvPr/>
        </p:nvSpPr>
        <p:spPr>
          <a:xfrm xmlns:a="http://schemas.openxmlformats.org/drawingml/2006/main">
            <a:off x="9620250" y="1238250"/>
            <a:ext cx="0" cy="4476750"/>
          </a:xfrm>
          <a:prstGeom xmlns:a="http://schemas.openxmlformats.org/drawingml/2006/main" prst="line">
            <a:avLst/>
          </a:prstGeom>
          <a:noFill xmlns:a="http://schemas.openxmlformats.org/drawingml/2006/main"/>
          <a:ln xmlns:a="http://schemas.openxmlformats.org/drawingml/2006/main" w="76200">
            <a:solidFill>
              <a:srgbClr val="9B8CFF"/>
            </a:solidFill>
            <a:prstDash val="solid"/>
          </a:ln>
        </p:spPr>
      </p:sp>
      <p:sp>
        <p:nvSpPr>
          <p:cNvPr id="11" name="">
            <a:extLst xmlns:a="http://schemas.openxmlformats.org/drawingml/2006/main">
              <a:ext uri="{FF2B5EF4-FFF2-40B4-BE49-F238E27FC236}">
                <a16:creationId xmlns:a16="http://schemas.microsoft.com/office/drawing/2014/main" id="{0FC5573C-DA37-4AAF-8CA4-68054A442186}"/>
              </a:ext>
            </a:extLst>
          </p:cNvPr>
          <p:cNvSpPr>
            <a:spLocks xmlns:a="http://schemas.openxmlformats.org/drawingml/2006/main" noGrp="1"/>
          </p:cNvSpPr>
          <p:nvPr/>
        </p:nvSpPr>
        <p:spPr>
          <a:xfrm xmlns:a="http://schemas.openxmlformats.org/drawingml/2006/main">
            <a:off x="685800" y="1257300"/>
            <a:ext cx="6953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400" b="0" i="0">
                <a:solidFill>
                  <a:srgbClr val="F7F8FB"/>
                </a:solidFill>
                <a:latin typeface="Georgia"/>
                <a:ea typeface="Georgia"/>
                <a:cs typeface="Georgia"/>
              </a:defRPr>
            </a:pPr>
            <a:r>
              <a:rPr sz="5400" b="0" i="0">
                <a:solidFill>
                  <a:srgbClr val="F7F8FB"/>
                </a:solidFill>
                <a:latin typeface="Georgia"/>
                <a:ea typeface="Georgia"/>
                <a:cs typeface="Georgia"/>
              </a:rPr>
              <a:t>AI makes</a:t>
            </a:r>
          </a:p>
          <a:p xmlns:a="http://schemas.openxmlformats.org/drawingml/2006/main">
            <a:pPr algn="l">
              <a:defRPr sz="5400" b="0" i="0">
                <a:solidFill>
                  <a:srgbClr val="F7F8FB"/>
                </a:solidFill>
                <a:latin typeface="Georgia"/>
                <a:ea typeface="Georgia"/>
                <a:cs typeface="Georgia"/>
              </a:defRPr>
            </a:pPr>
            <a:r>
              <a:rPr sz="5400" b="0" i="0">
                <a:solidFill>
                  <a:srgbClr val="F7F8FB"/>
                </a:solidFill>
                <a:latin typeface="Georgia"/>
                <a:ea typeface="Georgia"/>
                <a:cs typeface="Georgia"/>
              </a:rPr>
              <a:t>the claim.</a:t>
            </a:r>
          </a:p>
        </p:txBody>
      </p:sp>
      <p:sp>
        <p:nvSpPr>
          <p:cNvPr id="12" name="">
            <a:extLst xmlns:a="http://schemas.openxmlformats.org/drawingml/2006/main">
              <a:ext uri="{FF2B5EF4-FFF2-40B4-BE49-F238E27FC236}">
                <a16:creationId xmlns:a16="http://schemas.microsoft.com/office/drawing/2014/main" id="{D9FF2CE1-4637-440E-BFA2-C5FE70B9B84B}"/>
              </a:ext>
            </a:extLst>
          </p:cNvPr>
          <p:cNvSpPr>
            <a:spLocks xmlns:a="http://schemas.openxmlformats.org/drawingml/2006/main" noGrp="1"/>
          </p:cNvSpPr>
          <p:nvPr/>
        </p:nvSpPr>
        <p:spPr>
          <a:xfrm xmlns:a="http://schemas.openxmlformats.org/drawingml/2006/main">
            <a:off x="685800" y="3086100"/>
            <a:ext cx="78105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400" b="0" i="1">
                <a:solidFill>
                  <a:srgbClr val="9B8CFF"/>
                </a:solidFill>
                <a:latin typeface="Georgia"/>
                <a:ea typeface="Georgia"/>
                <a:cs typeface="Georgia"/>
              </a:defRPr>
            </a:pPr>
            <a:r>
              <a:rPr sz="5400" b="0" i="1">
                <a:solidFill>
                  <a:srgbClr val="9B8CFF"/>
                </a:solidFill>
                <a:latin typeface="Georgia"/>
                <a:ea typeface="Georgia"/>
                <a:cs typeface="Georgia"/>
              </a:rPr>
              <a:t>Popper makes it</a:t>
            </a:r>
          </a:p>
          <a:p xmlns:a="http://schemas.openxmlformats.org/drawingml/2006/main">
            <a:pPr algn="l">
              <a:defRPr sz="5400" b="0" i="1">
                <a:solidFill>
                  <a:srgbClr val="9B8CFF"/>
                </a:solidFill>
                <a:latin typeface="Georgia"/>
                <a:ea typeface="Georgia"/>
                <a:cs typeface="Georgia"/>
              </a:defRPr>
            </a:pPr>
            <a:r>
              <a:rPr sz="5400" b="0" i="1">
                <a:solidFill>
                  <a:srgbClr val="9B8CFF"/>
                </a:solidFill>
                <a:latin typeface="Georgia"/>
                <a:ea typeface="Georgia"/>
                <a:cs typeface="Georgia"/>
              </a:rPr>
              <a:t>earn trust.</a:t>
            </a:r>
          </a:p>
        </p:txBody>
      </p:sp>
      <p:sp>
        <p:nvSpPr>
          <p:cNvPr id="13" name="">
            <a:extLst xmlns:a="http://schemas.openxmlformats.org/drawingml/2006/main">
              <a:ext uri="{FF2B5EF4-FFF2-40B4-BE49-F238E27FC236}">
                <a16:creationId xmlns:a16="http://schemas.microsoft.com/office/drawing/2014/main" id="{6DBBA7F8-43C5-4CFC-B238-DCB6EBAB1BB5}"/>
              </a:ext>
            </a:extLst>
          </p:cNvPr>
          <p:cNvSpPr>
            <a:spLocks xmlns:a="http://schemas.openxmlformats.org/drawingml/2006/main" noGrp="1"/>
          </p:cNvSpPr>
          <p:nvPr/>
        </p:nvSpPr>
        <p:spPr>
          <a:xfrm xmlns:a="http://schemas.openxmlformats.org/drawingml/2006/main">
            <a:off x="742950" y="5429250"/>
            <a:ext cx="3467100" cy="419100"/>
          </a:xfrm>
          <a:prstGeom xmlns:a="http://schemas.openxmlformats.org/drawingml/2006/main" prst="roundRect">
            <a:avLst>
              <a:gd name="adj" fmla="val 50000"/>
            </a:avLst>
          </a:prstGeom>
          <a:solidFill xmlns:a="http://schemas.openxmlformats.org/drawingml/2006/main">
            <a:srgbClr val="123C31"/>
          </a:solidFill>
          <a:ln xmlns:a="http://schemas.openxmlformats.org/drawingml/2006/main" w="9525">
            <a:solidFill>
              <a:srgbClr val="3DDC97"/>
            </a:solidFill>
            <a:prstDash val="solid"/>
          </a:ln>
        </p:spPr>
      </p:sp>
      <p:sp>
        <p:nvSpPr>
          <p:cNvPr id="14" name="">
            <a:extLst xmlns:a="http://schemas.openxmlformats.org/drawingml/2006/main">
              <a:ext uri="{FF2B5EF4-FFF2-40B4-BE49-F238E27FC236}">
                <a16:creationId xmlns:a16="http://schemas.microsoft.com/office/drawing/2014/main" id="{56086964-15E2-46BD-B045-9107C08EE6F4}"/>
              </a:ext>
            </a:extLst>
          </p:cNvPr>
          <p:cNvSpPr>
            <a:spLocks xmlns:a="http://schemas.openxmlformats.org/drawingml/2006/main" noGrp="1"/>
          </p:cNvSpPr>
          <p:nvPr/>
        </p:nvSpPr>
        <p:spPr>
          <a:xfrm xmlns:a="http://schemas.openxmlformats.org/drawingml/2006/main">
            <a:off x="742950" y="5429250"/>
            <a:ext cx="3467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CFFFF0"/>
                </a:solidFill>
                <a:latin typeface="Public Sans"/>
                <a:ea typeface="Public Sans"/>
                <a:cs typeface="Public Sans"/>
              </a:defRPr>
            </a:pPr>
            <a:r>
              <a:rPr sz="1050" b="1" i="0">
                <a:solidFill>
                  <a:srgbClr val="CFFFF0"/>
                </a:solidFill>
                <a:latin typeface="Public Sans"/>
                <a:ea typeface="Public Sans"/>
                <a:cs typeface="Public Sans"/>
              </a:rPr>
              <a:t>THE HUMAN STILL DECIDES</a:t>
            </a:r>
          </a:p>
        </p:txBody>
      </p:sp>
      <p:sp>
        <p:nvSpPr>
          <p:cNvPr id="15" name="">
            <a:extLst xmlns:a="http://schemas.openxmlformats.org/drawingml/2006/main">
              <a:ext uri="{FF2B5EF4-FFF2-40B4-BE49-F238E27FC236}">
                <a16:creationId xmlns:a16="http://schemas.microsoft.com/office/drawing/2014/main" id="{81BB0DEE-17DA-4A03-A639-E1C6342374AB}"/>
              </a:ext>
            </a:extLst>
          </p:cNvPr>
          <p:cNvSpPr>
            <a:spLocks xmlns:a="http://schemas.openxmlformats.org/drawingml/2006/main" noGrp="1"/>
          </p:cNvSpPr>
          <p:nvPr/>
        </p:nvSpPr>
        <p:spPr>
          <a:xfrm xmlns:a="http://schemas.openxmlformats.org/drawingml/2006/main">
            <a:off x="742950" y="60579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4FD8EC"/>
                </a:solidFill>
                <a:latin typeface="Public Sans"/>
                <a:ea typeface="Public Sans"/>
                <a:cs typeface="Public Sans"/>
              </a:defRPr>
            </a:pPr>
            <a:r>
              <a:rPr sz="1275" b="1" i="0">
                <a:solidFill>
                  <a:srgbClr val="4FD8EC"/>
                </a:solidFill>
                <a:latin typeface="Public Sans"/>
                <a:ea typeface="Public Sans"/>
                <a:cs typeface="Public Sans"/>
                <a:hlinkClick xmlns:r="http://schemas.openxmlformats.org/officeDocument/2006/relationships" r:id="R1b59f2d5ed1c46d1"/>
              </a:rPr>
              <a:t>daytona-hacksprint.vercel.app</a:t>
            </a:r>
          </a:p>
        </p:txBody>
      </p:sp>
    </p:spTree>
    <p:transition spd="med" advClick="1">
      <p:fade/>
    </p:transition>
    <p:extLst>
      <p:ext uri="{BB962C8B-B14F-4D97-AF65-F5344CB8AC3E}">
        <p14:creationId xmlns:p14="http://schemas.microsoft.com/office/powerpoint/2010/main" val="14602204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2026-07-24T22:04:42.6960000Z</dcterms:created>
  <dcterms:modified xsi:type="dcterms:W3CDTF">2026-07-24T22:04:42.6960000Z</dcterms:modified>
</coreProperties>
</file>