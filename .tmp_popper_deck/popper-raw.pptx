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458502e8edf4277" /><Relationship Type="http://schemas.openxmlformats.org/officeDocument/2006/relationships/extended-properties" Target="/docProps/app.xml" Id="R1b17b431588c46ff" /><Relationship Type="http://schemas.openxmlformats.org/officeDocument/2006/relationships/officeDocument" Target="/ppt/presentation.xml" Id="Rdd88f8ddf6db4673" /></Relationships>
</file>

<file path=ppt/presentation.xml><?xml version="1.0" encoding="utf-8"?>
<p:presentation xmlns:p="http://schemas.openxmlformats.org/presentationml/2006/main">
  <p:sldMasterIdLst>
    <p:sldMasterId xmlns:r="http://schemas.openxmlformats.org/officeDocument/2006/relationships" id="2147483648" r:id="R9acf5835a84347ca"/>
  </p:sldMasterIdLst>
  <p:notesMasterIdLst>
    <p:notesMasterId xmlns:r="http://schemas.openxmlformats.org/officeDocument/2006/relationships" r:id="R0ec68464a13442b2"/>
  </p:notesMasterIdLst>
  <p:sldIdLst>
    <p:sldId xmlns:r="http://schemas.openxmlformats.org/officeDocument/2006/relationships" id="256" r:id="R8870a567d99a45bf"/>
    <p:sldId xmlns:r="http://schemas.openxmlformats.org/officeDocument/2006/relationships" id="257" r:id="R877288ab25b646c2"/>
    <p:sldId xmlns:r="http://schemas.openxmlformats.org/officeDocument/2006/relationships" id="258" r:id="R25982497e2944ac0"/>
    <p:sldId xmlns:r="http://schemas.openxmlformats.org/officeDocument/2006/relationships" id="259" r:id="Red52aa460cd54f8d"/>
    <p:sldId xmlns:r="http://schemas.openxmlformats.org/officeDocument/2006/relationships" id="260" r:id="Rdfd55c7cb7984ba0"/>
    <p:sldId xmlns:r="http://schemas.openxmlformats.org/officeDocument/2006/relationships" id="261" r:id="R6707a260aaba47a4"/>
    <p:sldId xmlns:r="http://schemas.openxmlformats.org/officeDocument/2006/relationships" id="262" r:id="Rbbbaad77b2dd44b9"/>
    <p:sldId xmlns:r="http://schemas.openxmlformats.org/officeDocument/2006/relationships" id="263" r:id="Rcd0dbc730f664af1"/>
    <p:sldId xmlns:r="http://schemas.openxmlformats.org/officeDocument/2006/relationships" id="264" r:id="R596dafda0d4341e3"/>
    <p:sldId xmlns:r="http://schemas.openxmlformats.org/officeDocument/2006/relationships" id="265" r:id="Rbf063efbda11448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f71b0b9a4024582" /><Relationship Type="http://schemas.openxmlformats.org/officeDocument/2006/relationships/slideMaster" Target="/ppt/slideMasters/slideMaster1.xml" Id="R9acf5835a84347ca" /><Relationship Type="http://schemas.openxmlformats.org/officeDocument/2006/relationships/notesMaster" Target="/ppt/notesMasters/notesMaster1.xml" Id="R0ec68464a13442b2" /><Relationship Type="http://schemas.openxmlformats.org/officeDocument/2006/relationships/presProps" Target="/ppt/presProps.xml" Id="Rbe23212018a84fac" /><Relationship Type="http://schemas.openxmlformats.org/officeDocument/2006/relationships/tableStyles" Target="/ppt/tableStyles.xml" Id="R9561dd406371498b" /><Relationship Type="http://schemas.openxmlformats.org/officeDocument/2006/relationships/slide" Target="/ppt/slides/slide1.xml" Id="R8870a567d99a45bf" /><Relationship Type="http://schemas.openxmlformats.org/officeDocument/2006/relationships/slide" Target="/ppt/slides/slide2.xml" Id="R877288ab25b646c2" /><Relationship Type="http://schemas.openxmlformats.org/officeDocument/2006/relationships/slide" Target="/ppt/slides/slide3.xml" Id="R25982497e2944ac0" /><Relationship Type="http://schemas.openxmlformats.org/officeDocument/2006/relationships/slide" Target="/ppt/slides/slide4.xml" Id="Red52aa460cd54f8d" /><Relationship Type="http://schemas.openxmlformats.org/officeDocument/2006/relationships/slide" Target="/ppt/slides/slide5.xml" Id="Rdfd55c7cb7984ba0" /><Relationship Type="http://schemas.openxmlformats.org/officeDocument/2006/relationships/slide" Target="/ppt/slides/slide6.xml" Id="R6707a260aaba47a4" /><Relationship Type="http://schemas.openxmlformats.org/officeDocument/2006/relationships/slide" Target="/ppt/slides/slide7.xml" Id="Rbbbaad77b2dd44b9" /><Relationship Type="http://schemas.openxmlformats.org/officeDocument/2006/relationships/slide" Target="/ppt/slides/slide8.xml" Id="Rcd0dbc730f664af1" /><Relationship Type="http://schemas.openxmlformats.org/officeDocument/2006/relationships/slide" Target="/ppt/slides/slide9.xml" Id="R596dafda0d4341e3" /><Relationship Type="http://schemas.openxmlformats.org/officeDocument/2006/relationships/slide" Target="/ppt/slides/slide10.xml" Id="Rbf063efbda11448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9f0711d973a4c5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007004cec3f4a7a" /><Relationship Type="http://schemas.openxmlformats.org/officeDocument/2006/relationships/notesMaster" Target="/ppt/notesMasters/notesMaster1.xml" Id="R0407160590764c50" /></Relationships>
</file>

<file path=ppt/notesSlides/_rels/notesSlide2.xml.rels>&#65279;<?xml version="1.0" encoding="utf-8"?><Relationships xmlns="http://schemas.openxmlformats.org/package/2006/relationships"><Relationship Type="http://schemas.openxmlformats.org/officeDocument/2006/relationships/slide" Target="/ppt/slides/slide2.xml" Id="R0999a2447a3245cd" /><Relationship Type="http://schemas.openxmlformats.org/officeDocument/2006/relationships/notesMaster" Target="/ppt/notesMasters/notesMaster1.xml" Id="R1cc0d9ed453f41f9" /></Relationships>
</file>

<file path=ppt/notesSlides/_rels/notesSlide3.xml.rels>&#65279;<?xml version="1.0" encoding="utf-8"?><Relationships xmlns="http://schemas.openxmlformats.org/package/2006/relationships"><Relationship Type="http://schemas.openxmlformats.org/officeDocument/2006/relationships/slide" Target="/ppt/slides/slide3.xml" Id="Rde7b74c3995e48f8" /><Relationship Type="http://schemas.openxmlformats.org/officeDocument/2006/relationships/notesMaster" Target="/ppt/notesMasters/notesMaster1.xml" Id="Rd14b2e79f4b9442b" /></Relationships>
</file>

<file path=ppt/notesSlides/_rels/notesSlide4.xml.rels>&#65279;<?xml version="1.0" encoding="utf-8"?><Relationships xmlns="http://schemas.openxmlformats.org/package/2006/relationships"><Relationship Type="http://schemas.openxmlformats.org/officeDocument/2006/relationships/slide" Target="/ppt/slides/slide4.xml" Id="R288376304c8a483e" /><Relationship Type="http://schemas.openxmlformats.org/officeDocument/2006/relationships/notesMaster" Target="/ppt/notesMasters/notesMaster1.xml" Id="R9742f1e8a8844d4f" /></Relationships>
</file>

<file path=ppt/notesSlides/_rels/notesSlide5.xml.rels>&#65279;<?xml version="1.0" encoding="utf-8"?><Relationships xmlns="http://schemas.openxmlformats.org/package/2006/relationships"><Relationship Type="http://schemas.openxmlformats.org/officeDocument/2006/relationships/slide" Target="/ppt/slides/slide5.xml" Id="R02db40bf81d44657" /><Relationship Type="http://schemas.openxmlformats.org/officeDocument/2006/relationships/notesMaster" Target="/ppt/notesMasters/notesMaster1.xml" Id="R77fb27d48af14360" /></Relationships>
</file>

<file path=ppt/notesSlides/_rels/notesSlide6.xml.rels>&#65279;<?xml version="1.0" encoding="utf-8"?><Relationships xmlns="http://schemas.openxmlformats.org/package/2006/relationships"><Relationship Type="http://schemas.openxmlformats.org/officeDocument/2006/relationships/slide" Target="/ppt/slides/slide6.xml" Id="R34731155482042bd" /><Relationship Type="http://schemas.openxmlformats.org/officeDocument/2006/relationships/notesMaster" Target="/ppt/notesMasters/notesMaster1.xml" Id="R3270623733d84af9" /></Relationships>
</file>

<file path=ppt/notesSlides/_rels/notesSlide7.xml.rels>&#65279;<?xml version="1.0" encoding="utf-8"?><Relationships xmlns="http://schemas.openxmlformats.org/package/2006/relationships"><Relationship Type="http://schemas.openxmlformats.org/officeDocument/2006/relationships/slide" Target="/ppt/slides/slide7.xml" Id="R06e221357f6c4cc3" /><Relationship Type="http://schemas.openxmlformats.org/officeDocument/2006/relationships/notesMaster" Target="/ppt/notesMasters/notesMaster1.xml" Id="Ra29288fd61904bd8" /></Relationships>
</file>

<file path=ppt/notesSlides/_rels/notesSlide8.xml.rels>&#65279;<?xml version="1.0" encoding="utf-8"?><Relationships xmlns="http://schemas.openxmlformats.org/package/2006/relationships"><Relationship Type="http://schemas.openxmlformats.org/officeDocument/2006/relationships/slide" Target="/ppt/slides/slide8.xml" Id="Rf0193cdc35e84c04" /><Relationship Type="http://schemas.openxmlformats.org/officeDocument/2006/relationships/notesMaster" Target="/ppt/notesMasters/notesMaster1.xml" Id="R2d00937fd7c94539" /></Relationships>
</file>

<file path=ppt/notesSlides/_rels/notesSlide9.xml.rels>&#65279;<?xml version="1.0" encoding="utf-8"?><Relationships xmlns="http://schemas.openxmlformats.org/package/2006/relationships"><Relationship Type="http://schemas.openxmlformats.org/officeDocument/2006/relationships/slide" Target="/ppt/slides/slide9.xml" Id="R2869c47751624973" /><Relationship Type="http://schemas.openxmlformats.org/officeDocument/2006/relationships/notesMaster" Target="/ppt/notesMasters/notesMaster1.xml" Id="R72411ba657f24f1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a71be6a47f243f4" /><Relationship Type="http://schemas.openxmlformats.org/officeDocument/2006/relationships/notesMaster" Target="/ppt/notesMasters/notesMaster1.xml" Id="Rcd38989456a4403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simply: AI coding agents can fix bugs, but they cannot prove the fix works. Popper is the gate that asks for proof.</a:t>
            </a:r>
          </a:p>
          <a:p xmlns:a="http://schemas.openxmlformats.org/drawingml/2006/main">
            <a:r>
              <a:t/>
            </a:r>
          </a:p>
          <a:p xmlns:a="http://schemas.openxmlformats.org/drawingml/2006/main">
            <a:r>
              <a:t>[Sources]</a:t>
            </a:r>
          </a:p>
          <a:p xmlns:a="http://schemas.openxmlformats.org/drawingml/2006/main">
            <a:r>
              <a:t>- /Users/NithinAwasome/Downloads/Daytona-Hacksprint/public/product-thumbnail.png — locally generated project thumbnail</a:t>
            </a:r>
          </a:p>
          <a:p xmlns:a="http://schemas.openxmlformats.org/drawingml/2006/main">
            <a:r>
              <a:t>- /Users/NithinAwasome/Downloads/Daytona-Hacksprint/README.md — product description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Make the problem personal. We used AI agents to build faster, but every convincing patch left us accountable for the merge. Then generalize: every team adopting coding agents inherits this trust bottleneck.</a:t>
            </a:r>
          </a:p>
          <a:p xmlns:a="http://schemas.openxmlformats.org/drawingml/2006/main">
            <a:r>
              <a:t/>
            </a:r>
          </a:p>
          <a:p xmlns:a="http://schemas.openxmlformats.org/drawingml/2006/main">
            <a:r>
              <a:t>[Sources]</a:t>
            </a:r>
          </a:p>
          <a:p xmlns:a="http://schemas.openxmlformats.org/drawingml/2006/main">
            <a:r>
              <a:t>- /Users/NithinAwasome/Downloads/Daytona-Hacksprint/AGENTS.md — documented parallel AI-agent workflow</a:t>
            </a:r>
          </a:p>
          <a:p xmlns:a="http://schemas.openxmlformats.org/drawingml/2006/main">
            <a:r>
              <a:t>- Team experience and narrative supplied by the project creators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Pause here. This is the result every reviewer wants to see: the generated test passes after the fix.</a:t>
            </a:r>
          </a:p>
          <a:p xmlns:a="http://schemas.openxmlformats.org/drawingml/2006/main">
            <a:r>
              <a:t/>
            </a:r>
          </a:p>
          <a:p xmlns:a="http://schemas.openxmlformats.org/drawingml/2006/main">
            <a:r>
              <a:t>[Sources]</a:t>
            </a:r>
          </a:p>
          <a:p xmlns:a="http://schemas.openxmlformats.org/drawingml/2006/main">
            <a:r>
              <a:t>- /Users/NithinAwasome/Downloads/Daytona-Hacksprint/lib/pipeline.ts — before/after evidence semantics</a:t>
            </a:r>
          </a:p>
          <a:p xmlns:a="http://schemas.openxmlformats.org/drawingml/2006/main">
            <a:r>
              <a:t>- /Users/NithinAwasome/Downloads/Daytona-Hacksprint/docs/DECISIONS.md — evidence rules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Reveal the contradiction quickly. The same test passed before the code changed. The green result was real, but it was meaningless.</a:t>
            </a:r>
          </a:p>
          <a:p xmlns:a="http://schemas.openxmlformats.org/drawingml/2006/main">
            <a:r>
              <a:t/>
            </a:r>
          </a:p>
          <a:p xmlns:a="http://schemas.openxmlformats.org/drawingml/2006/main">
            <a:r>
              <a:t>[Sources]</a:t>
            </a:r>
          </a:p>
          <a:p xmlns:a="http://schemas.openxmlformats.org/drawingml/2006/main">
            <a:r>
              <a:t>- /Users/NithinAwasome/Downloads/Daytona-Hacksprint/lib/pipeline.ts — inconclusive test handling</a:t>
            </a:r>
          </a:p>
          <a:p xmlns:a="http://schemas.openxmlformats.org/drawingml/2006/main">
            <a:r>
              <a:t>- /Users/NithinAwasome/Downloads/Daytona-Hacksprint/docs/DECISIONS.md — a test passing on both revisions proves nothing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core idea: a useful test fails on the old code and passes on the proposed fix. Popper measures change, not confidence.</a:t>
            </a:r>
          </a:p>
          <a:p xmlns:a="http://schemas.openxmlformats.org/drawingml/2006/main">
            <a:r>
              <a:t/>
            </a:r>
          </a:p>
          <a:p xmlns:a="http://schemas.openxmlformats.org/drawingml/2006/main">
            <a:r>
              <a:t>[Sources]</a:t>
            </a:r>
          </a:p>
          <a:p xmlns:a="http://schemas.openxmlformats.org/drawingml/2006/main">
            <a:r>
              <a:t>- /Users/NithinAwasome/Downloads/Daytona-Hacksprint/lib/pipeline.ts — conclusive evidence logic</a:t>
            </a:r>
          </a:p>
          <a:p xmlns:a="http://schemas.openxmlformats.org/drawingml/2006/main">
            <a:r>
              <a:t>- /Users/NithinAwasome/Downloads/Daytona-Hacksprint/lib/pipeline.test.ts — verdict behavior tests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left to right. Fireworks extracts the claim and creates the attack. Daytona executes both revisions. CodeRabbit supplies an independent opinion. Popper compares the methods and gives a human the final gate.</a:t>
            </a:r>
          </a:p>
          <a:p xmlns:a="http://schemas.openxmlformats.org/drawingml/2006/main">
            <a:r>
              <a:t/>
            </a:r>
          </a:p>
          <a:p xmlns:a="http://schemas.openxmlformats.org/drawingml/2006/main">
            <a:r>
              <a:t>[Sources]</a:t>
            </a:r>
          </a:p>
          <a:p xmlns:a="http://schemas.openxmlformats.org/drawingml/2006/main">
            <a:r>
              <a:t>- /Users/NithinAwasome/Downloads/Daytona-Hacksprint/README.md — product architecture</a:t>
            </a:r>
          </a:p>
          <a:p xmlns:a="http://schemas.openxmlformats.org/drawingml/2006/main">
            <a:r>
              <a:t>- /Users/NithinAwasome/Downloads/Daytona-Hacksprint/lib/pipeline.ts — orchestration and recommendation logic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demo reveal. The pull request claims an empty cart no longer throws. The staged review approves, but the executed counterexample still fails after the change. Popper surfaces the disagreement and recommends block.</a:t>
            </a:r>
          </a:p>
          <a:p xmlns:a="http://schemas.openxmlformats.org/drawingml/2006/main">
            <a:r>
              <a:t/>
            </a:r>
          </a:p>
          <a:p xmlns:a="http://schemas.openxmlformats.org/drawingml/2006/main">
            <a:r>
              <a:t>[Sources]</a:t>
            </a:r>
          </a:p>
          <a:p xmlns:a="http://schemas.openxmlformats.org/drawingml/2006/main">
            <a:r>
              <a:t>- /Users/NithinAwasome/Downloads/Daytona-Hacksprint/.tmp_popper_deck/product-ui-cropped-final.jpg — screenshot captured from the local recorded pr-101 run</a:t>
            </a:r>
          </a:p>
          <a:p xmlns:a="http://schemas.openxmlformats.org/drawingml/2006/main">
            <a:r>
              <a:t>- /Users/NithinAwasome/Downloads/Daytona-Hacksprint/lib/fixtures/recorded-runs.ts — recorded demo fixture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 not present this as a logo parade. Each sponsor owns one necessary link: reasoning, execution, independent review, traceability, and reviewer interaction.</a:t>
            </a:r>
          </a:p>
          <a:p xmlns:a="http://schemas.openxmlformats.org/drawingml/2006/main">
            <a:r>
              <a:t/>
            </a:r>
          </a:p>
          <a:p xmlns:a="http://schemas.openxmlformats.org/drawingml/2006/main">
            <a:r>
              <a:t>[Sources]</a:t>
            </a:r>
          </a:p>
          <a:p xmlns:a="http://schemas.openxmlformats.org/drawingml/2006/main">
            <a:r>
              <a:t>- /Users/NithinAwasome/Downloads/Daytona-Hacksprint/README.md — integration summary</a:t>
            </a:r>
          </a:p>
          <a:p xmlns:a="http://schemas.openxmlformats.org/drawingml/2006/main">
            <a:r>
              <a:t>- /Users/NithinAwasome/Downloads/Daytona-Hacksprint/lib/adapters — Fireworks, Daytona, CodeRabbit, and Braintrust adapters</a:t>
            </a:r>
          </a:p>
          <a:p xmlns:a="http://schemas.openxmlformats.org/drawingml/2006/main">
            <a:r>
              <a:t>- /Users/NithinAwasome/Downloads/Daytona-Hacksprint/app/api/copilotkit — CopilotKit runtime route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the engineering lessons that made Popper trustworthy. We separate inconclusive tests, infrastructure failures, and model opinion. Missing evidence blocks instead of creating false confidence.</a:t>
            </a:r>
          </a:p>
          <a:p xmlns:a="http://schemas.openxmlformats.org/drawingml/2006/main">
            <a:r>
              <a:t/>
            </a:r>
          </a:p>
          <a:p xmlns:a="http://schemas.openxmlformats.org/drawingml/2006/main">
            <a:r>
              <a:t>[Sources]</a:t>
            </a:r>
          </a:p>
          <a:p xmlns:a="http://schemas.openxmlformats.org/drawingml/2006/main">
            <a:r>
              <a:t>- /Users/NithinAwasome/Downloads/Daytona-Hacksprint/docs/DECISIONS.md — evidence boundaries and fail-closed decisions</a:t>
            </a:r>
          </a:p>
          <a:p xmlns:a="http://schemas.openxmlformats.org/drawingml/2006/main">
            <a:r>
              <a:t>- /Users/NithinAwasome/Downloads/Daytona-Hacksprint/docs/PROGRESS.md — implementation challenges and verification history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by resolving the opening. AI gives us speed. Popper gives reviewers evidence. The system recommends, but a human still holds the key.</a:t>
            </a:r>
          </a:p>
          <a:p xmlns:a="http://schemas.openxmlformats.org/drawingml/2006/main">
            <a:r>
              <a:t/>
            </a:r>
          </a:p>
          <a:p xmlns:a="http://schemas.openxmlformats.org/drawingml/2006/main">
            <a:r>
              <a:t>[Sources]</a:t>
            </a:r>
          </a:p>
          <a:p xmlns:a="http://schemas.openxmlformats.org/drawingml/2006/main">
            <a:r>
              <a:t>- /Users/NithinAwasome/Downloads/Daytona-Hacksprint/public/product-thumbnail.png — locally generated project thumbnail</a:t>
            </a:r>
          </a:p>
          <a:p xmlns:a="http://schemas.openxmlformats.org/drawingml/2006/main">
            <a:r>
              <a:t>- Closing language adapted from the project creators' approved Popper story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166e3ee515f4ac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a7f16f21bd84988" /><Relationship Type="http://schemas.openxmlformats.org/officeDocument/2006/relationships/slideLayout" Target="/ppt/slideLayouts/slideLayout1.xml" Id="Re43fb8ba52c240f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43fb8ba52c240f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d5b6761b69b4bf4" /><Relationship Type="http://schemas.openxmlformats.org/officeDocument/2006/relationships/image" Target="/ppt/media/image.png" Id="R4b7256b29cc3442a" /><Relationship Type="http://schemas.openxmlformats.org/officeDocument/2006/relationships/notesSlide" Target="/ppt/notesSlides/notesSlide1.xml" Id="R269bfd44912b4fc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f3ec1ff1c6944c0" /><Relationship Type="http://schemas.openxmlformats.org/officeDocument/2006/relationships/notesSlide" Target="/ppt/notesSlides/notesSlide2.xml" Id="R8dedcfe7cbbd43e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11d2e1befe14a8c" /><Relationship Type="http://schemas.openxmlformats.org/officeDocument/2006/relationships/notesSlide" Target="/ppt/notesSlides/notesSlide3.xml" Id="Rff8072e73b934b2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a30260a9f394758" /><Relationship Type="http://schemas.openxmlformats.org/officeDocument/2006/relationships/notesSlide" Target="/ppt/notesSlides/notesSlide4.xml" Id="R80cb291efb744e1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857bf1c599c48ef" /><Relationship Type="http://schemas.openxmlformats.org/officeDocument/2006/relationships/notesSlide" Target="/ppt/notesSlides/notesSlide5.xml" Id="Re48ef030a409400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79b9b1c1b774e53" /><Relationship Type="http://schemas.openxmlformats.org/officeDocument/2006/relationships/notesSlide" Target="/ppt/notesSlides/notesSlide6.xml" Id="Rfb125ae02cd1469b"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2d718d09506142fc" /><Relationship Type="http://schemas.openxmlformats.org/officeDocument/2006/relationships/image" Target="/ppt/media/image.jpeg" Id="R21edf8a8839242c2" /><Relationship Type="http://schemas.openxmlformats.org/officeDocument/2006/relationships/notesSlide" Target="/ppt/notesSlides/notesSlide7.xml" Id="R7e166fd397934f9e"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273115084ad14ece" /><Relationship Type="http://schemas.openxmlformats.org/officeDocument/2006/relationships/notesSlide" Target="/ppt/notesSlides/notesSlide8.xml" Id="Rcf8b68b555fd4b50"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fd832c2979d1498c" /><Relationship Type="http://schemas.openxmlformats.org/officeDocument/2006/relationships/notesSlide" Target="/ppt/notesSlides/notesSlide9.xml" Id="Rd081be6592a240f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ccd5c58f50844dfc" /><Relationship Type="http://schemas.openxmlformats.org/officeDocument/2006/relationships/image" Target="/ppt/media/image2.png" Id="R5858b5a70da04d3d" /><Relationship Type="http://schemas.openxmlformats.org/officeDocument/2006/relationships/notesSlide" Target="/ppt/notesSlides/notesSlide10.xml" Id="R94ef9ad02d4149a5" /></Relationships>
</file>

<file path=ppt/slides/slide1.xml><?xml version="1.0" encoding="utf-8"?>
<p:sld xmlns:p="http://schemas.openxmlformats.org/presentationml/2006/main">
  <p:cSld>
    <p:bg>
      <p:bgPr>
        <a:solidFill xmlns:a="http://schemas.openxmlformats.org/drawingml/2006/main">
          <a:srgbClr val="07090D"/>
        </a:solidFill>
      </p:bgPr>
    </p:bg>
    <p:spTree>
      <p:nvGrpSpPr>
        <p:cNvPr id="1" name=""/>
        <p:cNvGrpSpPr/>
        <p:nvPr/>
      </p:nvGrpSpPr>
      <p:grpSpPr>
        <a:xfrm xmlns:a="http://schemas.openxmlformats.org/drawingml/2006/main"/>
      </p:grpSpPr>
      <p:pic>
        <p:nvPicPr>
          <p:cNvPr id="5" name=""/>
          <p:cNvPicPr>
            <a:picLocks xmlns:a="http://schemas.openxmlformats.org/drawingml/2006/main" noChangeAspect="1"/>
          </p:cNvPicPr>
          <p:nvPr/>
        </p:nvPicPr>
        <p:blipFill>
          <a:blip xmlns:r="http://schemas.openxmlformats.org/officeDocument/2006/relationships" xmlns:a="http://schemas.openxmlformats.org/drawingml/2006/main" r:embed="R4b7256b29cc3442a"/>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67704977-7EC3-4770-BE45-B58ADF32C81F}"/>
              </a:ext>
            </a:extLst>
          </p:cNvPr>
          <p:cNvSpPr>
            <a:spLocks xmlns:a="http://schemas.openxmlformats.org/drawingml/2006/main" noGrp="1"/>
          </p:cNvSpPr>
          <p:nvPr/>
        </p:nvSpPr>
        <p:spPr>
          <a:xfrm xmlns:a="http://schemas.openxmlformats.org/drawingml/2006/main">
            <a:off x="685800" y="1428750"/>
            <a:ext cx="49530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6900" b="1" i="0">
                <a:solidFill>
                  <a:srgbClr val="F7F4EC"/>
                </a:solidFill>
              </a:defRPr>
            </a:pPr>
            <a:r>
              <a:rPr sz="6900" b="1" i="0">
                <a:solidFill>
                  <a:srgbClr val="F7F4EC"/>
                </a:solidFill>
              </a:rPr>
              <a:t>POPPER</a:t>
            </a:r>
          </a:p>
        </p:txBody>
      </p:sp>
      <p:sp>
        <p:nvSpPr>
          <p:cNvPr id="3" name="">
            <a:extLst xmlns:a="http://schemas.openxmlformats.org/drawingml/2006/main">
              <a:ext uri="{FF2B5EF4-FFF2-40B4-BE49-F238E27FC236}">
                <a16:creationId xmlns:a16="http://schemas.microsoft.com/office/drawing/2014/main" id="{53B184C0-119C-4DDC-929B-DF5EEF8EC174}"/>
              </a:ext>
            </a:extLst>
          </p:cNvPr>
          <p:cNvSpPr>
            <a:spLocks xmlns:a="http://schemas.openxmlformats.org/drawingml/2006/main" noGrp="1"/>
          </p:cNvSpPr>
          <p:nvPr/>
        </p:nvSpPr>
        <p:spPr>
          <a:xfrm xmlns:a="http://schemas.openxmlformats.org/drawingml/2006/main">
            <a:off x="742950" y="2571750"/>
            <a:ext cx="42862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550" b="0" i="0">
                <a:solidFill>
                  <a:srgbClr val="F7F4EC"/>
                </a:solidFill>
              </a:defRPr>
            </a:pPr>
            <a:r>
              <a:rPr sz="2550" b="0" i="0">
                <a:solidFill>
                  <a:srgbClr val="F7F4EC"/>
                </a:solidFill>
              </a:rPr>
              <a:t>Proof for AI-generated fixes.</a:t>
            </a:r>
          </a:p>
        </p:txBody>
      </p:sp>
      <p:sp>
        <p:nvSpPr>
          <p:cNvPr id="4" name="">
            <a:extLst xmlns:a="http://schemas.openxmlformats.org/drawingml/2006/main">
              <a:ext uri="{FF2B5EF4-FFF2-40B4-BE49-F238E27FC236}">
                <a16:creationId xmlns:a16="http://schemas.microsoft.com/office/drawing/2014/main" id="{F6191BEF-5C4A-430B-86A5-5A28B3D3C618}"/>
              </a:ext>
            </a:extLst>
          </p:cNvPr>
          <p:cNvSpPr>
            <a:spLocks xmlns:a="http://schemas.openxmlformats.org/drawingml/2006/main" noGrp="1"/>
          </p:cNvSpPr>
          <p:nvPr/>
        </p:nvSpPr>
        <p:spPr>
          <a:xfrm xmlns:a="http://schemas.openxmlformats.org/drawingml/2006/main">
            <a:off x="762000" y="5524500"/>
            <a:ext cx="3905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i="0">
                <a:solidFill>
                  <a:srgbClr val="9DB9FF"/>
                </a:solidFill>
              </a:defRPr>
            </a:pPr>
            <a:r>
              <a:rPr sz="1200" b="1" i="0">
                <a:solidFill>
                  <a:srgbClr val="9DB9FF"/>
                </a:solidFill>
              </a:rPr>
              <a:t>ADVERSARIAL PR VERIFICATION</a:t>
            </a:r>
          </a:p>
        </p:txBody>
      </p:sp>
    </p:spTree>
    <p:extLst>
      <p:ext uri="{BB962C8B-B14F-4D97-AF65-F5344CB8AC3E}">
        <p14:creationId xmlns:p14="http://schemas.microsoft.com/office/powerpoint/2010/main" val="1404558468"/>
      </p:ext>
    </p:extLst>
  </p:cSld>
</p:sld>
</file>

<file path=ppt/slides/slide2.xml><?xml version="1.0" encoding="utf-8"?>
<p:sld xmlns:p="http://schemas.openxmlformats.org/presentationml/2006/main">
  <p:cSld>
    <p:bg>
      <p:bgPr>
        <a:solidFill xmlns:a="http://schemas.openxmlformats.org/drawingml/2006/main">
          <a:srgbClr val="07090D"/>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7609FA6F-E008-4B7B-AA0B-AD24805F7BE9}"/>
              </a:ext>
            </a:extLst>
          </p:cNvPr>
          <p:cNvSpPr>
            <a:spLocks xmlns:a="http://schemas.openxmlformats.org/drawingml/2006/main" noGrp="1"/>
          </p:cNvSpPr>
          <p:nvPr/>
        </p:nvSpPr>
        <p:spPr>
          <a:xfrm xmlns:a="http://schemas.openxmlformats.org/drawingml/2006/main">
            <a:off x="685800" y="495300"/>
            <a:ext cx="571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i="0">
                <a:solidFill>
                  <a:srgbClr val="9DB9FF"/>
                </a:solidFill>
              </a:defRPr>
            </a:pPr>
            <a:r>
              <a:rPr sz="1200" b="1" i="0">
                <a:solidFill>
                  <a:srgbClr val="9DB9FF"/>
                </a:solidFill>
              </a:rPr>
              <a:t>THE PROBLEM FOUND US FIRST</a:t>
            </a:r>
          </a:p>
        </p:txBody>
      </p:sp>
      <p:sp>
        <p:nvSpPr>
          <p:cNvPr id="2" name="">
            <a:extLst xmlns:a="http://schemas.openxmlformats.org/drawingml/2006/main">
              <a:ext uri="{FF2B5EF4-FFF2-40B4-BE49-F238E27FC236}">
                <a16:creationId xmlns:a16="http://schemas.microsoft.com/office/drawing/2014/main" id="{AF967FC2-4617-4561-B5BC-01180D6F04FF}"/>
              </a:ext>
            </a:extLst>
          </p:cNvPr>
          <p:cNvSpPr>
            <a:spLocks xmlns:a="http://schemas.openxmlformats.org/drawingml/2006/main" noGrp="1"/>
          </p:cNvSpPr>
          <p:nvPr/>
        </p:nvSpPr>
        <p:spPr>
          <a:xfrm xmlns:a="http://schemas.openxmlformats.org/drawingml/2006/main">
            <a:off x="685800" y="933450"/>
            <a:ext cx="8953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750" b="1" i="0">
                <a:solidFill>
                  <a:srgbClr val="F7F4EC"/>
                </a:solidFill>
              </a:defRPr>
            </a:pPr>
            <a:r>
              <a:rPr sz="3750" b="1" i="0">
                <a:solidFill>
                  <a:srgbClr val="F7F4EC"/>
                </a:solidFill>
              </a:rPr>
              <a:t>We became the bottleneck.</a:t>
            </a:r>
          </a:p>
        </p:txBody>
      </p:sp>
      <p:sp>
        <p:nvSpPr>
          <p:cNvPr id="3" name="">
            <a:extLst xmlns:a="http://schemas.openxmlformats.org/drawingml/2006/main">
              <a:ext uri="{FF2B5EF4-FFF2-40B4-BE49-F238E27FC236}">
                <a16:creationId xmlns:a16="http://schemas.microsoft.com/office/drawing/2014/main" id="{CE8E89DC-03FC-45D2-BC97-C07BAB739BBE}"/>
              </a:ext>
            </a:extLst>
          </p:cNvPr>
          <p:cNvSpPr>
            <a:spLocks xmlns:a="http://schemas.openxmlformats.org/drawingml/2006/main" noGrp="1"/>
          </p:cNvSpPr>
          <p:nvPr/>
        </p:nvSpPr>
        <p:spPr>
          <a:xfrm xmlns:a="http://schemas.openxmlformats.org/drawingml/2006/main">
            <a:off x="685800" y="2152650"/>
            <a:ext cx="10820400" cy="0"/>
          </a:xfrm>
          <a:prstGeom xmlns:a="http://schemas.openxmlformats.org/drawingml/2006/main" prst="line">
            <a:avLst/>
          </a:prstGeom>
          <a:noFill xmlns:a="http://schemas.openxmlformats.org/drawingml/2006/main"/>
          <a:ln xmlns:a="http://schemas.openxmlformats.org/drawingml/2006/main" w="19050">
            <a:solidFill>
              <a:srgbClr val="2A3242"/>
            </a:solidFill>
            <a:prstDash val="solid"/>
          </a:ln>
        </p:spPr>
      </p:sp>
      <p:sp>
        <p:nvSpPr>
          <p:cNvPr id="4" name="">
            <a:extLst xmlns:a="http://schemas.openxmlformats.org/drawingml/2006/main">
              <a:ext uri="{FF2B5EF4-FFF2-40B4-BE49-F238E27FC236}">
                <a16:creationId xmlns:a16="http://schemas.microsoft.com/office/drawing/2014/main" id="{7EB9FC4C-799C-4D86-B5C1-3EED2D9E2265}"/>
              </a:ext>
            </a:extLst>
          </p:cNvPr>
          <p:cNvSpPr>
            <a:spLocks xmlns:a="http://schemas.openxmlformats.org/drawingml/2006/main" noGrp="1"/>
          </p:cNvSpPr>
          <p:nvPr/>
        </p:nvSpPr>
        <p:spPr>
          <a:xfrm xmlns:a="http://schemas.openxmlformats.org/drawingml/2006/main">
            <a:off x="723900" y="2628900"/>
            <a:ext cx="228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i="0">
                <a:solidFill>
                  <a:srgbClr val="9DB9FF"/>
                </a:solidFill>
              </a:defRPr>
            </a:pPr>
            <a:r>
              <a:rPr sz="1350" b="1" i="0">
                <a:solidFill>
                  <a:srgbClr val="9DB9FF"/>
                </a:solidFill>
              </a:rPr>
              <a:t>BUILDER</a:t>
            </a:r>
          </a:p>
        </p:txBody>
      </p:sp>
      <p:sp>
        <p:nvSpPr>
          <p:cNvPr id="5" name="">
            <a:extLst xmlns:a="http://schemas.openxmlformats.org/drawingml/2006/main">
              <a:ext uri="{FF2B5EF4-FFF2-40B4-BE49-F238E27FC236}">
                <a16:creationId xmlns:a16="http://schemas.microsoft.com/office/drawing/2014/main" id="{6805E337-0609-4A8C-A501-747CC37B7BF0}"/>
              </a:ext>
            </a:extLst>
          </p:cNvPr>
          <p:cNvSpPr>
            <a:spLocks xmlns:a="http://schemas.openxmlformats.org/drawingml/2006/main" noGrp="1"/>
          </p:cNvSpPr>
          <p:nvPr/>
        </p:nvSpPr>
        <p:spPr>
          <a:xfrm xmlns:a="http://schemas.openxmlformats.org/drawingml/2006/main">
            <a:off x="685800" y="3105150"/>
            <a:ext cx="4476750" cy="1390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450" b="1" i="0">
                <a:solidFill>
                  <a:srgbClr val="F7F4EC"/>
                </a:solidFill>
              </a:defRPr>
            </a:pPr>
            <a:r>
              <a:rPr sz="3450" b="1" i="0">
                <a:solidFill>
                  <a:srgbClr val="F7F4EC"/>
                </a:solidFill>
              </a:rPr>
              <a:t>AI gave us fixes</a:t>
            </a:r>
          </a:p>
          <a:p xmlns:a="http://schemas.openxmlformats.org/drawingml/2006/main">
            <a:pPr algn="l">
              <a:defRPr sz="3450" b="1" i="0">
                <a:solidFill>
                  <a:srgbClr val="F7F4EC"/>
                </a:solidFill>
              </a:defRPr>
            </a:pPr>
            <a:r>
              <a:rPr sz="3450" b="1" i="0">
                <a:solidFill>
                  <a:srgbClr val="F7F4EC"/>
                </a:solidFill>
              </a:rPr>
              <a:t>in minutes.</a:t>
            </a:r>
          </a:p>
        </p:txBody>
      </p:sp>
      <p:sp>
        <p:nvSpPr>
          <p:cNvPr id="6" name="">
            <a:extLst xmlns:a="http://schemas.openxmlformats.org/drawingml/2006/main">
              <a:ext uri="{FF2B5EF4-FFF2-40B4-BE49-F238E27FC236}">
                <a16:creationId xmlns:a16="http://schemas.microsoft.com/office/drawing/2014/main" id="{C628EC4D-58FE-4355-8FA2-832D14402856}"/>
              </a:ext>
            </a:extLst>
          </p:cNvPr>
          <p:cNvSpPr>
            <a:spLocks xmlns:a="http://schemas.openxmlformats.org/drawingml/2006/main" noGrp="1"/>
          </p:cNvSpPr>
          <p:nvPr/>
        </p:nvSpPr>
        <p:spPr>
          <a:xfrm xmlns:a="http://schemas.openxmlformats.org/drawingml/2006/main">
            <a:off x="5905500" y="2457450"/>
            <a:ext cx="38100" cy="2628900"/>
          </a:xfrm>
          <a:prstGeom xmlns:a="http://schemas.openxmlformats.org/drawingml/2006/main" prst="rect">
            <a:avLst/>
          </a:prstGeom>
          <a:solidFill xmlns:a="http://schemas.openxmlformats.org/drawingml/2006/main">
            <a:srgbClr val="FF5A5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594E88E6-689F-4FB5-BA3B-52FAF60FB475}"/>
              </a:ext>
            </a:extLst>
          </p:cNvPr>
          <p:cNvSpPr>
            <a:spLocks xmlns:a="http://schemas.openxmlformats.org/drawingml/2006/main" noGrp="1"/>
          </p:cNvSpPr>
          <p:nvPr/>
        </p:nvSpPr>
        <p:spPr>
          <a:xfrm xmlns:a="http://schemas.openxmlformats.org/drawingml/2006/main">
            <a:off x="6572250" y="2628900"/>
            <a:ext cx="228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i="0">
                <a:solidFill>
                  <a:srgbClr val="FF9A9D"/>
                </a:solidFill>
              </a:defRPr>
            </a:pPr>
            <a:r>
              <a:rPr sz="1350" b="1" i="0">
                <a:solidFill>
                  <a:srgbClr val="FF9A9D"/>
                </a:solidFill>
              </a:rPr>
              <a:t>REVIEWER</a:t>
            </a:r>
          </a:p>
        </p:txBody>
      </p:sp>
      <p:sp>
        <p:nvSpPr>
          <p:cNvPr id="8" name="">
            <a:extLst xmlns:a="http://schemas.openxmlformats.org/drawingml/2006/main">
              <a:ext uri="{FF2B5EF4-FFF2-40B4-BE49-F238E27FC236}">
                <a16:creationId xmlns:a16="http://schemas.microsoft.com/office/drawing/2014/main" id="{430BEC52-61DD-479F-A108-4B78B996CEA4}"/>
              </a:ext>
            </a:extLst>
          </p:cNvPr>
          <p:cNvSpPr>
            <a:spLocks xmlns:a="http://schemas.openxmlformats.org/drawingml/2006/main" noGrp="1"/>
          </p:cNvSpPr>
          <p:nvPr/>
        </p:nvSpPr>
        <p:spPr>
          <a:xfrm xmlns:a="http://schemas.openxmlformats.org/drawingml/2006/main">
            <a:off x="6534150" y="3105150"/>
            <a:ext cx="4857750" cy="1390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450" b="1" i="0">
                <a:solidFill>
                  <a:srgbClr val="F7F4EC"/>
                </a:solidFill>
              </a:defRPr>
            </a:pPr>
            <a:r>
              <a:rPr sz="3450" b="1" i="0">
                <a:solidFill>
                  <a:srgbClr val="F7F4EC"/>
                </a:solidFill>
              </a:rPr>
              <a:t>We still had to prove</a:t>
            </a:r>
          </a:p>
          <a:p xmlns:a="http://schemas.openxmlformats.org/drawingml/2006/main">
            <a:pPr algn="l">
              <a:defRPr sz="3450" b="1" i="0">
                <a:solidFill>
                  <a:srgbClr val="F7F4EC"/>
                </a:solidFill>
              </a:defRPr>
            </a:pPr>
            <a:r>
              <a:rPr sz="3450" b="1" i="0">
                <a:solidFill>
                  <a:srgbClr val="F7F4EC"/>
                </a:solidFill>
              </a:rPr>
              <a:t>every one.</a:t>
            </a:r>
          </a:p>
        </p:txBody>
      </p:sp>
      <p:sp>
        <p:nvSpPr>
          <p:cNvPr id="9" name="">
            <a:extLst xmlns:a="http://schemas.openxmlformats.org/drawingml/2006/main">
              <a:ext uri="{FF2B5EF4-FFF2-40B4-BE49-F238E27FC236}">
                <a16:creationId xmlns:a16="http://schemas.microsoft.com/office/drawing/2014/main" id="{30775C40-28AC-42F0-A6E3-33291F33B661}"/>
              </a:ext>
            </a:extLst>
          </p:cNvPr>
          <p:cNvSpPr>
            <a:spLocks xmlns:a="http://schemas.openxmlformats.org/drawingml/2006/main" noGrp="1"/>
          </p:cNvSpPr>
          <p:nvPr/>
        </p:nvSpPr>
        <p:spPr>
          <a:xfrm xmlns:a="http://schemas.openxmlformats.org/drawingml/2006/main">
            <a:off x="685800" y="5429250"/>
            <a:ext cx="9906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0" i="0">
                <a:solidFill>
                  <a:srgbClr val="A6ADBB"/>
                </a:solidFill>
              </a:defRPr>
            </a:pPr>
            <a:r>
              <a:rPr sz="1875" b="0" i="0">
                <a:solidFill>
                  <a:srgbClr val="A6ADBB"/>
                </a:solidFill>
              </a:rPr>
              <a:t>The faster agents wrote, the more human trust became the scarce resource.</a:t>
            </a:r>
          </a:p>
        </p:txBody>
      </p:sp>
      <p:sp>
        <p:nvSpPr>
          <p:cNvPr id="10" name="">
            <a:extLst xmlns:a="http://schemas.openxmlformats.org/drawingml/2006/main">
              <a:ext uri="{FF2B5EF4-FFF2-40B4-BE49-F238E27FC236}">
                <a16:creationId xmlns:a16="http://schemas.microsoft.com/office/drawing/2014/main" id="{A0C9CDAE-D618-4A46-96B7-DC0BACCDCA69}"/>
              </a:ext>
            </a:extLst>
          </p:cNvPr>
          <p:cNvSpPr>
            <a:spLocks xmlns:a="http://schemas.openxmlformats.org/drawingml/2006/main" noGrp="1"/>
          </p:cNvSpPr>
          <p:nvPr/>
        </p:nvSpPr>
        <p:spPr>
          <a:xfrm xmlns:a="http://schemas.openxmlformats.org/drawingml/2006/main">
            <a:off x="685800" y="6419850"/>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i="0">
                <a:solidFill>
                  <a:srgbClr val="687185"/>
                </a:solidFill>
              </a:defRPr>
            </a:pPr>
            <a:r>
              <a:rPr sz="1050" b="0" i="0">
                <a:solidFill>
                  <a:srgbClr val="687185"/>
                </a:solidFill>
              </a:rPr>
              <a:t>POPPER  ·  02</a:t>
            </a:r>
          </a:p>
        </p:txBody>
      </p:sp>
    </p:spTree>
    <p:extLst>
      <p:ext uri="{BB962C8B-B14F-4D97-AF65-F5344CB8AC3E}">
        <p14:creationId xmlns:p14="http://schemas.microsoft.com/office/powerpoint/2010/main" val="1603491839"/>
      </p:ext>
    </p:extLst>
  </p:cSld>
</p:sld>
</file>

<file path=ppt/slides/slide3.xml><?xml version="1.0" encoding="utf-8"?>
<p:sld xmlns:p="http://schemas.openxmlformats.org/presentationml/2006/main">
  <p:cSld>
    <p:bg>
      <p:bgPr>
        <a:solidFill xmlns:a="http://schemas.openxmlformats.org/drawingml/2006/main">
          <a:srgbClr val="07090D"/>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1DC7F03-E151-4B52-9728-B84D495ADB02}"/>
              </a:ext>
            </a:extLst>
          </p:cNvPr>
          <p:cNvSpPr>
            <a:spLocks xmlns:a="http://schemas.openxmlformats.org/drawingml/2006/main" noGrp="1"/>
          </p:cNvSpPr>
          <p:nvPr/>
        </p:nvSpPr>
        <p:spPr>
          <a:xfrm xmlns:a="http://schemas.openxmlformats.org/drawingml/2006/main">
            <a:off x="685800" y="495300"/>
            <a:ext cx="571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i="0">
                <a:solidFill>
                  <a:srgbClr val="67D79A"/>
                </a:solidFill>
              </a:defRPr>
            </a:pPr>
            <a:r>
              <a:rPr sz="1200" b="1" i="0">
                <a:solidFill>
                  <a:srgbClr val="67D79A"/>
                </a:solidFill>
              </a:rPr>
              <a:t>THE DANGEROUS MOMENT</a:t>
            </a:r>
          </a:p>
        </p:txBody>
      </p:sp>
      <p:sp>
        <p:nvSpPr>
          <p:cNvPr id="2" name="">
            <a:extLst xmlns:a="http://schemas.openxmlformats.org/drawingml/2006/main">
              <a:ext uri="{FF2B5EF4-FFF2-40B4-BE49-F238E27FC236}">
                <a16:creationId xmlns:a16="http://schemas.microsoft.com/office/drawing/2014/main" id="{D5336EB2-E72A-4829-8902-9A64FD19B741}"/>
              </a:ext>
            </a:extLst>
          </p:cNvPr>
          <p:cNvSpPr>
            <a:spLocks xmlns:a="http://schemas.openxmlformats.org/drawingml/2006/main" noGrp="1"/>
          </p:cNvSpPr>
          <p:nvPr/>
        </p:nvSpPr>
        <p:spPr>
          <a:xfrm xmlns:a="http://schemas.openxmlformats.org/drawingml/2006/main">
            <a:off x="685800" y="914400"/>
            <a:ext cx="7239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750" b="1" i="0">
                <a:solidFill>
                  <a:srgbClr val="F7F4EC"/>
                </a:solidFill>
              </a:defRPr>
            </a:pPr>
            <a:r>
              <a:rPr sz="3750" b="1" i="0">
                <a:solidFill>
                  <a:srgbClr val="F7F4EC"/>
                </a:solidFill>
              </a:rPr>
              <a:t>The test passed.</a:t>
            </a:r>
          </a:p>
        </p:txBody>
      </p:sp>
      <p:sp>
        <p:nvSpPr>
          <p:cNvPr id="3" name="">
            <a:extLst xmlns:a="http://schemas.openxmlformats.org/drawingml/2006/main">
              <a:ext uri="{FF2B5EF4-FFF2-40B4-BE49-F238E27FC236}">
                <a16:creationId xmlns:a16="http://schemas.microsoft.com/office/drawing/2014/main" id="{CAFB9ED9-9201-41FF-8FD3-79152398278F}"/>
              </a:ext>
            </a:extLst>
          </p:cNvPr>
          <p:cNvSpPr>
            <a:spLocks xmlns:a="http://schemas.openxmlformats.org/drawingml/2006/main" noGrp="1"/>
          </p:cNvSpPr>
          <p:nvPr/>
        </p:nvSpPr>
        <p:spPr>
          <a:xfrm xmlns:a="http://schemas.openxmlformats.org/drawingml/2006/main">
            <a:off x="4143375" y="2190750"/>
            <a:ext cx="3905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i="0">
                <a:solidFill>
                  <a:srgbClr val="A6ADBB"/>
                </a:solidFill>
              </a:defRPr>
            </a:pPr>
            <a:r>
              <a:rPr sz="1350" b="1" i="0">
                <a:solidFill>
                  <a:srgbClr val="A6ADBB"/>
                </a:solidFill>
              </a:rPr>
              <a:t>AFTER THE FIX</a:t>
            </a:r>
          </a:p>
        </p:txBody>
      </p:sp>
      <p:sp>
        <p:nvSpPr>
          <p:cNvPr id="4" name="">
            <a:extLst xmlns:a="http://schemas.openxmlformats.org/drawingml/2006/main">
              <a:ext uri="{FF2B5EF4-FFF2-40B4-BE49-F238E27FC236}">
                <a16:creationId xmlns:a16="http://schemas.microsoft.com/office/drawing/2014/main" id="{4A202789-4885-46FB-857A-55365D62DC31}"/>
              </a:ext>
            </a:extLst>
          </p:cNvPr>
          <p:cNvSpPr>
            <a:spLocks xmlns:a="http://schemas.openxmlformats.org/drawingml/2006/main" noGrp="1"/>
          </p:cNvSpPr>
          <p:nvPr/>
        </p:nvSpPr>
        <p:spPr>
          <a:xfrm xmlns:a="http://schemas.openxmlformats.org/drawingml/2006/main">
            <a:off x="4143375" y="2628900"/>
            <a:ext cx="3905250" cy="1447800"/>
          </a:xfrm>
          <a:prstGeom xmlns:a="http://schemas.openxmlformats.org/drawingml/2006/main" prst="roundRect">
            <a:avLst>
              <a:gd name="adj" fmla="val 11842"/>
            </a:avLst>
          </a:prstGeom>
          <a:solidFill xmlns:a="http://schemas.openxmlformats.org/drawingml/2006/main">
            <a:srgbClr val="141A25"/>
          </a:solidFill>
          <a:ln xmlns:a="http://schemas.openxmlformats.org/drawingml/2006/main" w="19050">
            <a:solidFill>
              <a:srgbClr val="67D79A"/>
            </a:solidFill>
            <a:prstDash val="solid"/>
          </a:ln>
        </p:spPr>
      </p:sp>
      <p:sp>
        <p:nvSpPr>
          <p:cNvPr id="5" name="">
            <a:extLst xmlns:a="http://schemas.openxmlformats.org/drawingml/2006/main">
              <a:ext uri="{FF2B5EF4-FFF2-40B4-BE49-F238E27FC236}">
                <a16:creationId xmlns:a16="http://schemas.microsoft.com/office/drawing/2014/main" id="{B1F7F271-5144-48C6-B753-89F1C9A9EAE0}"/>
              </a:ext>
            </a:extLst>
          </p:cNvPr>
          <p:cNvSpPr>
            <a:spLocks xmlns:a="http://schemas.openxmlformats.org/drawingml/2006/main" noGrp="1"/>
          </p:cNvSpPr>
          <p:nvPr/>
        </p:nvSpPr>
        <p:spPr>
          <a:xfrm xmlns:a="http://schemas.openxmlformats.org/drawingml/2006/main">
            <a:off x="4410075" y="2895600"/>
            <a:ext cx="33718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3900" b="1" i="0">
                <a:solidFill>
                  <a:srgbClr val="67D79A"/>
                </a:solidFill>
              </a:defRPr>
            </a:pPr>
            <a:r>
              <a:rPr sz="3900" b="1" i="0">
                <a:solidFill>
                  <a:srgbClr val="67D79A"/>
                </a:solidFill>
              </a:rPr>
              <a:t>PASS</a:t>
            </a:r>
          </a:p>
        </p:txBody>
      </p:sp>
      <p:sp>
        <p:nvSpPr>
          <p:cNvPr id="6" name="">
            <a:extLst xmlns:a="http://schemas.openxmlformats.org/drawingml/2006/main">
              <a:ext uri="{FF2B5EF4-FFF2-40B4-BE49-F238E27FC236}">
                <a16:creationId xmlns:a16="http://schemas.microsoft.com/office/drawing/2014/main" id="{0F35AEA9-C1E1-468E-8F04-7197EE721BD5}"/>
              </a:ext>
            </a:extLst>
          </p:cNvPr>
          <p:cNvSpPr>
            <a:spLocks xmlns:a="http://schemas.openxmlformats.org/drawingml/2006/main" noGrp="1"/>
          </p:cNvSpPr>
          <p:nvPr/>
        </p:nvSpPr>
        <p:spPr>
          <a:xfrm xmlns:a="http://schemas.openxmlformats.org/drawingml/2006/main">
            <a:off x="3143250" y="4762500"/>
            <a:ext cx="5905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625" b="0" i="0">
                <a:solidFill>
                  <a:srgbClr val="A6ADBB"/>
                </a:solidFill>
              </a:defRPr>
            </a:pPr>
            <a:r>
              <a:rPr sz="2625" b="0" i="0">
                <a:solidFill>
                  <a:srgbClr val="A6ADBB"/>
                </a:solidFill>
              </a:rPr>
              <a:t>It looked like proof.</a:t>
            </a:r>
          </a:p>
        </p:txBody>
      </p:sp>
      <p:sp>
        <p:nvSpPr>
          <p:cNvPr id="7" name="">
            <a:extLst xmlns:a="http://schemas.openxmlformats.org/drawingml/2006/main">
              <a:ext uri="{FF2B5EF4-FFF2-40B4-BE49-F238E27FC236}">
                <a16:creationId xmlns:a16="http://schemas.microsoft.com/office/drawing/2014/main" id="{BE00B8AB-C623-4576-84A3-434AB3E86CC7}"/>
              </a:ext>
            </a:extLst>
          </p:cNvPr>
          <p:cNvSpPr>
            <a:spLocks xmlns:a="http://schemas.openxmlformats.org/drawingml/2006/main" noGrp="1"/>
          </p:cNvSpPr>
          <p:nvPr/>
        </p:nvSpPr>
        <p:spPr>
          <a:xfrm xmlns:a="http://schemas.openxmlformats.org/drawingml/2006/main">
            <a:off x="685800" y="6419850"/>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i="0">
                <a:solidFill>
                  <a:srgbClr val="687185"/>
                </a:solidFill>
              </a:defRPr>
            </a:pPr>
            <a:r>
              <a:rPr sz="1050" b="0" i="0">
                <a:solidFill>
                  <a:srgbClr val="687185"/>
                </a:solidFill>
              </a:rPr>
              <a:t>POPPER  ·  03</a:t>
            </a:r>
          </a:p>
        </p:txBody>
      </p:sp>
    </p:spTree>
    <p:extLst>
      <p:ext uri="{BB962C8B-B14F-4D97-AF65-F5344CB8AC3E}">
        <p14:creationId xmlns:p14="http://schemas.microsoft.com/office/powerpoint/2010/main" val="831421050"/>
      </p:ext>
    </p:extLst>
  </p:cSld>
</p:sld>
</file>

<file path=ppt/slides/slide4.xml><?xml version="1.0" encoding="utf-8"?>
<p:sld xmlns:p="http://schemas.openxmlformats.org/presentationml/2006/main">
  <p:cSld>
    <p:bg>
      <p:bgPr>
        <a:solidFill xmlns:a="http://schemas.openxmlformats.org/drawingml/2006/main">
          <a:srgbClr val="07090D"/>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5013F75-2C6B-48EC-9C66-5AD98AD0B31C}"/>
              </a:ext>
            </a:extLst>
          </p:cNvPr>
          <p:cNvSpPr>
            <a:spLocks xmlns:a="http://schemas.openxmlformats.org/drawingml/2006/main" noGrp="1"/>
          </p:cNvSpPr>
          <p:nvPr/>
        </p:nvSpPr>
        <p:spPr>
          <a:xfrm xmlns:a="http://schemas.openxmlformats.org/drawingml/2006/main">
            <a:off x="685800" y="495300"/>
            <a:ext cx="571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i="0">
                <a:solidFill>
                  <a:srgbClr val="FF5A5F"/>
                </a:solidFill>
              </a:defRPr>
            </a:pPr>
            <a:r>
              <a:rPr sz="1200" b="1" i="0">
                <a:solidFill>
                  <a:srgbClr val="FF5A5F"/>
                </a:solidFill>
              </a:rPr>
              <a:t>THE DANGEROUS MOMENT</a:t>
            </a:r>
          </a:p>
        </p:txBody>
      </p:sp>
      <p:sp>
        <p:nvSpPr>
          <p:cNvPr id="2" name="">
            <a:extLst xmlns:a="http://schemas.openxmlformats.org/drawingml/2006/main">
              <a:ext uri="{FF2B5EF4-FFF2-40B4-BE49-F238E27FC236}">
                <a16:creationId xmlns:a16="http://schemas.microsoft.com/office/drawing/2014/main" id="{3D6DE09F-3A25-4557-9155-8D6819B887A9}"/>
              </a:ext>
            </a:extLst>
          </p:cNvPr>
          <p:cNvSpPr>
            <a:spLocks xmlns:a="http://schemas.openxmlformats.org/drawingml/2006/main" noGrp="1"/>
          </p:cNvSpPr>
          <p:nvPr/>
        </p:nvSpPr>
        <p:spPr>
          <a:xfrm xmlns:a="http://schemas.openxmlformats.org/drawingml/2006/main">
            <a:off x="685800" y="914400"/>
            <a:ext cx="9525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750" b="1" i="0">
                <a:solidFill>
                  <a:srgbClr val="F7F4EC"/>
                </a:solidFill>
              </a:defRPr>
            </a:pPr>
            <a:r>
              <a:rPr sz="3750" b="1" i="0">
                <a:solidFill>
                  <a:srgbClr val="F7F4EC"/>
                </a:solidFill>
              </a:rPr>
              <a:t>Then we ran it before the fix.</a:t>
            </a:r>
          </a:p>
        </p:txBody>
      </p:sp>
      <p:sp>
        <p:nvSpPr>
          <p:cNvPr id="3" name="">
            <a:extLst xmlns:a="http://schemas.openxmlformats.org/drawingml/2006/main">
              <a:ext uri="{FF2B5EF4-FFF2-40B4-BE49-F238E27FC236}">
                <a16:creationId xmlns:a16="http://schemas.microsoft.com/office/drawing/2014/main" id="{839779ED-A6A7-4813-A492-3EF39150989D}"/>
              </a:ext>
            </a:extLst>
          </p:cNvPr>
          <p:cNvSpPr>
            <a:spLocks xmlns:a="http://schemas.openxmlformats.org/drawingml/2006/main" noGrp="1"/>
          </p:cNvSpPr>
          <p:nvPr/>
        </p:nvSpPr>
        <p:spPr>
          <a:xfrm xmlns:a="http://schemas.openxmlformats.org/drawingml/2006/main">
            <a:off x="1666875" y="2190750"/>
            <a:ext cx="3905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i="0">
                <a:solidFill>
                  <a:srgbClr val="A6ADBB"/>
                </a:solidFill>
              </a:defRPr>
            </a:pPr>
            <a:r>
              <a:rPr sz="1350" b="1" i="0">
                <a:solidFill>
                  <a:srgbClr val="A6ADBB"/>
                </a:solidFill>
              </a:rPr>
              <a:t>BEFORE THE FIX</a:t>
            </a:r>
          </a:p>
        </p:txBody>
      </p:sp>
      <p:sp>
        <p:nvSpPr>
          <p:cNvPr id="4" name="">
            <a:extLst xmlns:a="http://schemas.openxmlformats.org/drawingml/2006/main">
              <a:ext uri="{FF2B5EF4-FFF2-40B4-BE49-F238E27FC236}">
                <a16:creationId xmlns:a16="http://schemas.microsoft.com/office/drawing/2014/main" id="{1DACE197-74F9-458D-B5A1-CEADDF6D48E4}"/>
              </a:ext>
            </a:extLst>
          </p:cNvPr>
          <p:cNvSpPr>
            <a:spLocks xmlns:a="http://schemas.openxmlformats.org/drawingml/2006/main" noGrp="1"/>
          </p:cNvSpPr>
          <p:nvPr/>
        </p:nvSpPr>
        <p:spPr>
          <a:xfrm xmlns:a="http://schemas.openxmlformats.org/drawingml/2006/main">
            <a:off x="1666875" y="2628900"/>
            <a:ext cx="3905250" cy="1447800"/>
          </a:xfrm>
          <a:prstGeom xmlns:a="http://schemas.openxmlformats.org/drawingml/2006/main" prst="roundRect">
            <a:avLst>
              <a:gd name="adj" fmla="val 11842"/>
            </a:avLst>
          </a:prstGeom>
          <a:solidFill xmlns:a="http://schemas.openxmlformats.org/drawingml/2006/main">
            <a:srgbClr val="141A25"/>
          </a:solidFill>
          <a:ln xmlns:a="http://schemas.openxmlformats.org/drawingml/2006/main" w="19050">
            <a:solidFill>
              <a:srgbClr val="FF5A5F"/>
            </a:solidFill>
            <a:prstDash val="solid"/>
          </a:ln>
        </p:spPr>
      </p:sp>
      <p:sp>
        <p:nvSpPr>
          <p:cNvPr id="5" name="">
            <a:extLst xmlns:a="http://schemas.openxmlformats.org/drawingml/2006/main">
              <a:ext uri="{FF2B5EF4-FFF2-40B4-BE49-F238E27FC236}">
                <a16:creationId xmlns:a16="http://schemas.microsoft.com/office/drawing/2014/main" id="{D45DA8FC-1DAE-4D0B-ABD3-B52EDDD46A10}"/>
              </a:ext>
            </a:extLst>
          </p:cNvPr>
          <p:cNvSpPr>
            <a:spLocks xmlns:a="http://schemas.openxmlformats.org/drawingml/2006/main" noGrp="1"/>
          </p:cNvSpPr>
          <p:nvPr/>
        </p:nvSpPr>
        <p:spPr>
          <a:xfrm xmlns:a="http://schemas.openxmlformats.org/drawingml/2006/main">
            <a:off x="1933575" y="2895600"/>
            <a:ext cx="33718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3900" b="1" i="0">
                <a:solidFill>
                  <a:srgbClr val="67D79A"/>
                </a:solidFill>
              </a:defRPr>
            </a:pPr>
            <a:r>
              <a:rPr sz="3900" b="1" i="0">
                <a:solidFill>
                  <a:srgbClr val="67D79A"/>
                </a:solidFill>
              </a:rPr>
              <a:t>PASS</a:t>
            </a:r>
          </a:p>
        </p:txBody>
      </p:sp>
      <p:sp>
        <p:nvSpPr>
          <p:cNvPr id="6" name="">
            <a:extLst xmlns:a="http://schemas.openxmlformats.org/drawingml/2006/main">
              <a:ext uri="{FF2B5EF4-FFF2-40B4-BE49-F238E27FC236}">
                <a16:creationId xmlns:a16="http://schemas.microsoft.com/office/drawing/2014/main" id="{83A3327B-CA4D-4BCA-8D1D-F77AA0D64C5A}"/>
              </a:ext>
            </a:extLst>
          </p:cNvPr>
          <p:cNvSpPr>
            <a:spLocks xmlns:a="http://schemas.openxmlformats.org/drawingml/2006/main" noGrp="1"/>
          </p:cNvSpPr>
          <p:nvPr/>
        </p:nvSpPr>
        <p:spPr>
          <a:xfrm xmlns:a="http://schemas.openxmlformats.org/drawingml/2006/main">
            <a:off x="6619875" y="2190750"/>
            <a:ext cx="3905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i="0">
                <a:solidFill>
                  <a:srgbClr val="A6ADBB"/>
                </a:solidFill>
              </a:defRPr>
            </a:pPr>
            <a:r>
              <a:rPr sz="1350" b="1" i="0">
                <a:solidFill>
                  <a:srgbClr val="A6ADBB"/>
                </a:solidFill>
              </a:rPr>
              <a:t>AFTER THE FIX</a:t>
            </a:r>
          </a:p>
        </p:txBody>
      </p:sp>
      <p:sp>
        <p:nvSpPr>
          <p:cNvPr id="7" name="">
            <a:extLst xmlns:a="http://schemas.openxmlformats.org/drawingml/2006/main">
              <a:ext uri="{FF2B5EF4-FFF2-40B4-BE49-F238E27FC236}">
                <a16:creationId xmlns:a16="http://schemas.microsoft.com/office/drawing/2014/main" id="{F3EEB975-612D-4917-B4E0-935B5BBB16BD}"/>
              </a:ext>
            </a:extLst>
          </p:cNvPr>
          <p:cNvSpPr>
            <a:spLocks xmlns:a="http://schemas.openxmlformats.org/drawingml/2006/main" noGrp="1"/>
          </p:cNvSpPr>
          <p:nvPr/>
        </p:nvSpPr>
        <p:spPr>
          <a:xfrm xmlns:a="http://schemas.openxmlformats.org/drawingml/2006/main">
            <a:off x="6619875" y="2628900"/>
            <a:ext cx="3905250" cy="1447800"/>
          </a:xfrm>
          <a:prstGeom xmlns:a="http://schemas.openxmlformats.org/drawingml/2006/main" prst="roundRect">
            <a:avLst>
              <a:gd name="adj" fmla="val 11842"/>
            </a:avLst>
          </a:prstGeom>
          <a:solidFill xmlns:a="http://schemas.openxmlformats.org/drawingml/2006/main">
            <a:srgbClr val="141A25"/>
          </a:solidFill>
          <a:ln xmlns:a="http://schemas.openxmlformats.org/drawingml/2006/main" w="19050">
            <a:solidFill>
              <a:srgbClr val="67D79A"/>
            </a:solidFill>
            <a:prstDash val="solid"/>
          </a:ln>
        </p:spPr>
      </p:sp>
      <p:sp>
        <p:nvSpPr>
          <p:cNvPr id="8" name="">
            <a:extLst xmlns:a="http://schemas.openxmlformats.org/drawingml/2006/main">
              <a:ext uri="{FF2B5EF4-FFF2-40B4-BE49-F238E27FC236}">
                <a16:creationId xmlns:a16="http://schemas.microsoft.com/office/drawing/2014/main" id="{7BD60490-2690-4B12-A1CF-A834E7D7B81E}"/>
              </a:ext>
            </a:extLst>
          </p:cNvPr>
          <p:cNvSpPr>
            <a:spLocks xmlns:a="http://schemas.openxmlformats.org/drawingml/2006/main" noGrp="1"/>
          </p:cNvSpPr>
          <p:nvPr/>
        </p:nvSpPr>
        <p:spPr>
          <a:xfrm xmlns:a="http://schemas.openxmlformats.org/drawingml/2006/main">
            <a:off x="6886575" y="2895600"/>
            <a:ext cx="33718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3900" b="1" i="0">
                <a:solidFill>
                  <a:srgbClr val="67D79A"/>
                </a:solidFill>
              </a:defRPr>
            </a:pPr>
            <a:r>
              <a:rPr sz="3900" b="1" i="0">
                <a:solidFill>
                  <a:srgbClr val="67D79A"/>
                </a:solidFill>
              </a:rPr>
              <a:t>PASS</a:t>
            </a:r>
          </a:p>
        </p:txBody>
      </p:sp>
      <p:sp>
        <p:nvSpPr>
          <p:cNvPr id="9" name="">
            <a:extLst xmlns:a="http://schemas.openxmlformats.org/drawingml/2006/main">
              <a:ext uri="{FF2B5EF4-FFF2-40B4-BE49-F238E27FC236}">
                <a16:creationId xmlns:a16="http://schemas.microsoft.com/office/drawing/2014/main" id="{03E98653-D63E-45F9-B74A-87DAAD65EA1E}"/>
              </a:ext>
            </a:extLst>
          </p:cNvPr>
          <p:cNvSpPr>
            <a:spLocks xmlns:a="http://schemas.openxmlformats.org/drawingml/2006/main" noGrp="1"/>
          </p:cNvSpPr>
          <p:nvPr/>
        </p:nvSpPr>
        <p:spPr>
          <a:xfrm xmlns:a="http://schemas.openxmlformats.org/drawingml/2006/main">
            <a:off x="2381250" y="4762500"/>
            <a:ext cx="7429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850" b="1" i="0">
                <a:solidFill>
                  <a:srgbClr val="FF5A5F"/>
                </a:solidFill>
              </a:defRPr>
            </a:pPr>
            <a:r>
              <a:rPr sz="2850" b="1" i="0">
                <a:solidFill>
                  <a:srgbClr val="FF5A5F"/>
                </a:solidFill>
              </a:rPr>
              <a:t>The test never caught the bug.</a:t>
            </a:r>
          </a:p>
        </p:txBody>
      </p:sp>
      <p:sp>
        <p:nvSpPr>
          <p:cNvPr id="10" name="">
            <a:extLst xmlns:a="http://schemas.openxmlformats.org/drawingml/2006/main">
              <a:ext uri="{FF2B5EF4-FFF2-40B4-BE49-F238E27FC236}">
                <a16:creationId xmlns:a16="http://schemas.microsoft.com/office/drawing/2014/main" id="{338AB864-0BB9-4A29-98F8-526415A739F5}"/>
              </a:ext>
            </a:extLst>
          </p:cNvPr>
          <p:cNvSpPr>
            <a:spLocks xmlns:a="http://schemas.openxmlformats.org/drawingml/2006/main" noGrp="1"/>
          </p:cNvSpPr>
          <p:nvPr/>
        </p:nvSpPr>
        <p:spPr>
          <a:xfrm xmlns:a="http://schemas.openxmlformats.org/drawingml/2006/main">
            <a:off x="685800" y="6419850"/>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i="0">
                <a:solidFill>
                  <a:srgbClr val="687185"/>
                </a:solidFill>
              </a:defRPr>
            </a:pPr>
            <a:r>
              <a:rPr sz="1050" b="0" i="0">
                <a:solidFill>
                  <a:srgbClr val="687185"/>
                </a:solidFill>
              </a:rPr>
              <a:t>POPPER  ·  04</a:t>
            </a:r>
          </a:p>
        </p:txBody>
      </p:sp>
    </p:spTree>
    <p:extLst>
      <p:ext uri="{BB962C8B-B14F-4D97-AF65-F5344CB8AC3E}">
        <p14:creationId xmlns:p14="http://schemas.microsoft.com/office/powerpoint/2010/main" val="1908620606"/>
      </p:ext>
    </p:extLst>
  </p:cSld>
</p:sld>
</file>

<file path=ppt/slides/slide5.xml><?xml version="1.0" encoding="utf-8"?>
<p:sld xmlns:p="http://schemas.openxmlformats.org/presentationml/2006/main">
  <p:cSld>
    <p:bg>
      <p:bgPr>
        <a:solidFill xmlns:a="http://schemas.openxmlformats.org/drawingml/2006/main">
          <a:srgbClr val="07090D"/>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5C77F3AF-3A40-408A-B1B5-F87CA2C1CED3}"/>
              </a:ext>
            </a:extLst>
          </p:cNvPr>
          <p:cNvSpPr>
            <a:spLocks xmlns:a="http://schemas.openxmlformats.org/drawingml/2006/main" noGrp="1"/>
          </p:cNvSpPr>
          <p:nvPr/>
        </p:nvSpPr>
        <p:spPr>
          <a:xfrm xmlns:a="http://schemas.openxmlformats.org/drawingml/2006/main">
            <a:off x="685800" y="495300"/>
            <a:ext cx="571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i="0">
                <a:solidFill>
                  <a:srgbClr val="9DB9FF"/>
                </a:solidFill>
              </a:defRPr>
            </a:pPr>
            <a:r>
              <a:rPr sz="1200" b="1" i="0">
                <a:solidFill>
                  <a:srgbClr val="9DB9FF"/>
                </a:solidFill>
              </a:rPr>
              <a:t>POPPER'S RULE</a:t>
            </a:r>
          </a:p>
        </p:txBody>
      </p:sp>
      <p:sp>
        <p:nvSpPr>
          <p:cNvPr id="2" name="">
            <a:extLst xmlns:a="http://schemas.openxmlformats.org/drawingml/2006/main">
              <a:ext uri="{FF2B5EF4-FFF2-40B4-BE49-F238E27FC236}">
                <a16:creationId xmlns:a16="http://schemas.microsoft.com/office/drawing/2014/main" id="{07F7B5FF-4547-4C66-83F9-2C3BE0DFF33A}"/>
              </a:ext>
            </a:extLst>
          </p:cNvPr>
          <p:cNvSpPr>
            <a:spLocks xmlns:a="http://schemas.openxmlformats.org/drawingml/2006/main" noGrp="1"/>
          </p:cNvSpPr>
          <p:nvPr/>
        </p:nvSpPr>
        <p:spPr>
          <a:xfrm xmlns:a="http://schemas.openxmlformats.org/drawingml/2006/main">
            <a:off x="685800" y="914400"/>
            <a:ext cx="8953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750" b="1" i="0">
                <a:solidFill>
                  <a:srgbClr val="F7F4EC"/>
                </a:solidFill>
              </a:defRPr>
            </a:pPr>
            <a:r>
              <a:rPr sz="3750" b="1" i="0">
                <a:solidFill>
                  <a:srgbClr val="F7F4EC"/>
                </a:solidFill>
              </a:rPr>
              <a:t>Useful evidence has a shape.</a:t>
            </a:r>
          </a:p>
        </p:txBody>
      </p:sp>
      <p:sp>
        <p:nvSpPr>
          <p:cNvPr id="3" name="">
            <a:extLst xmlns:a="http://schemas.openxmlformats.org/drawingml/2006/main">
              <a:ext uri="{FF2B5EF4-FFF2-40B4-BE49-F238E27FC236}">
                <a16:creationId xmlns:a16="http://schemas.microsoft.com/office/drawing/2014/main" id="{F3066010-84D7-4E5C-8535-3C9003FD8B34}"/>
              </a:ext>
            </a:extLst>
          </p:cNvPr>
          <p:cNvSpPr>
            <a:spLocks xmlns:a="http://schemas.openxmlformats.org/drawingml/2006/main" noGrp="1"/>
          </p:cNvSpPr>
          <p:nvPr/>
        </p:nvSpPr>
        <p:spPr>
          <a:xfrm xmlns:a="http://schemas.openxmlformats.org/drawingml/2006/main">
            <a:off x="1666875" y="2190750"/>
            <a:ext cx="3905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i="0">
                <a:solidFill>
                  <a:srgbClr val="A6ADBB"/>
                </a:solidFill>
              </a:defRPr>
            </a:pPr>
            <a:r>
              <a:rPr sz="1350" b="1" i="0">
                <a:solidFill>
                  <a:srgbClr val="A6ADBB"/>
                </a:solidFill>
              </a:rPr>
              <a:t>BEFORE THE FIX</a:t>
            </a:r>
          </a:p>
        </p:txBody>
      </p:sp>
      <p:sp>
        <p:nvSpPr>
          <p:cNvPr id="4" name="">
            <a:extLst xmlns:a="http://schemas.openxmlformats.org/drawingml/2006/main">
              <a:ext uri="{FF2B5EF4-FFF2-40B4-BE49-F238E27FC236}">
                <a16:creationId xmlns:a16="http://schemas.microsoft.com/office/drawing/2014/main" id="{08C33387-7C79-40F1-A765-70EC14565429}"/>
              </a:ext>
            </a:extLst>
          </p:cNvPr>
          <p:cNvSpPr>
            <a:spLocks xmlns:a="http://schemas.openxmlformats.org/drawingml/2006/main" noGrp="1"/>
          </p:cNvSpPr>
          <p:nvPr/>
        </p:nvSpPr>
        <p:spPr>
          <a:xfrm xmlns:a="http://schemas.openxmlformats.org/drawingml/2006/main">
            <a:off x="1666875" y="2628900"/>
            <a:ext cx="3905250" cy="1447800"/>
          </a:xfrm>
          <a:prstGeom xmlns:a="http://schemas.openxmlformats.org/drawingml/2006/main" prst="roundRect">
            <a:avLst>
              <a:gd name="adj" fmla="val 11842"/>
            </a:avLst>
          </a:prstGeom>
          <a:solidFill xmlns:a="http://schemas.openxmlformats.org/drawingml/2006/main">
            <a:srgbClr val="141A25"/>
          </a:solidFill>
          <a:ln xmlns:a="http://schemas.openxmlformats.org/drawingml/2006/main" w="19050">
            <a:solidFill>
              <a:srgbClr val="FF5A5F"/>
            </a:solidFill>
            <a:prstDash val="solid"/>
          </a:ln>
        </p:spPr>
      </p:sp>
      <p:sp>
        <p:nvSpPr>
          <p:cNvPr id="5" name="">
            <a:extLst xmlns:a="http://schemas.openxmlformats.org/drawingml/2006/main">
              <a:ext uri="{FF2B5EF4-FFF2-40B4-BE49-F238E27FC236}">
                <a16:creationId xmlns:a16="http://schemas.microsoft.com/office/drawing/2014/main" id="{AAD699DA-8C3D-417D-A705-B7486ACDFE0B}"/>
              </a:ext>
            </a:extLst>
          </p:cNvPr>
          <p:cNvSpPr>
            <a:spLocks xmlns:a="http://schemas.openxmlformats.org/drawingml/2006/main" noGrp="1"/>
          </p:cNvSpPr>
          <p:nvPr/>
        </p:nvSpPr>
        <p:spPr>
          <a:xfrm xmlns:a="http://schemas.openxmlformats.org/drawingml/2006/main">
            <a:off x="1933575" y="2895600"/>
            <a:ext cx="33718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3900" b="1" i="0">
                <a:solidFill>
                  <a:srgbClr val="FF5A5F"/>
                </a:solidFill>
              </a:defRPr>
            </a:pPr>
            <a:r>
              <a:rPr sz="3900" b="1" i="0">
                <a:solidFill>
                  <a:srgbClr val="FF5A5F"/>
                </a:solidFill>
              </a:rPr>
              <a:t>FAIL</a:t>
            </a:r>
          </a:p>
        </p:txBody>
      </p:sp>
      <p:sp>
        <p:nvSpPr>
          <p:cNvPr id="6" name="">
            <a:extLst xmlns:a="http://schemas.openxmlformats.org/drawingml/2006/main">
              <a:ext uri="{FF2B5EF4-FFF2-40B4-BE49-F238E27FC236}">
                <a16:creationId xmlns:a16="http://schemas.microsoft.com/office/drawing/2014/main" id="{A4363AE0-0837-4E7F-82F6-5713D5B17FD2}"/>
              </a:ext>
            </a:extLst>
          </p:cNvPr>
          <p:cNvSpPr>
            <a:spLocks xmlns:a="http://schemas.openxmlformats.org/drawingml/2006/main" noGrp="1"/>
          </p:cNvSpPr>
          <p:nvPr/>
        </p:nvSpPr>
        <p:spPr>
          <a:xfrm xmlns:a="http://schemas.openxmlformats.org/drawingml/2006/main">
            <a:off x="6619875" y="2190750"/>
            <a:ext cx="3905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i="0">
                <a:solidFill>
                  <a:srgbClr val="A6ADBB"/>
                </a:solidFill>
              </a:defRPr>
            </a:pPr>
            <a:r>
              <a:rPr sz="1350" b="1" i="0">
                <a:solidFill>
                  <a:srgbClr val="A6ADBB"/>
                </a:solidFill>
              </a:rPr>
              <a:t>AFTER THE FIX</a:t>
            </a:r>
          </a:p>
        </p:txBody>
      </p:sp>
      <p:sp>
        <p:nvSpPr>
          <p:cNvPr id="7" name="">
            <a:extLst xmlns:a="http://schemas.openxmlformats.org/drawingml/2006/main">
              <a:ext uri="{FF2B5EF4-FFF2-40B4-BE49-F238E27FC236}">
                <a16:creationId xmlns:a16="http://schemas.microsoft.com/office/drawing/2014/main" id="{2AC8ACCC-2C96-4AAE-9CCA-FC71AF9F5035}"/>
              </a:ext>
            </a:extLst>
          </p:cNvPr>
          <p:cNvSpPr>
            <a:spLocks xmlns:a="http://schemas.openxmlformats.org/drawingml/2006/main" noGrp="1"/>
          </p:cNvSpPr>
          <p:nvPr/>
        </p:nvSpPr>
        <p:spPr>
          <a:xfrm xmlns:a="http://schemas.openxmlformats.org/drawingml/2006/main">
            <a:off x="6619875" y="2628900"/>
            <a:ext cx="3905250" cy="1447800"/>
          </a:xfrm>
          <a:prstGeom xmlns:a="http://schemas.openxmlformats.org/drawingml/2006/main" prst="roundRect">
            <a:avLst>
              <a:gd name="adj" fmla="val 11842"/>
            </a:avLst>
          </a:prstGeom>
          <a:solidFill xmlns:a="http://schemas.openxmlformats.org/drawingml/2006/main">
            <a:srgbClr val="141A25"/>
          </a:solidFill>
          <a:ln xmlns:a="http://schemas.openxmlformats.org/drawingml/2006/main" w="19050">
            <a:solidFill>
              <a:srgbClr val="2864FF"/>
            </a:solidFill>
            <a:prstDash val="solid"/>
          </a:ln>
        </p:spPr>
      </p:sp>
      <p:sp>
        <p:nvSpPr>
          <p:cNvPr id="8" name="">
            <a:extLst xmlns:a="http://schemas.openxmlformats.org/drawingml/2006/main">
              <a:ext uri="{FF2B5EF4-FFF2-40B4-BE49-F238E27FC236}">
                <a16:creationId xmlns:a16="http://schemas.microsoft.com/office/drawing/2014/main" id="{4535FBB2-6FC5-4F74-A165-4D8B688B9F5C}"/>
              </a:ext>
            </a:extLst>
          </p:cNvPr>
          <p:cNvSpPr>
            <a:spLocks xmlns:a="http://schemas.openxmlformats.org/drawingml/2006/main" noGrp="1"/>
          </p:cNvSpPr>
          <p:nvPr/>
        </p:nvSpPr>
        <p:spPr>
          <a:xfrm xmlns:a="http://schemas.openxmlformats.org/drawingml/2006/main">
            <a:off x="6886575" y="2895600"/>
            <a:ext cx="33718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3900" b="1" i="0">
                <a:solidFill>
                  <a:srgbClr val="67D79A"/>
                </a:solidFill>
              </a:defRPr>
            </a:pPr>
            <a:r>
              <a:rPr sz="3900" b="1" i="0">
                <a:solidFill>
                  <a:srgbClr val="67D79A"/>
                </a:solidFill>
              </a:rPr>
              <a:t>PASS</a:t>
            </a:r>
          </a:p>
        </p:txBody>
      </p:sp>
      <p:sp>
        <p:nvSpPr>
          <p:cNvPr id="9" name="">
            <a:extLst xmlns:a="http://schemas.openxmlformats.org/drawingml/2006/main">
              <a:ext uri="{FF2B5EF4-FFF2-40B4-BE49-F238E27FC236}">
                <a16:creationId xmlns:a16="http://schemas.microsoft.com/office/drawing/2014/main" id="{A3BEB9EB-6D93-4449-9F62-7C9A5FC46E4F}"/>
              </a:ext>
            </a:extLst>
          </p:cNvPr>
          <p:cNvSpPr>
            <a:spLocks xmlns:a="http://schemas.openxmlformats.org/drawingml/2006/main" noGrp="1"/>
          </p:cNvSpPr>
          <p:nvPr/>
        </p:nvSpPr>
        <p:spPr>
          <a:xfrm xmlns:a="http://schemas.openxmlformats.org/drawingml/2006/main">
            <a:off x="5819775" y="3105150"/>
            <a:ext cx="5524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3300" b="1" i="0">
                <a:solidFill>
                  <a:srgbClr val="F7F4EC"/>
                </a:solidFill>
              </a:defRPr>
            </a:pPr>
            <a:r>
              <a:rPr sz="3300" b="1" i="0">
                <a:solidFill>
                  <a:srgbClr val="F7F4EC"/>
                </a:solidFill>
              </a:rPr>
              <a:t>+</a:t>
            </a:r>
          </a:p>
        </p:txBody>
      </p:sp>
      <p:sp>
        <p:nvSpPr>
          <p:cNvPr id="10" name="">
            <a:extLst xmlns:a="http://schemas.openxmlformats.org/drawingml/2006/main">
              <a:ext uri="{FF2B5EF4-FFF2-40B4-BE49-F238E27FC236}">
                <a16:creationId xmlns:a16="http://schemas.microsoft.com/office/drawing/2014/main" id="{92C821B5-4FAE-4428-A367-83EDF1533DC6}"/>
              </a:ext>
            </a:extLst>
          </p:cNvPr>
          <p:cNvSpPr>
            <a:spLocks xmlns:a="http://schemas.openxmlformats.org/drawingml/2006/main" noGrp="1"/>
          </p:cNvSpPr>
          <p:nvPr/>
        </p:nvSpPr>
        <p:spPr>
          <a:xfrm xmlns:a="http://schemas.openxmlformats.org/drawingml/2006/main">
            <a:off x="2381250" y="4895850"/>
            <a:ext cx="7429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025" b="1" i="0">
                <a:solidFill>
                  <a:srgbClr val="F7F4EC"/>
                </a:solidFill>
              </a:defRPr>
            </a:pPr>
            <a:r>
              <a:rPr sz="2025" b="1" i="0">
                <a:solidFill>
                  <a:srgbClr val="F7F4EC"/>
                </a:solidFill>
              </a:rPr>
              <a:t>FAIL BEFORE  +  PASS AFTER  =  EVIDENCE</a:t>
            </a:r>
          </a:p>
        </p:txBody>
      </p:sp>
      <p:sp>
        <p:nvSpPr>
          <p:cNvPr id="11" name="">
            <a:extLst xmlns:a="http://schemas.openxmlformats.org/drawingml/2006/main">
              <a:ext uri="{FF2B5EF4-FFF2-40B4-BE49-F238E27FC236}">
                <a16:creationId xmlns:a16="http://schemas.microsoft.com/office/drawing/2014/main" id="{30AED4BB-AAE7-4E2C-A3AD-5C6CEFF7A06B}"/>
              </a:ext>
            </a:extLst>
          </p:cNvPr>
          <p:cNvSpPr>
            <a:spLocks xmlns:a="http://schemas.openxmlformats.org/drawingml/2006/main" noGrp="1"/>
          </p:cNvSpPr>
          <p:nvPr/>
        </p:nvSpPr>
        <p:spPr>
          <a:xfrm xmlns:a="http://schemas.openxmlformats.org/drawingml/2006/main">
            <a:off x="2476500" y="5543550"/>
            <a:ext cx="7239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725" b="0" i="0">
                <a:solidFill>
                  <a:srgbClr val="A6ADBB"/>
                </a:solidFill>
              </a:defRPr>
            </a:pPr>
            <a:r>
              <a:rPr sz="1725" b="0" i="0">
                <a:solidFill>
                  <a:srgbClr val="A6ADBB"/>
                </a:solidFill>
              </a:rPr>
              <a:t>The test must prove it could detect the original failure.</a:t>
            </a:r>
          </a:p>
        </p:txBody>
      </p:sp>
      <p:sp>
        <p:nvSpPr>
          <p:cNvPr id="12" name="">
            <a:extLst xmlns:a="http://schemas.openxmlformats.org/drawingml/2006/main">
              <a:ext uri="{FF2B5EF4-FFF2-40B4-BE49-F238E27FC236}">
                <a16:creationId xmlns:a16="http://schemas.microsoft.com/office/drawing/2014/main" id="{392846F2-B79D-4A46-ACF5-E2BF2DFF9844}"/>
              </a:ext>
            </a:extLst>
          </p:cNvPr>
          <p:cNvSpPr>
            <a:spLocks xmlns:a="http://schemas.openxmlformats.org/drawingml/2006/main" noGrp="1"/>
          </p:cNvSpPr>
          <p:nvPr/>
        </p:nvSpPr>
        <p:spPr>
          <a:xfrm xmlns:a="http://schemas.openxmlformats.org/drawingml/2006/main">
            <a:off x="685800" y="6419850"/>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i="0">
                <a:solidFill>
                  <a:srgbClr val="687185"/>
                </a:solidFill>
              </a:defRPr>
            </a:pPr>
            <a:r>
              <a:rPr sz="1050" b="0" i="0">
                <a:solidFill>
                  <a:srgbClr val="687185"/>
                </a:solidFill>
              </a:rPr>
              <a:t>POPPER  ·  05</a:t>
            </a:r>
          </a:p>
        </p:txBody>
      </p:sp>
    </p:spTree>
    <p:extLst>
      <p:ext uri="{BB962C8B-B14F-4D97-AF65-F5344CB8AC3E}">
        <p14:creationId xmlns:p14="http://schemas.microsoft.com/office/powerpoint/2010/main" val="924807150"/>
      </p:ext>
    </p:extLst>
  </p:cSld>
</p:sld>
</file>

<file path=ppt/slides/slide6.xml><?xml version="1.0" encoding="utf-8"?>
<p:sld xmlns:p="http://schemas.openxmlformats.org/presentationml/2006/main">
  <p:cSld>
    <p:bg>
      <p:bgPr>
        <a:solidFill xmlns:a="http://schemas.openxmlformats.org/drawingml/2006/main">
          <a:srgbClr val="07090D"/>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CF18BBBC-BCEC-47EC-901E-F09AF6960FEC}"/>
              </a:ext>
            </a:extLst>
          </p:cNvPr>
          <p:cNvSpPr>
            <a:spLocks xmlns:a="http://schemas.openxmlformats.org/drawingml/2006/main" noGrp="1"/>
          </p:cNvSpPr>
          <p:nvPr/>
        </p:nvSpPr>
        <p:spPr>
          <a:xfrm xmlns:a="http://schemas.openxmlformats.org/drawingml/2006/main">
            <a:off x="685800" y="495300"/>
            <a:ext cx="571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i="0">
                <a:solidFill>
                  <a:srgbClr val="9DB9FF"/>
                </a:solidFill>
              </a:defRPr>
            </a:pPr>
            <a:r>
              <a:rPr sz="1200" b="1" i="0">
                <a:solidFill>
                  <a:srgbClr val="9DB9FF"/>
                </a:solidFill>
              </a:rPr>
              <a:t>HOW IT WORKS</a:t>
            </a:r>
          </a:p>
        </p:txBody>
      </p:sp>
      <p:sp>
        <p:nvSpPr>
          <p:cNvPr id="2" name="">
            <a:extLst xmlns:a="http://schemas.openxmlformats.org/drawingml/2006/main">
              <a:ext uri="{FF2B5EF4-FFF2-40B4-BE49-F238E27FC236}">
                <a16:creationId xmlns:a16="http://schemas.microsoft.com/office/drawing/2014/main" id="{1B9860C5-1043-482C-BBED-EE1633BE1B3A}"/>
              </a:ext>
            </a:extLst>
          </p:cNvPr>
          <p:cNvSpPr>
            <a:spLocks xmlns:a="http://schemas.openxmlformats.org/drawingml/2006/main" noGrp="1"/>
          </p:cNvSpPr>
          <p:nvPr/>
        </p:nvSpPr>
        <p:spPr>
          <a:xfrm xmlns:a="http://schemas.openxmlformats.org/drawingml/2006/main">
            <a:off x="685800" y="895350"/>
            <a:ext cx="9715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750" b="1" i="0">
                <a:solidFill>
                  <a:srgbClr val="F7F4EC"/>
                </a:solidFill>
              </a:defRPr>
            </a:pPr>
            <a:r>
              <a:rPr sz="3750" b="1" i="0">
                <a:solidFill>
                  <a:srgbClr val="F7F4EC"/>
                </a:solidFill>
              </a:rPr>
              <a:t>Every claim has to fight for entry.</a:t>
            </a:r>
          </a:p>
        </p:txBody>
      </p:sp>
      <p:sp>
        <p:nvSpPr>
          <p:cNvPr id="3" name="">
            <a:extLst xmlns:a="http://schemas.openxmlformats.org/drawingml/2006/main">
              <a:ext uri="{FF2B5EF4-FFF2-40B4-BE49-F238E27FC236}">
                <a16:creationId xmlns:a16="http://schemas.microsoft.com/office/drawing/2014/main" id="{C13F719F-1A11-4298-AC9A-A8D2EB115901}"/>
              </a:ext>
            </a:extLst>
          </p:cNvPr>
          <p:cNvSpPr>
            <a:spLocks xmlns:a="http://schemas.openxmlformats.org/drawingml/2006/main" noGrp="1"/>
          </p:cNvSpPr>
          <p:nvPr/>
        </p:nvSpPr>
        <p:spPr>
          <a:xfrm xmlns:a="http://schemas.openxmlformats.org/drawingml/2006/main">
            <a:off x="2571750" y="3581400"/>
            <a:ext cx="219075" cy="133350"/>
          </a:xfrm>
          <a:prstGeom xmlns:a="http://schemas.openxmlformats.org/drawingml/2006/main" prst="rightArrow">
            <a:avLst/>
          </a:prstGeom>
          <a:solidFill xmlns:a="http://schemas.openxmlformats.org/drawingml/2006/main">
            <a:srgbClr val="2A3242"/>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B94B1D63-A0D5-45E1-9151-3F5DB2B37F56}"/>
              </a:ext>
            </a:extLst>
          </p:cNvPr>
          <p:cNvSpPr>
            <a:spLocks xmlns:a="http://schemas.openxmlformats.org/drawingml/2006/main" noGrp="1"/>
          </p:cNvSpPr>
          <p:nvPr/>
        </p:nvSpPr>
        <p:spPr>
          <a:xfrm xmlns:a="http://schemas.openxmlformats.org/drawingml/2006/main">
            <a:off x="4752975" y="3581400"/>
            <a:ext cx="219075" cy="133350"/>
          </a:xfrm>
          <a:prstGeom xmlns:a="http://schemas.openxmlformats.org/drawingml/2006/main" prst="rightArrow">
            <a:avLst/>
          </a:prstGeom>
          <a:solidFill xmlns:a="http://schemas.openxmlformats.org/drawingml/2006/main">
            <a:srgbClr val="2A3242"/>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0F22FBC0-A824-4471-8C84-C256FB996135}"/>
              </a:ext>
            </a:extLst>
          </p:cNvPr>
          <p:cNvSpPr>
            <a:spLocks xmlns:a="http://schemas.openxmlformats.org/drawingml/2006/main" noGrp="1"/>
          </p:cNvSpPr>
          <p:nvPr/>
        </p:nvSpPr>
        <p:spPr>
          <a:xfrm xmlns:a="http://schemas.openxmlformats.org/drawingml/2006/main">
            <a:off x="6934200" y="3581400"/>
            <a:ext cx="219075" cy="133350"/>
          </a:xfrm>
          <a:prstGeom xmlns:a="http://schemas.openxmlformats.org/drawingml/2006/main" prst="rightArrow">
            <a:avLst/>
          </a:prstGeom>
          <a:solidFill xmlns:a="http://schemas.openxmlformats.org/drawingml/2006/main">
            <a:srgbClr val="2A3242"/>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C3F2C0F0-02AC-4926-BAC1-6BABB4A99C15}"/>
              </a:ext>
            </a:extLst>
          </p:cNvPr>
          <p:cNvSpPr>
            <a:spLocks xmlns:a="http://schemas.openxmlformats.org/drawingml/2006/main" noGrp="1"/>
          </p:cNvSpPr>
          <p:nvPr/>
        </p:nvSpPr>
        <p:spPr>
          <a:xfrm xmlns:a="http://schemas.openxmlformats.org/drawingml/2006/main">
            <a:off x="9115425" y="3581400"/>
            <a:ext cx="219075" cy="133350"/>
          </a:xfrm>
          <a:prstGeom xmlns:a="http://schemas.openxmlformats.org/drawingml/2006/main" prst="rightArrow">
            <a:avLst/>
          </a:prstGeom>
          <a:solidFill xmlns:a="http://schemas.openxmlformats.org/drawingml/2006/main">
            <a:srgbClr val="2A3242"/>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378F53C2-9147-4B96-B1CB-F51A3147C6BB}"/>
              </a:ext>
            </a:extLst>
          </p:cNvPr>
          <p:cNvSpPr>
            <a:spLocks xmlns:a="http://schemas.openxmlformats.org/drawingml/2006/main" noGrp="1"/>
          </p:cNvSpPr>
          <p:nvPr/>
        </p:nvSpPr>
        <p:spPr>
          <a:xfrm xmlns:a="http://schemas.openxmlformats.org/drawingml/2006/main">
            <a:off x="685800" y="2743200"/>
            <a:ext cx="1809750" cy="1809750"/>
          </a:xfrm>
          <a:prstGeom xmlns:a="http://schemas.openxmlformats.org/drawingml/2006/main" prst="roundRect">
            <a:avLst>
              <a:gd name="adj" fmla="val 9474"/>
            </a:avLst>
          </a:prstGeom>
          <a:solidFill xmlns:a="http://schemas.openxmlformats.org/drawingml/2006/main">
            <a:srgbClr val="141A25"/>
          </a:solidFill>
          <a:ln xmlns:a="http://schemas.openxmlformats.org/drawingml/2006/main" w="19050">
            <a:solidFill>
              <a:srgbClr val="2864FF"/>
            </a:solidFill>
            <a:prstDash val="solid"/>
          </a:ln>
        </p:spPr>
      </p:sp>
      <p:sp>
        <p:nvSpPr>
          <p:cNvPr id="8" name="">
            <a:extLst xmlns:a="http://schemas.openxmlformats.org/drawingml/2006/main">
              <a:ext uri="{FF2B5EF4-FFF2-40B4-BE49-F238E27FC236}">
                <a16:creationId xmlns:a16="http://schemas.microsoft.com/office/drawing/2014/main" id="{94D037F2-65BE-4AB7-92F4-0414B7B47EB5}"/>
              </a:ext>
            </a:extLst>
          </p:cNvPr>
          <p:cNvSpPr>
            <a:spLocks xmlns:a="http://schemas.openxmlformats.org/drawingml/2006/main" noGrp="1"/>
          </p:cNvSpPr>
          <p:nvPr/>
        </p:nvSpPr>
        <p:spPr>
          <a:xfrm xmlns:a="http://schemas.openxmlformats.org/drawingml/2006/main">
            <a:off x="838200" y="2971800"/>
            <a:ext cx="1504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1" i="0">
                <a:solidFill>
                  <a:srgbClr val="2864FF"/>
                </a:solidFill>
              </a:defRPr>
            </a:pPr>
            <a:r>
              <a:rPr sz="1275" b="1" i="0">
                <a:solidFill>
                  <a:srgbClr val="2864FF"/>
                </a:solidFill>
              </a:rPr>
              <a:t>CLAIM</a:t>
            </a:r>
          </a:p>
        </p:txBody>
      </p:sp>
      <p:sp>
        <p:nvSpPr>
          <p:cNvPr id="9" name="">
            <a:extLst xmlns:a="http://schemas.openxmlformats.org/drawingml/2006/main">
              <a:ext uri="{FF2B5EF4-FFF2-40B4-BE49-F238E27FC236}">
                <a16:creationId xmlns:a16="http://schemas.microsoft.com/office/drawing/2014/main" id="{029B9573-D459-48E2-A9F3-0A9AC7549889}"/>
              </a:ext>
            </a:extLst>
          </p:cNvPr>
          <p:cNvSpPr>
            <a:spLocks xmlns:a="http://schemas.openxmlformats.org/drawingml/2006/main" noGrp="1"/>
          </p:cNvSpPr>
          <p:nvPr/>
        </p:nvSpPr>
        <p:spPr>
          <a:xfrm xmlns:a="http://schemas.openxmlformats.org/drawingml/2006/main">
            <a:off x="857250" y="3371850"/>
            <a:ext cx="146685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425" b="1" i="0">
                <a:solidFill>
                  <a:srgbClr val="F7F4EC"/>
                </a:solidFill>
              </a:defRPr>
            </a:pPr>
            <a:r>
              <a:rPr sz="1425" b="1" i="0">
                <a:solidFill>
                  <a:srgbClr val="F7F4EC"/>
                </a:solidFill>
              </a:rPr>
              <a:t>What behavior</a:t>
            </a:r>
          </a:p>
          <a:p xmlns:a="http://schemas.openxmlformats.org/drawingml/2006/main">
            <a:pPr algn="ctr">
              <a:defRPr sz="1425" b="1" i="0">
                <a:solidFill>
                  <a:srgbClr val="F7F4EC"/>
                </a:solidFill>
              </a:defRPr>
            </a:pPr>
            <a:r>
              <a:rPr sz="1425" b="1" i="0">
                <a:solidFill>
                  <a:srgbClr val="F7F4EC"/>
                </a:solidFill>
              </a:rPr>
              <a:t>should change?</a:t>
            </a:r>
          </a:p>
        </p:txBody>
      </p:sp>
      <p:sp>
        <p:nvSpPr>
          <p:cNvPr id="10" name="">
            <a:extLst xmlns:a="http://schemas.openxmlformats.org/drawingml/2006/main">
              <a:ext uri="{FF2B5EF4-FFF2-40B4-BE49-F238E27FC236}">
                <a16:creationId xmlns:a16="http://schemas.microsoft.com/office/drawing/2014/main" id="{90D6EE03-6936-4716-B077-B6E5DA742ABA}"/>
              </a:ext>
            </a:extLst>
          </p:cNvPr>
          <p:cNvSpPr>
            <a:spLocks xmlns:a="http://schemas.openxmlformats.org/drawingml/2006/main" noGrp="1"/>
          </p:cNvSpPr>
          <p:nvPr/>
        </p:nvSpPr>
        <p:spPr>
          <a:xfrm xmlns:a="http://schemas.openxmlformats.org/drawingml/2006/main">
            <a:off x="2867025" y="2743200"/>
            <a:ext cx="1809750" cy="1809750"/>
          </a:xfrm>
          <a:prstGeom xmlns:a="http://schemas.openxmlformats.org/drawingml/2006/main" prst="roundRect">
            <a:avLst>
              <a:gd name="adj" fmla="val 9474"/>
            </a:avLst>
          </a:prstGeom>
          <a:solidFill xmlns:a="http://schemas.openxmlformats.org/drawingml/2006/main">
            <a:srgbClr val="141A25"/>
          </a:solidFill>
          <a:ln xmlns:a="http://schemas.openxmlformats.org/drawingml/2006/main" w="19050">
            <a:solidFill>
              <a:srgbClr val="FF5A5F"/>
            </a:solidFill>
            <a:prstDash val="solid"/>
          </a:ln>
        </p:spPr>
      </p:sp>
      <p:sp>
        <p:nvSpPr>
          <p:cNvPr id="11" name="">
            <a:extLst xmlns:a="http://schemas.openxmlformats.org/drawingml/2006/main">
              <a:ext uri="{FF2B5EF4-FFF2-40B4-BE49-F238E27FC236}">
                <a16:creationId xmlns:a16="http://schemas.microsoft.com/office/drawing/2014/main" id="{ED2D4494-1C71-42D8-AB9F-F682A11FDEBD}"/>
              </a:ext>
            </a:extLst>
          </p:cNvPr>
          <p:cNvSpPr>
            <a:spLocks xmlns:a="http://schemas.openxmlformats.org/drawingml/2006/main" noGrp="1"/>
          </p:cNvSpPr>
          <p:nvPr/>
        </p:nvSpPr>
        <p:spPr>
          <a:xfrm xmlns:a="http://schemas.openxmlformats.org/drawingml/2006/main">
            <a:off x="3019425" y="2971800"/>
            <a:ext cx="1504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1" i="0">
                <a:solidFill>
                  <a:srgbClr val="FF5A5F"/>
                </a:solidFill>
              </a:defRPr>
            </a:pPr>
            <a:r>
              <a:rPr sz="1275" b="1" i="0">
                <a:solidFill>
                  <a:srgbClr val="FF5A5F"/>
                </a:solidFill>
              </a:rPr>
              <a:t>ATTACK</a:t>
            </a:r>
          </a:p>
        </p:txBody>
      </p:sp>
      <p:sp>
        <p:nvSpPr>
          <p:cNvPr id="12" name="">
            <a:extLst xmlns:a="http://schemas.openxmlformats.org/drawingml/2006/main">
              <a:ext uri="{FF2B5EF4-FFF2-40B4-BE49-F238E27FC236}">
                <a16:creationId xmlns:a16="http://schemas.microsoft.com/office/drawing/2014/main" id="{1432500A-1BAE-4DAC-AE81-2801EFAA869C}"/>
              </a:ext>
            </a:extLst>
          </p:cNvPr>
          <p:cNvSpPr>
            <a:spLocks xmlns:a="http://schemas.openxmlformats.org/drawingml/2006/main" noGrp="1"/>
          </p:cNvSpPr>
          <p:nvPr/>
        </p:nvSpPr>
        <p:spPr>
          <a:xfrm xmlns:a="http://schemas.openxmlformats.org/drawingml/2006/main">
            <a:off x="3038475" y="3371850"/>
            <a:ext cx="146685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425" b="1" i="0">
                <a:solidFill>
                  <a:srgbClr val="F7F4EC"/>
                </a:solidFill>
              </a:defRPr>
            </a:pPr>
            <a:r>
              <a:rPr sz="1425" b="1" i="0">
                <a:solidFill>
                  <a:srgbClr val="F7F4EC"/>
                </a:solidFill>
              </a:rPr>
              <a:t>Generate tests</a:t>
            </a:r>
          </a:p>
          <a:p xmlns:a="http://schemas.openxmlformats.org/drawingml/2006/main">
            <a:pPr algn="ctr">
              <a:defRPr sz="1425" b="1" i="0">
                <a:solidFill>
                  <a:srgbClr val="F7F4EC"/>
                </a:solidFill>
              </a:defRPr>
            </a:pPr>
            <a:r>
              <a:rPr sz="1425" b="1" i="0">
                <a:solidFill>
                  <a:srgbClr val="F7F4EC"/>
                </a:solidFill>
              </a:rPr>
              <a:t>to break it</a:t>
            </a:r>
          </a:p>
        </p:txBody>
      </p:sp>
      <p:sp>
        <p:nvSpPr>
          <p:cNvPr id="13" name="">
            <a:extLst xmlns:a="http://schemas.openxmlformats.org/drawingml/2006/main">
              <a:ext uri="{FF2B5EF4-FFF2-40B4-BE49-F238E27FC236}">
                <a16:creationId xmlns:a16="http://schemas.microsoft.com/office/drawing/2014/main" id="{CB10381D-D4AF-4030-AF58-47FF08423796}"/>
              </a:ext>
            </a:extLst>
          </p:cNvPr>
          <p:cNvSpPr>
            <a:spLocks xmlns:a="http://schemas.openxmlformats.org/drawingml/2006/main" noGrp="1"/>
          </p:cNvSpPr>
          <p:nvPr/>
        </p:nvSpPr>
        <p:spPr>
          <a:xfrm xmlns:a="http://schemas.openxmlformats.org/drawingml/2006/main">
            <a:off x="5048250" y="2743200"/>
            <a:ext cx="1809750" cy="1809750"/>
          </a:xfrm>
          <a:prstGeom xmlns:a="http://schemas.openxmlformats.org/drawingml/2006/main" prst="roundRect">
            <a:avLst>
              <a:gd name="adj" fmla="val 9474"/>
            </a:avLst>
          </a:prstGeom>
          <a:solidFill xmlns:a="http://schemas.openxmlformats.org/drawingml/2006/main">
            <a:srgbClr val="141A25"/>
          </a:solidFill>
          <a:ln xmlns:a="http://schemas.openxmlformats.org/drawingml/2006/main" w="19050">
            <a:solidFill>
              <a:srgbClr val="2864FF"/>
            </a:solidFill>
            <a:prstDash val="solid"/>
          </a:ln>
        </p:spPr>
      </p:sp>
      <p:sp>
        <p:nvSpPr>
          <p:cNvPr id="14" name="">
            <a:extLst xmlns:a="http://schemas.openxmlformats.org/drawingml/2006/main">
              <a:ext uri="{FF2B5EF4-FFF2-40B4-BE49-F238E27FC236}">
                <a16:creationId xmlns:a16="http://schemas.microsoft.com/office/drawing/2014/main" id="{AA11F988-DA12-43AE-BA70-44EB94BA255A}"/>
              </a:ext>
            </a:extLst>
          </p:cNvPr>
          <p:cNvSpPr>
            <a:spLocks xmlns:a="http://schemas.openxmlformats.org/drawingml/2006/main" noGrp="1"/>
          </p:cNvSpPr>
          <p:nvPr/>
        </p:nvSpPr>
        <p:spPr>
          <a:xfrm xmlns:a="http://schemas.openxmlformats.org/drawingml/2006/main">
            <a:off x="5200650" y="2971800"/>
            <a:ext cx="1504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1" i="0">
                <a:solidFill>
                  <a:srgbClr val="2864FF"/>
                </a:solidFill>
              </a:defRPr>
            </a:pPr>
            <a:r>
              <a:rPr sz="1275" b="1" i="0">
                <a:solidFill>
                  <a:srgbClr val="2864FF"/>
                </a:solidFill>
              </a:rPr>
              <a:t>EXECUTE</a:t>
            </a:r>
          </a:p>
        </p:txBody>
      </p:sp>
      <p:sp>
        <p:nvSpPr>
          <p:cNvPr id="15" name="">
            <a:extLst xmlns:a="http://schemas.openxmlformats.org/drawingml/2006/main">
              <a:ext uri="{FF2B5EF4-FFF2-40B4-BE49-F238E27FC236}">
                <a16:creationId xmlns:a16="http://schemas.microsoft.com/office/drawing/2014/main" id="{C359C717-027F-41AD-BDD4-F9167EA5ABF1}"/>
              </a:ext>
            </a:extLst>
          </p:cNvPr>
          <p:cNvSpPr>
            <a:spLocks xmlns:a="http://schemas.openxmlformats.org/drawingml/2006/main" noGrp="1"/>
          </p:cNvSpPr>
          <p:nvPr/>
        </p:nvSpPr>
        <p:spPr>
          <a:xfrm xmlns:a="http://schemas.openxmlformats.org/drawingml/2006/main">
            <a:off x="5219700" y="3371850"/>
            <a:ext cx="146685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425" b="1" i="0">
                <a:solidFill>
                  <a:srgbClr val="F7F4EC"/>
                </a:solidFill>
              </a:defRPr>
            </a:pPr>
            <a:r>
              <a:rPr sz="1425" b="1" i="0">
                <a:solidFill>
                  <a:srgbClr val="F7F4EC"/>
                </a:solidFill>
              </a:rPr>
              <a:t>Run before</a:t>
            </a:r>
          </a:p>
          <a:p xmlns:a="http://schemas.openxmlformats.org/drawingml/2006/main">
            <a:pPr algn="ctr">
              <a:defRPr sz="1425" b="1" i="0">
                <a:solidFill>
                  <a:srgbClr val="F7F4EC"/>
                </a:solidFill>
              </a:defRPr>
            </a:pPr>
            <a:r>
              <a:rPr sz="1425" b="1" i="0">
                <a:solidFill>
                  <a:srgbClr val="F7F4EC"/>
                </a:solidFill>
              </a:rPr>
              <a:t>and after</a:t>
            </a:r>
          </a:p>
        </p:txBody>
      </p:sp>
      <p:sp>
        <p:nvSpPr>
          <p:cNvPr id="16" name="">
            <a:extLst xmlns:a="http://schemas.openxmlformats.org/drawingml/2006/main">
              <a:ext uri="{FF2B5EF4-FFF2-40B4-BE49-F238E27FC236}">
                <a16:creationId xmlns:a16="http://schemas.microsoft.com/office/drawing/2014/main" id="{9BDA8644-A762-4B3B-8DA1-A6C0E6EE53B0}"/>
              </a:ext>
            </a:extLst>
          </p:cNvPr>
          <p:cNvSpPr>
            <a:spLocks xmlns:a="http://schemas.openxmlformats.org/drawingml/2006/main" noGrp="1"/>
          </p:cNvSpPr>
          <p:nvPr/>
        </p:nvSpPr>
        <p:spPr>
          <a:xfrm xmlns:a="http://schemas.openxmlformats.org/drawingml/2006/main">
            <a:off x="7229475" y="2743200"/>
            <a:ext cx="1809750" cy="1809750"/>
          </a:xfrm>
          <a:prstGeom xmlns:a="http://schemas.openxmlformats.org/drawingml/2006/main" prst="roundRect">
            <a:avLst>
              <a:gd name="adj" fmla="val 9474"/>
            </a:avLst>
          </a:prstGeom>
          <a:solidFill xmlns:a="http://schemas.openxmlformats.org/drawingml/2006/main">
            <a:srgbClr val="141A25"/>
          </a:solidFill>
          <a:ln xmlns:a="http://schemas.openxmlformats.org/drawingml/2006/main" w="19050">
            <a:solidFill>
              <a:srgbClr val="C99A2E"/>
            </a:solidFill>
            <a:prstDash val="solid"/>
          </a:ln>
        </p:spPr>
      </p:sp>
      <p:sp>
        <p:nvSpPr>
          <p:cNvPr id="17" name="">
            <a:extLst xmlns:a="http://schemas.openxmlformats.org/drawingml/2006/main">
              <a:ext uri="{FF2B5EF4-FFF2-40B4-BE49-F238E27FC236}">
                <a16:creationId xmlns:a16="http://schemas.microsoft.com/office/drawing/2014/main" id="{16CA9D85-7654-4085-A64C-317BF70C34CE}"/>
              </a:ext>
            </a:extLst>
          </p:cNvPr>
          <p:cNvSpPr>
            <a:spLocks xmlns:a="http://schemas.openxmlformats.org/drawingml/2006/main" noGrp="1"/>
          </p:cNvSpPr>
          <p:nvPr/>
        </p:nvSpPr>
        <p:spPr>
          <a:xfrm xmlns:a="http://schemas.openxmlformats.org/drawingml/2006/main">
            <a:off x="7381875" y="2971800"/>
            <a:ext cx="1504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1" i="0">
                <a:solidFill>
                  <a:srgbClr val="C99A2E"/>
                </a:solidFill>
              </a:defRPr>
            </a:pPr>
            <a:r>
              <a:rPr sz="1275" b="1" i="0">
                <a:solidFill>
                  <a:srgbClr val="C99A2E"/>
                </a:solidFill>
              </a:rPr>
              <a:t>CROSS-CHECK</a:t>
            </a:r>
          </a:p>
        </p:txBody>
      </p:sp>
      <p:sp>
        <p:nvSpPr>
          <p:cNvPr id="18" name="">
            <a:extLst xmlns:a="http://schemas.openxmlformats.org/drawingml/2006/main">
              <a:ext uri="{FF2B5EF4-FFF2-40B4-BE49-F238E27FC236}">
                <a16:creationId xmlns:a16="http://schemas.microsoft.com/office/drawing/2014/main" id="{F16555E4-BF81-46D1-8273-FAE10B5C1CC0}"/>
              </a:ext>
            </a:extLst>
          </p:cNvPr>
          <p:cNvSpPr>
            <a:spLocks xmlns:a="http://schemas.openxmlformats.org/drawingml/2006/main" noGrp="1"/>
          </p:cNvSpPr>
          <p:nvPr/>
        </p:nvSpPr>
        <p:spPr>
          <a:xfrm xmlns:a="http://schemas.openxmlformats.org/drawingml/2006/main">
            <a:off x="7400925" y="3371850"/>
            <a:ext cx="146685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425" b="1" i="0">
                <a:solidFill>
                  <a:srgbClr val="F7F4EC"/>
                </a:solidFill>
              </a:defRPr>
            </a:pPr>
            <a:r>
              <a:rPr sz="1425" b="1" i="0">
                <a:solidFill>
                  <a:srgbClr val="F7F4EC"/>
                </a:solidFill>
              </a:rPr>
              <a:t>Evidence vs.</a:t>
            </a:r>
          </a:p>
          <a:p xmlns:a="http://schemas.openxmlformats.org/drawingml/2006/main">
            <a:pPr algn="ctr">
              <a:defRPr sz="1425" b="1" i="0">
                <a:solidFill>
                  <a:srgbClr val="F7F4EC"/>
                </a:solidFill>
              </a:defRPr>
            </a:pPr>
            <a:r>
              <a:rPr sz="1425" b="1" i="0">
                <a:solidFill>
                  <a:srgbClr val="F7F4EC"/>
                </a:solidFill>
              </a:rPr>
              <a:t>opinion</a:t>
            </a:r>
          </a:p>
        </p:txBody>
      </p:sp>
      <p:sp>
        <p:nvSpPr>
          <p:cNvPr id="19" name="">
            <a:extLst xmlns:a="http://schemas.openxmlformats.org/drawingml/2006/main">
              <a:ext uri="{FF2B5EF4-FFF2-40B4-BE49-F238E27FC236}">
                <a16:creationId xmlns:a16="http://schemas.microsoft.com/office/drawing/2014/main" id="{EB263C70-5335-4770-8A23-8903929C4DED}"/>
              </a:ext>
            </a:extLst>
          </p:cNvPr>
          <p:cNvSpPr>
            <a:spLocks xmlns:a="http://schemas.openxmlformats.org/drawingml/2006/main" noGrp="1"/>
          </p:cNvSpPr>
          <p:nvPr/>
        </p:nvSpPr>
        <p:spPr>
          <a:xfrm xmlns:a="http://schemas.openxmlformats.org/drawingml/2006/main">
            <a:off x="9410700" y="2743200"/>
            <a:ext cx="1809750" cy="1809750"/>
          </a:xfrm>
          <a:prstGeom xmlns:a="http://schemas.openxmlformats.org/drawingml/2006/main" prst="roundRect">
            <a:avLst>
              <a:gd name="adj" fmla="val 9474"/>
            </a:avLst>
          </a:prstGeom>
          <a:solidFill xmlns:a="http://schemas.openxmlformats.org/drawingml/2006/main">
            <a:srgbClr val="141A25"/>
          </a:solidFill>
          <a:ln xmlns:a="http://schemas.openxmlformats.org/drawingml/2006/main" w="19050">
            <a:solidFill>
              <a:srgbClr val="F7F4EC"/>
            </a:solidFill>
            <a:prstDash val="solid"/>
          </a:ln>
        </p:spPr>
      </p:sp>
      <p:sp>
        <p:nvSpPr>
          <p:cNvPr id="20" name="">
            <a:extLst xmlns:a="http://schemas.openxmlformats.org/drawingml/2006/main">
              <a:ext uri="{FF2B5EF4-FFF2-40B4-BE49-F238E27FC236}">
                <a16:creationId xmlns:a16="http://schemas.microsoft.com/office/drawing/2014/main" id="{10DF3292-1B39-45EE-8CE2-A09EA70889E3}"/>
              </a:ext>
            </a:extLst>
          </p:cNvPr>
          <p:cNvSpPr>
            <a:spLocks xmlns:a="http://schemas.openxmlformats.org/drawingml/2006/main" noGrp="1"/>
          </p:cNvSpPr>
          <p:nvPr/>
        </p:nvSpPr>
        <p:spPr>
          <a:xfrm xmlns:a="http://schemas.openxmlformats.org/drawingml/2006/main">
            <a:off x="9563100" y="2971800"/>
            <a:ext cx="1504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1" i="0">
                <a:solidFill>
                  <a:srgbClr val="F7F4EC"/>
                </a:solidFill>
              </a:defRPr>
            </a:pPr>
            <a:r>
              <a:rPr sz="1275" b="1" i="0">
                <a:solidFill>
                  <a:srgbClr val="F7F4EC"/>
                </a:solidFill>
              </a:rPr>
              <a:t>HUMAN GATE</a:t>
            </a:r>
          </a:p>
        </p:txBody>
      </p:sp>
      <p:sp>
        <p:nvSpPr>
          <p:cNvPr id="21" name="">
            <a:extLst xmlns:a="http://schemas.openxmlformats.org/drawingml/2006/main">
              <a:ext uri="{FF2B5EF4-FFF2-40B4-BE49-F238E27FC236}">
                <a16:creationId xmlns:a16="http://schemas.microsoft.com/office/drawing/2014/main" id="{940D76C6-0A12-43E5-A963-9D7C5480AAFA}"/>
              </a:ext>
            </a:extLst>
          </p:cNvPr>
          <p:cNvSpPr>
            <a:spLocks xmlns:a="http://schemas.openxmlformats.org/drawingml/2006/main" noGrp="1"/>
          </p:cNvSpPr>
          <p:nvPr/>
        </p:nvSpPr>
        <p:spPr>
          <a:xfrm xmlns:a="http://schemas.openxmlformats.org/drawingml/2006/main">
            <a:off x="9582150" y="3371850"/>
            <a:ext cx="146685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425" b="1" i="0">
                <a:solidFill>
                  <a:srgbClr val="F7F4EC"/>
                </a:solidFill>
              </a:defRPr>
            </a:pPr>
            <a:r>
              <a:rPr sz="1425" b="1" i="0">
                <a:solidFill>
                  <a:srgbClr val="F7F4EC"/>
                </a:solidFill>
              </a:rPr>
              <a:t>Explain.</a:t>
            </a:r>
          </a:p>
          <a:p xmlns:a="http://schemas.openxmlformats.org/drawingml/2006/main">
            <a:pPr algn="ctr">
              <a:defRPr sz="1425" b="1" i="0">
                <a:solidFill>
                  <a:srgbClr val="F7F4EC"/>
                </a:solidFill>
              </a:defRPr>
            </a:pPr>
            <a:r>
              <a:rPr sz="1425" b="1" i="0">
                <a:solidFill>
                  <a:srgbClr val="F7F4EC"/>
                </a:solidFill>
              </a:rPr>
              <a:t>Recommend.</a:t>
            </a:r>
          </a:p>
        </p:txBody>
      </p:sp>
      <p:sp>
        <p:nvSpPr>
          <p:cNvPr id="22" name="">
            <a:extLst xmlns:a="http://schemas.openxmlformats.org/drawingml/2006/main">
              <a:ext uri="{FF2B5EF4-FFF2-40B4-BE49-F238E27FC236}">
                <a16:creationId xmlns:a16="http://schemas.microsoft.com/office/drawing/2014/main" id="{63BD416B-AFB4-47F2-A19D-11198B1EDE7A}"/>
              </a:ext>
            </a:extLst>
          </p:cNvPr>
          <p:cNvSpPr>
            <a:spLocks xmlns:a="http://schemas.openxmlformats.org/drawingml/2006/main" noGrp="1"/>
          </p:cNvSpPr>
          <p:nvPr/>
        </p:nvSpPr>
        <p:spPr>
          <a:xfrm xmlns:a="http://schemas.openxmlformats.org/drawingml/2006/main">
            <a:off x="1352550" y="5095875"/>
            <a:ext cx="94869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025" b="0" i="0">
                <a:solidFill>
                  <a:srgbClr val="A6ADBB"/>
                </a:solidFill>
              </a:defRPr>
            </a:pPr>
            <a:r>
              <a:rPr sz="2025" b="0" i="0">
                <a:solidFill>
                  <a:srgbClr val="A6ADBB"/>
                </a:solidFill>
              </a:rPr>
              <a:t>Opinion stays opinion. Executed tests become evidence. A person decides.</a:t>
            </a:r>
          </a:p>
        </p:txBody>
      </p:sp>
      <p:sp>
        <p:nvSpPr>
          <p:cNvPr id="23" name="">
            <a:extLst xmlns:a="http://schemas.openxmlformats.org/drawingml/2006/main">
              <a:ext uri="{FF2B5EF4-FFF2-40B4-BE49-F238E27FC236}">
                <a16:creationId xmlns:a16="http://schemas.microsoft.com/office/drawing/2014/main" id="{D2A43730-DD4C-47B6-8DED-675F2755664A}"/>
              </a:ext>
            </a:extLst>
          </p:cNvPr>
          <p:cNvSpPr>
            <a:spLocks xmlns:a="http://schemas.openxmlformats.org/drawingml/2006/main" noGrp="1"/>
          </p:cNvSpPr>
          <p:nvPr/>
        </p:nvSpPr>
        <p:spPr>
          <a:xfrm xmlns:a="http://schemas.openxmlformats.org/drawingml/2006/main">
            <a:off x="685800" y="6419850"/>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i="0">
                <a:solidFill>
                  <a:srgbClr val="687185"/>
                </a:solidFill>
              </a:defRPr>
            </a:pPr>
            <a:r>
              <a:rPr sz="1050" b="0" i="0">
                <a:solidFill>
                  <a:srgbClr val="687185"/>
                </a:solidFill>
              </a:rPr>
              <a:t>POPPER  ·  06</a:t>
            </a:r>
          </a:p>
        </p:txBody>
      </p:sp>
    </p:spTree>
    <p:extLst>
      <p:ext uri="{BB962C8B-B14F-4D97-AF65-F5344CB8AC3E}">
        <p14:creationId xmlns:p14="http://schemas.microsoft.com/office/powerpoint/2010/main" val="1453674528"/>
      </p:ext>
    </p:extLst>
  </p:cSld>
</p:sld>
</file>

<file path=ppt/slides/slide7.xml><?xml version="1.0" encoding="utf-8"?>
<p:sld xmlns:p="http://schemas.openxmlformats.org/presentationml/2006/main">
  <p:cSld>
    <p:bg>
      <p:bgPr>
        <a:solidFill xmlns:a="http://schemas.openxmlformats.org/drawingml/2006/main">
          <a:srgbClr val="07090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CB6DF49-B610-4BC3-8B69-01A55A4E4F49}"/>
              </a:ext>
            </a:extLst>
          </p:cNvPr>
          <p:cNvSpPr>
            <a:spLocks xmlns:a="http://schemas.openxmlformats.org/drawingml/2006/main" noGrp="1"/>
          </p:cNvSpPr>
          <p:nvPr/>
        </p:nvSpPr>
        <p:spPr>
          <a:xfrm xmlns:a="http://schemas.openxmlformats.org/drawingml/2006/main">
            <a:off x="685800" y="381000"/>
            <a:ext cx="571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i="0">
                <a:solidFill>
                  <a:srgbClr val="FF5A5F"/>
                </a:solidFill>
              </a:defRPr>
            </a:pPr>
            <a:r>
              <a:rPr sz="1200" b="1" i="0">
                <a:solidFill>
                  <a:srgbClr val="FF5A5F"/>
                </a:solidFill>
              </a:rPr>
              <a:t>THE MOMENT THAT MATTERS</a:t>
            </a:r>
          </a:p>
        </p:txBody>
      </p:sp>
      <p:sp>
        <p:nvSpPr>
          <p:cNvPr id="2" name="">
            <a:extLst xmlns:a="http://schemas.openxmlformats.org/drawingml/2006/main">
              <a:ext uri="{FF2B5EF4-FFF2-40B4-BE49-F238E27FC236}">
                <a16:creationId xmlns:a16="http://schemas.microsoft.com/office/drawing/2014/main" id="{F7898CCB-82E2-4BBE-806C-BC0D6BE7FE8A}"/>
              </a:ext>
            </a:extLst>
          </p:cNvPr>
          <p:cNvSpPr>
            <a:spLocks xmlns:a="http://schemas.openxmlformats.org/drawingml/2006/main" noGrp="1"/>
          </p:cNvSpPr>
          <p:nvPr/>
        </p:nvSpPr>
        <p:spPr>
          <a:xfrm xmlns:a="http://schemas.openxmlformats.org/drawingml/2006/main">
            <a:off x="685800" y="704850"/>
            <a:ext cx="10668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375" b="1" i="0">
                <a:solidFill>
                  <a:srgbClr val="F7F4EC"/>
                </a:solidFill>
              </a:defRPr>
            </a:pPr>
            <a:r>
              <a:rPr sz="3375" b="1" i="0">
                <a:solidFill>
                  <a:srgbClr val="F7F4EC"/>
                </a:solidFill>
              </a:rPr>
              <a:t>The review approved. The evidence said block.</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21edf8a8839242c2"/>
          <a:srcRect xmlns:a="http://schemas.openxmlformats.org/drawingml/2006/main" l="0" t="19" r="0" b="19"/>
          <a:stretch xmlns:a="http://schemas.openxmlformats.org/drawingml/2006/main">
            <a:fillRect l="0" t="0" r="0" b="0"/>
          </a:stretch>
        </p:blipFill>
        <p:spPr>
          <a:xfrm xmlns:a="http://schemas.openxmlformats.org/drawingml/2006/main">
            <a:off x="1095375" y="1495425"/>
            <a:ext cx="10001250" cy="5076825"/>
          </a:xfrm>
          <a:prstGeom xmlns:a="http://schemas.openxmlformats.org/drawingml/2006/main" prst="roundRect">
            <a:avLst>
              <a:gd name="adj" fmla="val 3377"/>
            </a:avLst>
          </a:prstGeom>
        </p:spPr>
      </p:pic>
      <p:sp>
        <p:nvSpPr>
          <p:cNvPr id="4" name="">
            <a:extLst xmlns:a="http://schemas.openxmlformats.org/drawingml/2006/main">
              <a:ext uri="{FF2B5EF4-FFF2-40B4-BE49-F238E27FC236}">
                <a16:creationId xmlns:a16="http://schemas.microsoft.com/office/drawing/2014/main" id="{C1BBE775-BF87-4BE5-8559-F603556442B0}"/>
              </a:ext>
            </a:extLst>
          </p:cNvPr>
          <p:cNvSpPr>
            <a:spLocks xmlns:a="http://schemas.openxmlformats.org/drawingml/2006/main" noGrp="1"/>
          </p:cNvSpPr>
          <p:nvPr/>
        </p:nvSpPr>
        <p:spPr>
          <a:xfrm xmlns:a="http://schemas.openxmlformats.org/drawingml/2006/main">
            <a:off x="1095375" y="1495425"/>
            <a:ext cx="10001250" cy="5076825"/>
          </a:xfrm>
          <a:prstGeom xmlns:a="http://schemas.openxmlformats.org/drawingml/2006/main" prst="roundRect">
            <a:avLst>
              <a:gd name="adj" fmla="val 3377"/>
            </a:avLst>
          </a:prstGeom>
          <a:noFill xmlns:a="http://schemas.openxmlformats.org/drawingml/2006/main"/>
          <a:ln xmlns:a="http://schemas.openxmlformats.org/drawingml/2006/main" w="19050">
            <a:solidFill>
              <a:srgbClr val="2864FF"/>
            </a:solidFill>
            <a:prstDash val="solid"/>
          </a:ln>
        </p:spPr>
      </p:sp>
    </p:spTree>
    <p:extLst>
      <p:ext uri="{BB962C8B-B14F-4D97-AF65-F5344CB8AC3E}">
        <p14:creationId xmlns:p14="http://schemas.microsoft.com/office/powerpoint/2010/main" val="1049898429"/>
      </p:ext>
    </p:extLst>
  </p:cSld>
</p:sld>
</file>

<file path=ppt/slides/slide8.xml><?xml version="1.0" encoding="utf-8"?>
<p:sld xmlns:p="http://schemas.openxmlformats.org/presentationml/2006/main">
  <p:cSld>
    <p:bg>
      <p:bgPr>
        <a:solidFill xmlns:a="http://schemas.openxmlformats.org/drawingml/2006/main">
          <a:srgbClr val="07090D"/>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518063D8-DF67-4ABB-9F41-D3E7F55B57F7}"/>
              </a:ext>
            </a:extLst>
          </p:cNvPr>
          <p:cNvSpPr>
            <a:spLocks xmlns:a="http://schemas.openxmlformats.org/drawingml/2006/main" noGrp="1"/>
          </p:cNvSpPr>
          <p:nvPr/>
        </p:nvSpPr>
        <p:spPr>
          <a:xfrm xmlns:a="http://schemas.openxmlformats.org/drawingml/2006/main">
            <a:off x="685800" y="495300"/>
            <a:ext cx="571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i="0">
                <a:solidFill>
                  <a:srgbClr val="9DB9FF"/>
                </a:solidFill>
              </a:defRPr>
            </a:pPr>
            <a:r>
              <a:rPr sz="1200" b="1" i="0">
                <a:solidFill>
                  <a:srgbClr val="9DB9FF"/>
                </a:solidFill>
              </a:rPr>
              <a:t>BUILT WITH</a:t>
            </a:r>
          </a:p>
        </p:txBody>
      </p:sp>
      <p:sp>
        <p:nvSpPr>
          <p:cNvPr id="2" name="">
            <a:extLst xmlns:a="http://schemas.openxmlformats.org/drawingml/2006/main">
              <a:ext uri="{FF2B5EF4-FFF2-40B4-BE49-F238E27FC236}">
                <a16:creationId xmlns:a16="http://schemas.microsoft.com/office/drawing/2014/main" id="{B7ABEE6E-D000-446D-8167-E5EF9F67D4C9}"/>
              </a:ext>
            </a:extLst>
          </p:cNvPr>
          <p:cNvSpPr>
            <a:spLocks xmlns:a="http://schemas.openxmlformats.org/drawingml/2006/main" noGrp="1"/>
          </p:cNvSpPr>
          <p:nvPr/>
        </p:nvSpPr>
        <p:spPr>
          <a:xfrm xmlns:a="http://schemas.openxmlformats.org/drawingml/2006/main">
            <a:off x="685800" y="1352550"/>
            <a:ext cx="2571750" cy="2190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350" b="1" i="0">
                <a:solidFill>
                  <a:srgbClr val="2864FF"/>
                </a:solidFill>
              </a:defRPr>
            </a:pPr>
            <a:r>
              <a:rPr sz="13350" b="1" i="0">
                <a:solidFill>
                  <a:srgbClr val="2864FF"/>
                </a:solidFill>
              </a:rPr>
              <a:t>5</a:t>
            </a:r>
          </a:p>
        </p:txBody>
      </p:sp>
      <p:sp>
        <p:nvSpPr>
          <p:cNvPr id="3" name="">
            <a:extLst xmlns:a="http://schemas.openxmlformats.org/drawingml/2006/main">
              <a:ext uri="{FF2B5EF4-FFF2-40B4-BE49-F238E27FC236}">
                <a16:creationId xmlns:a16="http://schemas.microsoft.com/office/drawing/2014/main" id="{B32EE8C9-27B3-44F4-9624-4D59DB8AF161}"/>
              </a:ext>
            </a:extLst>
          </p:cNvPr>
          <p:cNvSpPr>
            <a:spLocks xmlns:a="http://schemas.openxmlformats.org/drawingml/2006/main" noGrp="1"/>
          </p:cNvSpPr>
          <p:nvPr/>
        </p:nvSpPr>
        <p:spPr>
          <a:xfrm xmlns:a="http://schemas.openxmlformats.org/drawingml/2006/main">
            <a:off x="838200" y="3429000"/>
            <a:ext cx="3048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325" b="1" i="0">
                <a:solidFill>
                  <a:srgbClr val="F7F4EC"/>
                </a:solidFill>
              </a:defRPr>
            </a:pPr>
            <a:r>
              <a:rPr sz="2325" b="1" i="0">
                <a:solidFill>
                  <a:srgbClr val="F7F4EC"/>
                </a:solidFill>
              </a:rPr>
              <a:t>sponsor tools</a:t>
            </a:r>
          </a:p>
        </p:txBody>
      </p:sp>
      <p:sp>
        <p:nvSpPr>
          <p:cNvPr id="4" name="">
            <a:extLst xmlns:a="http://schemas.openxmlformats.org/drawingml/2006/main">
              <a:ext uri="{FF2B5EF4-FFF2-40B4-BE49-F238E27FC236}">
                <a16:creationId xmlns:a16="http://schemas.microsoft.com/office/drawing/2014/main" id="{C432396B-0065-4944-96A8-3BE124677B58}"/>
              </a:ext>
            </a:extLst>
          </p:cNvPr>
          <p:cNvSpPr>
            <a:spLocks xmlns:a="http://schemas.openxmlformats.org/drawingml/2006/main" noGrp="1"/>
          </p:cNvSpPr>
          <p:nvPr/>
        </p:nvSpPr>
        <p:spPr>
          <a:xfrm xmlns:a="http://schemas.openxmlformats.org/drawingml/2006/main">
            <a:off x="838200" y="3943350"/>
            <a:ext cx="342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0" i="0">
                <a:solidFill>
                  <a:srgbClr val="A6ADBB"/>
                </a:solidFill>
              </a:defRPr>
            </a:pPr>
            <a:r>
              <a:rPr sz="1875" b="0" i="0">
                <a:solidFill>
                  <a:srgbClr val="A6ADBB"/>
                </a:solidFill>
              </a:rPr>
              <a:t>one chain of trust</a:t>
            </a:r>
          </a:p>
        </p:txBody>
      </p:sp>
      <p:sp>
        <p:nvSpPr>
          <p:cNvPr id="5" name="">
            <a:extLst xmlns:a="http://schemas.openxmlformats.org/drawingml/2006/main">
              <a:ext uri="{FF2B5EF4-FFF2-40B4-BE49-F238E27FC236}">
                <a16:creationId xmlns:a16="http://schemas.microsoft.com/office/drawing/2014/main" id="{899282F1-E956-4B3F-A8AD-598FE8726C09}"/>
              </a:ext>
            </a:extLst>
          </p:cNvPr>
          <p:cNvSpPr>
            <a:spLocks xmlns:a="http://schemas.openxmlformats.org/drawingml/2006/main" noGrp="1"/>
          </p:cNvSpPr>
          <p:nvPr/>
        </p:nvSpPr>
        <p:spPr>
          <a:xfrm xmlns:a="http://schemas.openxmlformats.org/drawingml/2006/main">
            <a:off x="4476750" y="1200150"/>
            <a:ext cx="38100" cy="4267200"/>
          </a:xfrm>
          <a:prstGeom xmlns:a="http://schemas.openxmlformats.org/drawingml/2006/main" prst="rect">
            <a:avLst/>
          </a:prstGeom>
          <a:solidFill xmlns:a="http://schemas.openxmlformats.org/drawingml/2006/main">
            <a:srgbClr val="2864F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026C50B3-67D8-4E68-8A38-E4439733C616}"/>
              </a:ext>
            </a:extLst>
          </p:cNvPr>
          <p:cNvSpPr>
            <a:spLocks xmlns:a="http://schemas.openxmlformats.org/drawingml/2006/main" noGrp="1"/>
          </p:cNvSpPr>
          <p:nvPr/>
        </p:nvSpPr>
        <p:spPr>
          <a:xfrm xmlns:a="http://schemas.openxmlformats.org/drawingml/2006/main">
            <a:off x="4933950" y="1200150"/>
            <a:ext cx="285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i="0">
                <a:solidFill>
                  <a:srgbClr val="9DB9FF"/>
                </a:solidFill>
              </a:defRPr>
            </a:pPr>
            <a:r>
              <a:rPr sz="1425" b="1" i="0">
                <a:solidFill>
                  <a:srgbClr val="9DB9FF"/>
                </a:solidFill>
              </a:rPr>
              <a:t>FIREWORKS AI</a:t>
            </a:r>
          </a:p>
        </p:txBody>
      </p:sp>
      <p:sp>
        <p:nvSpPr>
          <p:cNvPr id="7" name="">
            <a:extLst xmlns:a="http://schemas.openxmlformats.org/drawingml/2006/main">
              <a:ext uri="{FF2B5EF4-FFF2-40B4-BE49-F238E27FC236}">
                <a16:creationId xmlns:a16="http://schemas.microsoft.com/office/drawing/2014/main" id="{2554D9AF-EAB6-42A6-AA84-60E2C17F445D}"/>
              </a:ext>
            </a:extLst>
          </p:cNvPr>
          <p:cNvSpPr>
            <a:spLocks xmlns:a="http://schemas.openxmlformats.org/drawingml/2006/main" noGrp="1"/>
          </p:cNvSpPr>
          <p:nvPr/>
        </p:nvSpPr>
        <p:spPr>
          <a:xfrm xmlns:a="http://schemas.openxmlformats.org/drawingml/2006/main">
            <a:off x="4933950" y="1552575"/>
            <a:ext cx="6286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i="0">
                <a:solidFill>
                  <a:srgbClr val="F7F4EC"/>
                </a:solidFill>
              </a:defRPr>
            </a:pPr>
            <a:r>
              <a:rPr sz="1800" b="0" i="0">
                <a:solidFill>
                  <a:srgbClr val="F7F4EC"/>
                </a:solidFill>
              </a:rPr>
              <a:t>extract the claim · generate the attack</a:t>
            </a:r>
          </a:p>
        </p:txBody>
      </p:sp>
      <p:sp>
        <p:nvSpPr>
          <p:cNvPr id="8" name="">
            <a:extLst xmlns:a="http://schemas.openxmlformats.org/drawingml/2006/main">
              <a:ext uri="{FF2B5EF4-FFF2-40B4-BE49-F238E27FC236}">
                <a16:creationId xmlns:a16="http://schemas.microsoft.com/office/drawing/2014/main" id="{E1FFE7C1-22E8-4F41-AE1F-9166873420FA}"/>
              </a:ext>
            </a:extLst>
          </p:cNvPr>
          <p:cNvSpPr>
            <a:spLocks xmlns:a="http://schemas.openxmlformats.org/drawingml/2006/main" noGrp="1"/>
          </p:cNvSpPr>
          <p:nvPr/>
        </p:nvSpPr>
        <p:spPr>
          <a:xfrm xmlns:a="http://schemas.openxmlformats.org/drawingml/2006/main">
            <a:off x="4933950" y="2095500"/>
            <a:ext cx="285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i="0">
                <a:solidFill>
                  <a:srgbClr val="67D79A"/>
                </a:solidFill>
              </a:defRPr>
            </a:pPr>
            <a:r>
              <a:rPr sz="1425" b="1" i="0">
                <a:solidFill>
                  <a:srgbClr val="67D79A"/>
                </a:solidFill>
              </a:rPr>
              <a:t>DAYTONA</a:t>
            </a:r>
          </a:p>
        </p:txBody>
      </p:sp>
      <p:sp>
        <p:nvSpPr>
          <p:cNvPr id="9" name="">
            <a:extLst xmlns:a="http://schemas.openxmlformats.org/drawingml/2006/main">
              <a:ext uri="{FF2B5EF4-FFF2-40B4-BE49-F238E27FC236}">
                <a16:creationId xmlns:a16="http://schemas.microsoft.com/office/drawing/2014/main" id="{BA9F9A58-367A-4B58-A181-B8BF5813B0E5}"/>
              </a:ext>
            </a:extLst>
          </p:cNvPr>
          <p:cNvSpPr>
            <a:spLocks xmlns:a="http://schemas.openxmlformats.org/drawingml/2006/main" noGrp="1"/>
          </p:cNvSpPr>
          <p:nvPr/>
        </p:nvSpPr>
        <p:spPr>
          <a:xfrm xmlns:a="http://schemas.openxmlformats.org/drawingml/2006/main">
            <a:off x="4933950" y="2447925"/>
            <a:ext cx="6286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i="0">
                <a:solidFill>
                  <a:srgbClr val="F7F4EC"/>
                </a:solidFill>
              </a:defRPr>
            </a:pPr>
            <a:r>
              <a:rPr sz="1800" b="0" i="0">
                <a:solidFill>
                  <a:srgbClr val="F7F4EC"/>
                </a:solidFill>
              </a:rPr>
              <a:t>run both revisions in isolation</a:t>
            </a:r>
          </a:p>
        </p:txBody>
      </p:sp>
      <p:sp>
        <p:nvSpPr>
          <p:cNvPr id="10" name="">
            <a:extLst xmlns:a="http://schemas.openxmlformats.org/drawingml/2006/main">
              <a:ext uri="{FF2B5EF4-FFF2-40B4-BE49-F238E27FC236}">
                <a16:creationId xmlns:a16="http://schemas.microsoft.com/office/drawing/2014/main" id="{FDB17129-7A64-4420-B517-41E9C68C2283}"/>
              </a:ext>
            </a:extLst>
          </p:cNvPr>
          <p:cNvSpPr>
            <a:spLocks xmlns:a="http://schemas.openxmlformats.org/drawingml/2006/main" noGrp="1"/>
          </p:cNvSpPr>
          <p:nvPr/>
        </p:nvSpPr>
        <p:spPr>
          <a:xfrm xmlns:a="http://schemas.openxmlformats.org/drawingml/2006/main">
            <a:off x="4933950" y="2990850"/>
            <a:ext cx="285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i="0">
                <a:solidFill>
                  <a:srgbClr val="C99A2E"/>
                </a:solidFill>
              </a:defRPr>
            </a:pPr>
            <a:r>
              <a:rPr sz="1425" b="1" i="0">
                <a:solidFill>
                  <a:srgbClr val="C99A2E"/>
                </a:solidFill>
              </a:rPr>
              <a:t>CODERABBIT</a:t>
            </a:r>
          </a:p>
        </p:txBody>
      </p:sp>
      <p:sp>
        <p:nvSpPr>
          <p:cNvPr id="11" name="">
            <a:extLst xmlns:a="http://schemas.openxmlformats.org/drawingml/2006/main">
              <a:ext uri="{FF2B5EF4-FFF2-40B4-BE49-F238E27FC236}">
                <a16:creationId xmlns:a16="http://schemas.microsoft.com/office/drawing/2014/main" id="{194D20EB-4F35-4819-834F-2348F88A538D}"/>
              </a:ext>
            </a:extLst>
          </p:cNvPr>
          <p:cNvSpPr>
            <a:spLocks xmlns:a="http://schemas.openxmlformats.org/drawingml/2006/main" noGrp="1"/>
          </p:cNvSpPr>
          <p:nvPr/>
        </p:nvSpPr>
        <p:spPr>
          <a:xfrm xmlns:a="http://schemas.openxmlformats.org/drawingml/2006/main">
            <a:off x="4933950" y="3343275"/>
            <a:ext cx="6286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i="0">
                <a:solidFill>
                  <a:srgbClr val="F7F4EC"/>
                </a:solidFill>
              </a:defRPr>
            </a:pPr>
            <a:r>
              <a:rPr sz="1800" b="0" i="0">
                <a:solidFill>
                  <a:srgbClr val="F7F4EC"/>
                </a:solidFill>
              </a:rPr>
              <a:t>provide independent static opinion</a:t>
            </a:r>
          </a:p>
        </p:txBody>
      </p:sp>
      <p:sp>
        <p:nvSpPr>
          <p:cNvPr id="12" name="">
            <a:extLst xmlns:a="http://schemas.openxmlformats.org/drawingml/2006/main">
              <a:ext uri="{FF2B5EF4-FFF2-40B4-BE49-F238E27FC236}">
                <a16:creationId xmlns:a16="http://schemas.microsoft.com/office/drawing/2014/main" id="{CA9B1F47-E9E7-43F9-83C8-C48FB93CCD11}"/>
              </a:ext>
            </a:extLst>
          </p:cNvPr>
          <p:cNvSpPr>
            <a:spLocks xmlns:a="http://schemas.openxmlformats.org/drawingml/2006/main" noGrp="1"/>
          </p:cNvSpPr>
          <p:nvPr/>
        </p:nvSpPr>
        <p:spPr>
          <a:xfrm xmlns:a="http://schemas.openxmlformats.org/drawingml/2006/main">
            <a:off x="4933950" y="3886200"/>
            <a:ext cx="285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i="0">
                <a:solidFill>
                  <a:srgbClr val="C2A6FF"/>
                </a:solidFill>
              </a:defRPr>
            </a:pPr>
            <a:r>
              <a:rPr sz="1425" b="1" i="0">
                <a:solidFill>
                  <a:srgbClr val="C2A6FF"/>
                </a:solidFill>
              </a:rPr>
              <a:t>BRAINTRUST</a:t>
            </a:r>
          </a:p>
        </p:txBody>
      </p:sp>
      <p:sp>
        <p:nvSpPr>
          <p:cNvPr id="13" name="">
            <a:extLst xmlns:a="http://schemas.openxmlformats.org/drawingml/2006/main">
              <a:ext uri="{FF2B5EF4-FFF2-40B4-BE49-F238E27FC236}">
                <a16:creationId xmlns:a16="http://schemas.microsoft.com/office/drawing/2014/main" id="{9E0D1BC1-37CA-4A26-BEFA-2F732552A947}"/>
              </a:ext>
            </a:extLst>
          </p:cNvPr>
          <p:cNvSpPr>
            <a:spLocks xmlns:a="http://schemas.openxmlformats.org/drawingml/2006/main" noGrp="1"/>
          </p:cNvSpPr>
          <p:nvPr/>
        </p:nvSpPr>
        <p:spPr>
          <a:xfrm xmlns:a="http://schemas.openxmlformats.org/drawingml/2006/main">
            <a:off x="4933950" y="4238625"/>
            <a:ext cx="6286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i="0">
                <a:solidFill>
                  <a:srgbClr val="F7F4EC"/>
                </a:solidFill>
              </a:defRPr>
            </a:pPr>
            <a:r>
              <a:rPr sz="1800" b="0" i="0">
                <a:solidFill>
                  <a:srgbClr val="F7F4EC"/>
                </a:solidFill>
              </a:rPr>
              <a:t>trace the reasoning and execution</a:t>
            </a:r>
          </a:p>
        </p:txBody>
      </p:sp>
      <p:sp>
        <p:nvSpPr>
          <p:cNvPr id="14" name="">
            <a:extLst xmlns:a="http://schemas.openxmlformats.org/drawingml/2006/main">
              <a:ext uri="{FF2B5EF4-FFF2-40B4-BE49-F238E27FC236}">
                <a16:creationId xmlns:a16="http://schemas.microsoft.com/office/drawing/2014/main" id="{4859F10A-A8CB-4623-AE69-F58C81364ACE}"/>
              </a:ext>
            </a:extLst>
          </p:cNvPr>
          <p:cNvSpPr>
            <a:spLocks xmlns:a="http://schemas.openxmlformats.org/drawingml/2006/main" noGrp="1"/>
          </p:cNvSpPr>
          <p:nvPr/>
        </p:nvSpPr>
        <p:spPr>
          <a:xfrm xmlns:a="http://schemas.openxmlformats.org/drawingml/2006/main">
            <a:off x="4933950" y="4781550"/>
            <a:ext cx="285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i="0">
                <a:solidFill>
                  <a:srgbClr val="FF9A9D"/>
                </a:solidFill>
              </a:defRPr>
            </a:pPr>
            <a:r>
              <a:rPr sz="1425" b="1" i="0">
                <a:solidFill>
                  <a:srgbClr val="FF9A9D"/>
                </a:solidFill>
              </a:rPr>
              <a:t>COPILOTKIT</a:t>
            </a:r>
          </a:p>
        </p:txBody>
      </p:sp>
      <p:sp>
        <p:nvSpPr>
          <p:cNvPr id="15" name="">
            <a:extLst xmlns:a="http://schemas.openxmlformats.org/drawingml/2006/main">
              <a:ext uri="{FF2B5EF4-FFF2-40B4-BE49-F238E27FC236}">
                <a16:creationId xmlns:a16="http://schemas.microsoft.com/office/drawing/2014/main" id="{99BF659B-57C6-46D8-A555-9ADF2B3CB5D0}"/>
              </a:ext>
            </a:extLst>
          </p:cNvPr>
          <p:cNvSpPr>
            <a:spLocks xmlns:a="http://schemas.openxmlformats.org/drawingml/2006/main" noGrp="1"/>
          </p:cNvSpPr>
          <p:nvPr/>
        </p:nvSpPr>
        <p:spPr>
          <a:xfrm xmlns:a="http://schemas.openxmlformats.org/drawingml/2006/main">
            <a:off x="4933950" y="5133975"/>
            <a:ext cx="6286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i="0">
                <a:solidFill>
                  <a:srgbClr val="F7F4EC"/>
                </a:solidFill>
              </a:defRPr>
            </a:pPr>
            <a:r>
              <a:rPr sz="1800" b="0" i="0">
                <a:solidFill>
                  <a:srgbClr val="F7F4EC"/>
                </a:solidFill>
              </a:rPr>
              <a:t>let reviewers question the run</a:t>
            </a:r>
          </a:p>
        </p:txBody>
      </p:sp>
      <p:sp>
        <p:nvSpPr>
          <p:cNvPr id="16" name="">
            <a:extLst xmlns:a="http://schemas.openxmlformats.org/drawingml/2006/main">
              <a:ext uri="{FF2B5EF4-FFF2-40B4-BE49-F238E27FC236}">
                <a16:creationId xmlns:a16="http://schemas.microsoft.com/office/drawing/2014/main" id="{91BFC36A-6035-4956-8465-FAC20C0D57F8}"/>
              </a:ext>
            </a:extLst>
          </p:cNvPr>
          <p:cNvSpPr>
            <a:spLocks xmlns:a="http://schemas.openxmlformats.org/drawingml/2006/main" noGrp="1"/>
          </p:cNvSpPr>
          <p:nvPr/>
        </p:nvSpPr>
        <p:spPr>
          <a:xfrm xmlns:a="http://schemas.openxmlformats.org/drawingml/2006/main">
            <a:off x="685800" y="6419850"/>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i="0">
                <a:solidFill>
                  <a:srgbClr val="687185"/>
                </a:solidFill>
              </a:defRPr>
            </a:pPr>
            <a:r>
              <a:rPr sz="1050" b="0" i="0">
                <a:solidFill>
                  <a:srgbClr val="687185"/>
                </a:solidFill>
              </a:rPr>
              <a:t>POPPER  ·  08</a:t>
            </a:r>
          </a:p>
        </p:txBody>
      </p:sp>
    </p:spTree>
    <p:extLst>
      <p:ext uri="{BB962C8B-B14F-4D97-AF65-F5344CB8AC3E}">
        <p14:creationId xmlns:p14="http://schemas.microsoft.com/office/powerpoint/2010/main" val="1470279038"/>
      </p:ext>
    </p:extLst>
  </p:cSld>
</p:sld>
</file>

<file path=ppt/slides/slide9.xml><?xml version="1.0" encoding="utf-8"?>
<p:sld xmlns:p="http://schemas.openxmlformats.org/presentationml/2006/main">
  <p:cSld>
    <p:bg>
      <p:bgPr>
        <a:solidFill xmlns:a="http://schemas.openxmlformats.org/drawingml/2006/main">
          <a:srgbClr val="07090D"/>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6649A697-E7A4-4016-8D81-13DC3E6EAA53}"/>
              </a:ext>
            </a:extLst>
          </p:cNvPr>
          <p:cNvSpPr>
            <a:spLocks xmlns:a="http://schemas.openxmlformats.org/drawingml/2006/main" noGrp="1"/>
          </p:cNvSpPr>
          <p:nvPr/>
        </p:nvSpPr>
        <p:spPr>
          <a:xfrm xmlns:a="http://schemas.openxmlformats.org/drawingml/2006/main">
            <a:off x="685800" y="495300"/>
            <a:ext cx="571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i="0">
                <a:solidFill>
                  <a:srgbClr val="9DB9FF"/>
                </a:solidFill>
              </a:defRPr>
            </a:pPr>
            <a:r>
              <a:rPr sz="1200" b="1" i="0">
                <a:solidFill>
                  <a:srgbClr val="9DB9FF"/>
                </a:solidFill>
              </a:rPr>
              <a:t>THE CHALLENGE</a:t>
            </a:r>
          </a:p>
        </p:txBody>
      </p:sp>
      <p:sp>
        <p:nvSpPr>
          <p:cNvPr id="2" name="">
            <a:extLst xmlns:a="http://schemas.openxmlformats.org/drawingml/2006/main">
              <a:ext uri="{FF2B5EF4-FFF2-40B4-BE49-F238E27FC236}">
                <a16:creationId xmlns:a16="http://schemas.microsoft.com/office/drawing/2014/main" id="{AAC59708-9F36-4A50-BE4A-A7D2889EEE80}"/>
              </a:ext>
            </a:extLst>
          </p:cNvPr>
          <p:cNvSpPr>
            <a:spLocks xmlns:a="http://schemas.openxmlformats.org/drawingml/2006/main" noGrp="1"/>
          </p:cNvSpPr>
          <p:nvPr/>
        </p:nvSpPr>
        <p:spPr>
          <a:xfrm xmlns:a="http://schemas.openxmlformats.org/drawingml/2006/main">
            <a:off x="685800" y="895350"/>
            <a:ext cx="9525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750" b="1" i="0">
                <a:solidFill>
                  <a:srgbClr val="F7F4EC"/>
                </a:solidFill>
              </a:defRPr>
            </a:pPr>
            <a:r>
              <a:rPr sz="3750" b="1" i="0">
                <a:solidFill>
                  <a:srgbClr val="F7F4EC"/>
                </a:solidFill>
              </a:rPr>
              <a:t>We had to verify the verifier.</a:t>
            </a:r>
          </a:p>
        </p:txBody>
      </p:sp>
      <p:sp>
        <p:nvSpPr>
          <p:cNvPr id="3" name="">
            <a:extLst xmlns:a="http://schemas.openxmlformats.org/drawingml/2006/main">
              <a:ext uri="{FF2B5EF4-FFF2-40B4-BE49-F238E27FC236}">
                <a16:creationId xmlns:a16="http://schemas.microsoft.com/office/drawing/2014/main" id="{E7F5807F-A592-4F6D-94E3-B170234E2682}"/>
              </a:ext>
            </a:extLst>
          </p:cNvPr>
          <p:cNvSpPr>
            <a:spLocks xmlns:a="http://schemas.openxmlformats.org/drawingml/2006/main" noGrp="1"/>
          </p:cNvSpPr>
          <p:nvPr/>
        </p:nvSpPr>
        <p:spPr>
          <a:xfrm xmlns:a="http://schemas.openxmlformats.org/drawingml/2006/main">
            <a:off x="685800" y="2038350"/>
            <a:ext cx="10820400" cy="0"/>
          </a:xfrm>
          <a:prstGeom xmlns:a="http://schemas.openxmlformats.org/drawingml/2006/main" prst="line">
            <a:avLst/>
          </a:prstGeom>
          <a:noFill xmlns:a="http://schemas.openxmlformats.org/drawingml/2006/main"/>
          <a:ln xmlns:a="http://schemas.openxmlformats.org/drawingml/2006/main" w="19050">
            <a:solidFill>
              <a:srgbClr val="2A3242"/>
            </a:solidFill>
            <a:prstDash val="solid"/>
          </a:ln>
        </p:spPr>
      </p:sp>
      <p:sp>
        <p:nvSpPr>
          <p:cNvPr id="4" name="">
            <a:extLst xmlns:a="http://schemas.openxmlformats.org/drawingml/2006/main">
              <a:ext uri="{FF2B5EF4-FFF2-40B4-BE49-F238E27FC236}">
                <a16:creationId xmlns:a16="http://schemas.microsoft.com/office/drawing/2014/main" id="{16F1B63F-4F01-457A-B090-C35497FAF1A4}"/>
              </a:ext>
            </a:extLst>
          </p:cNvPr>
          <p:cNvSpPr>
            <a:spLocks xmlns:a="http://schemas.openxmlformats.org/drawingml/2006/main" noGrp="1"/>
          </p:cNvSpPr>
          <p:nvPr/>
        </p:nvSpPr>
        <p:spPr>
          <a:xfrm xmlns:a="http://schemas.openxmlformats.org/drawingml/2006/main">
            <a:off x="819150" y="2609850"/>
            <a:ext cx="685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i="0">
                <a:solidFill>
                  <a:srgbClr val="67D79A"/>
                </a:solidFill>
              </a:defRPr>
            </a:pPr>
            <a:r>
              <a:rPr sz="1650" b="1" i="0">
                <a:solidFill>
                  <a:srgbClr val="67D79A"/>
                </a:solidFill>
              </a:rPr>
              <a:t>01</a:t>
            </a:r>
          </a:p>
        </p:txBody>
      </p:sp>
      <p:sp>
        <p:nvSpPr>
          <p:cNvPr id="5" name="">
            <a:extLst xmlns:a="http://schemas.openxmlformats.org/drawingml/2006/main">
              <a:ext uri="{FF2B5EF4-FFF2-40B4-BE49-F238E27FC236}">
                <a16:creationId xmlns:a16="http://schemas.microsoft.com/office/drawing/2014/main" id="{E9147156-B8BB-4448-8D20-96BB915C4EA0}"/>
              </a:ext>
            </a:extLst>
          </p:cNvPr>
          <p:cNvSpPr>
            <a:spLocks xmlns:a="http://schemas.openxmlformats.org/drawingml/2006/main" noGrp="1"/>
          </p:cNvSpPr>
          <p:nvPr/>
        </p:nvSpPr>
        <p:spPr>
          <a:xfrm xmlns:a="http://schemas.openxmlformats.org/drawingml/2006/main">
            <a:off x="819150" y="3181350"/>
            <a:ext cx="2762250" cy="1181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i="0">
                <a:solidFill>
                  <a:srgbClr val="F7F4EC"/>
                </a:solidFill>
              </a:defRPr>
            </a:pPr>
            <a:r>
              <a:rPr sz="2025" b="1" i="0">
                <a:solidFill>
                  <a:srgbClr val="F7F4EC"/>
                </a:solidFill>
              </a:rPr>
              <a:t>A green test</a:t>
            </a:r>
          </a:p>
          <a:p xmlns:a="http://schemas.openxmlformats.org/drawingml/2006/main">
            <a:pPr algn="l">
              <a:defRPr sz="2025" b="1" i="0">
                <a:solidFill>
                  <a:srgbClr val="F7F4EC"/>
                </a:solidFill>
              </a:defRPr>
            </a:pPr>
            <a:r>
              <a:rPr sz="2025" b="1" i="0">
                <a:solidFill>
                  <a:srgbClr val="F7F4EC"/>
                </a:solidFill>
              </a:rPr>
              <a:t>can prove nothing.</a:t>
            </a:r>
          </a:p>
        </p:txBody>
      </p:sp>
      <p:sp>
        <p:nvSpPr>
          <p:cNvPr id="6" name="">
            <a:extLst xmlns:a="http://schemas.openxmlformats.org/drawingml/2006/main">
              <a:ext uri="{FF2B5EF4-FFF2-40B4-BE49-F238E27FC236}">
                <a16:creationId xmlns:a16="http://schemas.microsoft.com/office/drawing/2014/main" id="{DEBA2514-5093-45A6-9E24-5C04FC73D475}"/>
              </a:ext>
            </a:extLst>
          </p:cNvPr>
          <p:cNvSpPr>
            <a:spLocks xmlns:a="http://schemas.openxmlformats.org/drawingml/2006/main" noGrp="1"/>
          </p:cNvSpPr>
          <p:nvPr/>
        </p:nvSpPr>
        <p:spPr>
          <a:xfrm xmlns:a="http://schemas.openxmlformats.org/drawingml/2006/main">
            <a:off x="4438650" y="2609850"/>
            <a:ext cx="685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i="0">
                <a:solidFill>
                  <a:srgbClr val="FF5A5F"/>
                </a:solidFill>
              </a:defRPr>
            </a:pPr>
            <a:r>
              <a:rPr sz="1650" b="1" i="0">
                <a:solidFill>
                  <a:srgbClr val="FF5A5F"/>
                </a:solidFill>
              </a:rPr>
              <a:t>02</a:t>
            </a:r>
          </a:p>
        </p:txBody>
      </p:sp>
      <p:sp>
        <p:nvSpPr>
          <p:cNvPr id="7" name="">
            <a:extLst xmlns:a="http://schemas.openxmlformats.org/drawingml/2006/main">
              <a:ext uri="{FF2B5EF4-FFF2-40B4-BE49-F238E27FC236}">
                <a16:creationId xmlns:a16="http://schemas.microsoft.com/office/drawing/2014/main" id="{539F90EA-4475-45E2-B7F1-2D1CA6CFFA58}"/>
              </a:ext>
            </a:extLst>
          </p:cNvPr>
          <p:cNvSpPr>
            <a:spLocks xmlns:a="http://schemas.openxmlformats.org/drawingml/2006/main" noGrp="1"/>
          </p:cNvSpPr>
          <p:nvPr/>
        </p:nvSpPr>
        <p:spPr>
          <a:xfrm xmlns:a="http://schemas.openxmlformats.org/drawingml/2006/main">
            <a:off x="4438650" y="3181350"/>
            <a:ext cx="2762250" cy="1181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i="0">
                <a:solidFill>
                  <a:srgbClr val="F7F4EC"/>
                </a:solidFill>
              </a:defRPr>
            </a:pPr>
            <a:r>
              <a:rPr sz="2025" b="1" i="0">
                <a:solidFill>
                  <a:srgbClr val="F7F4EC"/>
                </a:solidFill>
              </a:rPr>
              <a:t>A timeout is not</a:t>
            </a:r>
          </a:p>
          <a:p xmlns:a="http://schemas.openxmlformats.org/drawingml/2006/main">
            <a:pPr algn="l">
              <a:defRPr sz="2025" b="1" i="0">
                <a:solidFill>
                  <a:srgbClr val="F7F4EC"/>
                </a:solidFill>
              </a:defRPr>
            </a:pPr>
            <a:r>
              <a:rPr sz="2025" b="1" i="0">
                <a:solidFill>
                  <a:srgbClr val="F7F4EC"/>
                </a:solidFill>
              </a:rPr>
              <a:t>a code failure.</a:t>
            </a:r>
          </a:p>
        </p:txBody>
      </p:sp>
      <p:sp>
        <p:nvSpPr>
          <p:cNvPr id="8" name="">
            <a:extLst xmlns:a="http://schemas.openxmlformats.org/drawingml/2006/main">
              <a:ext uri="{FF2B5EF4-FFF2-40B4-BE49-F238E27FC236}">
                <a16:creationId xmlns:a16="http://schemas.microsoft.com/office/drawing/2014/main" id="{22DF91C5-26A3-414B-9AC0-8A73773BB069}"/>
              </a:ext>
            </a:extLst>
          </p:cNvPr>
          <p:cNvSpPr>
            <a:spLocks xmlns:a="http://schemas.openxmlformats.org/drawingml/2006/main" noGrp="1"/>
          </p:cNvSpPr>
          <p:nvPr/>
        </p:nvSpPr>
        <p:spPr>
          <a:xfrm xmlns:a="http://schemas.openxmlformats.org/drawingml/2006/main">
            <a:off x="8248650" y="2609850"/>
            <a:ext cx="685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i="0">
                <a:solidFill>
                  <a:srgbClr val="C99A2E"/>
                </a:solidFill>
              </a:defRPr>
            </a:pPr>
            <a:r>
              <a:rPr sz="1650" b="1" i="0">
                <a:solidFill>
                  <a:srgbClr val="C99A2E"/>
                </a:solidFill>
              </a:rPr>
              <a:t>03</a:t>
            </a:r>
          </a:p>
        </p:txBody>
      </p:sp>
      <p:sp>
        <p:nvSpPr>
          <p:cNvPr id="9" name="">
            <a:extLst xmlns:a="http://schemas.openxmlformats.org/drawingml/2006/main">
              <a:ext uri="{FF2B5EF4-FFF2-40B4-BE49-F238E27FC236}">
                <a16:creationId xmlns:a16="http://schemas.microsoft.com/office/drawing/2014/main" id="{EF24EDFA-814F-46D1-BD3C-2AE3DAE3015E}"/>
              </a:ext>
            </a:extLst>
          </p:cNvPr>
          <p:cNvSpPr>
            <a:spLocks xmlns:a="http://schemas.openxmlformats.org/drawingml/2006/main" noGrp="1"/>
          </p:cNvSpPr>
          <p:nvPr/>
        </p:nvSpPr>
        <p:spPr>
          <a:xfrm xmlns:a="http://schemas.openxmlformats.org/drawingml/2006/main">
            <a:off x="8248650" y="3181350"/>
            <a:ext cx="2762250" cy="1181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i="0">
                <a:solidFill>
                  <a:srgbClr val="F7F4EC"/>
                </a:solidFill>
              </a:defRPr>
            </a:pPr>
            <a:r>
              <a:rPr sz="2025" b="1" i="0">
                <a:solidFill>
                  <a:srgbClr val="F7F4EC"/>
                </a:solidFill>
              </a:rPr>
              <a:t>An opinion is not</a:t>
            </a:r>
          </a:p>
          <a:p xmlns:a="http://schemas.openxmlformats.org/drawingml/2006/main">
            <a:pPr algn="l">
              <a:defRPr sz="2025" b="1" i="0">
                <a:solidFill>
                  <a:srgbClr val="F7F4EC"/>
                </a:solidFill>
              </a:defRPr>
            </a:pPr>
            <a:r>
              <a:rPr sz="2025" b="1" i="0">
                <a:solidFill>
                  <a:srgbClr val="F7F4EC"/>
                </a:solidFill>
              </a:rPr>
              <a:t>executed evidence.</a:t>
            </a:r>
          </a:p>
        </p:txBody>
      </p:sp>
      <p:sp>
        <p:nvSpPr>
          <p:cNvPr id="10" name="">
            <a:extLst xmlns:a="http://schemas.openxmlformats.org/drawingml/2006/main">
              <a:ext uri="{FF2B5EF4-FFF2-40B4-BE49-F238E27FC236}">
                <a16:creationId xmlns:a16="http://schemas.microsoft.com/office/drawing/2014/main" id="{A5759D29-7709-4C87-8593-A0DA2D3B97AB}"/>
              </a:ext>
            </a:extLst>
          </p:cNvPr>
          <p:cNvSpPr>
            <a:spLocks xmlns:a="http://schemas.openxmlformats.org/drawingml/2006/main" noGrp="1"/>
          </p:cNvSpPr>
          <p:nvPr/>
        </p:nvSpPr>
        <p:spPr>
          <a:xfrm xmlns:a="http://schemas.openxmlformats.org/drawingml/2006/main">
            <a:off x="1333500" y="5219700"/>
            <a:ext cx="9525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100" b="0" i="0">
                <a:solidFill>
                  <a:srgbClr val="A6ADBB"/>
                </a:solidFill>
              </a:defRPr>
            </a:pPr>
            <a:r>
              <a:rPr sz="2100" b="0" i="0">
                <a:solidFill>
                  <a:srgbClr val="A6ADBB"/>
                </a:solidFill>
              </a:rPr>
              <a:t>When Popper cannot gather trustworthy evidence, the gate stays closed.</a:t>
            </a:r>
          </a:p>
        </p:txBody>
      </p:sp>
      <p:sp>
        <p:nvSpPr>
          <p:cNvPr id="11" name="">
            <a:extLst xmlns:a="http://schemas.openxmlformats.org/drawingml/2006/main">
              <a:ext uri="{FF2B5EF4-FFF2-40B4-BE49-F238E27FC236}">
                <a16:creationId xmlns:a16="http://schemas.microsoft.com/office/drawing/2014/main" id="{8162D03D-C718-460F-83D2-D30CCEBE2423}"/>
              </a:ext>
            </a:extLst>
          </p:cNvPr>
          <p:cNvSpPr>
            <a:spLocks xmlns:a="http://schemas.openxmlformats.org/drawingml/2006/main" noGrp="1"/>
          </p:cNvSpPr>
          <p:nvPr/>
        </p:nvSpPr>
        <p:spPr>
          <a:xfrm xmlns:a="http://schemas.openxmlformats.org/drawingml/2006/main">
            <a:off x="685800" y="6419850"/>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i="0">
                <a:solidFill>
                  <a:srgbClr val="687185"/>
                </a:solidFill>
              </a:defRPr>
            </a:pPr>
            <a:r>
              <a:rPr sz="1050" b="0" i="0">
                <a:solidFill>
                  <a:srgbClr val="687185"/>
                </a:solidFill>
              </a:rPr>
              <a:t>POPPER  ·  09</a:t>
            </a:r>
          </a:p>
        </p:txBody>
      </p:sp>
    </p:spTree>
    <p:extLst>
      <p:ext uri="{BB962C8B-B14F-4D97-AF65-F5344CB8AC3E}">
        <p14:creationId xmlns:p14="http://schemas.microsoft.com/office/powerpoint/2010/main" val="1192637531"/>
      </p:ext>
    </p:extLst>
  </p:cSld>
</p:sld>
</file>

<file path=ppt/slides/slide10.xml><?xml version="1.0" encoding="utf-8"?>
<p:sld xmlns:p="http://schemas.openxmlformats.org/presentationml/2006/main">
  <p:cSld>
    <p:bg>
      <p:bgPr>
        <a:solidFill xmlns:a="http://schemas.openxmlformats.org/drawingml/2006/main">
          <a:srgbClr val="07090D"/>
        </a:solidFill>
      </p:bgPr>
    </p:bg>
    <p:spTree>
      <p:nvGrpSpPr>
        <p:cNvPr id="1" name=""/>
        <p:cNvGrpSpPr/>
        <p:nvPr/>
      </p:nvGrpSpPr>
      <p:grpSpPr>
        <a:xfrm xmlns:a="http://schemas.openxmlformats.org/drawingml/2006/main"/>
      </p:grpSpPr>
      <p:pic>
        <p:nvPicPr>
          <p:cNvPr id="5" name=""/>
          <p:cNvPicPr>
            <a:picLocks xmlns:a="http://schemas.openxmlformats.org/drawingml/2006/main" noChangeAspect="1"/>
          </p:cNvPicPr>
          <p:nvPr/>
        </p:nvPicPr>
        <p:blipFill>
          <a:blip xmlns:r="http://schemas.openxmlformats.org/officeDocument/2006/relationships" xmlns:a="http://schemas.openxmlformats.org/drawingml/2006/main" r:embed="R5858b5a70da04d3d"/>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4B93B88D-5A01-4D2A-B783-30F455921D73}"/>
              </a:ext>
            </a:extLst>
          </p:cNvPr>
          <p:cNvSpPr>
            <a:spLocks xmlns:a="http://schemas.openxmlformats.org/drawingml/2006/main" noGrp="1"/>
          </p:cNvSpPr>
          <p:nvPr/>
        </p:nvSpPr>
        <p:spPr>
          <a:xfrm xmlns:a="http://schemas.openxmlformats.org/drawingml/2006/main">
            <a:off x="685800" y="742950"/>
            <a:ext cx="7810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600" b="1" i="0">
                <a:solidFill>
                  <a:srgbClr val="F7F4EC"/>
                </a:solidFill>
              </a:defRPr>
            </a:pPr>
            <a:r>
              <a:rPr sz="3600" b="1" i="0">
                <a:solidFill>
                  <a:srgbClr val="F7F4EC"/>
                </a:solidFill>
              </a:rPr>
              <a:t>AI agents can make the claim.</a:t>
            </a:r>
          </a:p>
        </p:txBody>
      </p:sp>
      <p:sp>
        <p:nvSpPr>
          <p:cNvPr id="3" name="">
            <a:extLst xmlns:a="http://schemas.openxmlformats.org/drawingml/2006/main">
              <a:ext uri="{FF2B5EF4-FFF2-40B4-BE49-F238E27FC236}">
                <a16:creationId xmlns:a16="http://schemas.microsoft.com/office/drawing/2014/main" id="{53137623-5C2C-4D7C-A011-1066DC0FD1A9}"/>
              </a:ext>
            </a:extLst>
          </p:cNvPr>
          <p:cNvSpPr>
            <a:spLocks xmlns:a="http://schemas.openxmlformats.org/drawingml/2006/main" noGrp="1"/>
          </p:cNvSpPr>
          <p:nvPr/>
        </p:nvSpPr>
        <p:spPr>
          <a:xfrm xmlns:a="http://schemas.openxmlformats.org/drawingml/2006/main">
            <a:off x="685800" y="5410200"/>
            <a:ext cx="8286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750" b="1" i="0">
                <a:solidFill>
                  <a:srgbClr val="F7F4EC"/>
                </a:solidFill>
              </a:defRPr>
            </a:pPr>
            <a:r>
              <a:rPr sz="3750" b="1" i="0">
                <a:solidFill>
                  <a:srgbClr val="F7F4EC"/>
                </a:solidFill>
              </a:rPr>
              <a:t>Popper makes it earn trust.</a:t>
            </a:r>
          </a:p>
        </p:txBody>
      </p:sp>
      <p:sp>
        <p:nvSpPr>
          <p:cNvPr id="4" name="">
            <a:extLst xmlns:a="http://schemas.openxmlformats.org/drawingml/2006/main">
              <a:ext uri="{FF2B5EF4-FFF2-40B4-BE49-F238E27FC236}">
                <a16:creationId xmlns:a16="http://schemas.microsoft.com/office/drawing/2014/main" id="{0DC993EC-4927-4407-96FD-429937AC895C}"/>
              </a:ext>
            </a:extLst>
          </p:cNvPr>
          <p:cNvSpPr>
            <a:spLocks xmlns:a="http://schemas.openxmlformats.org/drawingml/2006/main" noGrp="1"/>
          </p:cNvSpPr>
          <p:nvPr/>
        </p:nvSpPr>
        <p:spPr>
          <a:xfrm xmlns:a="http://schemas.openxmlformats.org/drawingml/2006/main">
            <a:off x="8724900" y="5638800"/>
            <a:ext cx="2762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200" b="1" i="0">
                <a:solidFill>
                  <a:srgbClr val="9DB9FF"/>
                </a:solidFill>
              </a:defRPr>
            </a:pPr>
            <a:r>
              <a:rPr sz="1200" b="1" i="0">
                <a:solidFill>
                  <a:srgbClr val="9DB9FF"/>
                </a:solidFill>
              </a:rPr>
              <a:t>THE HUMAN HOLDS THE KEY.</a:t>
            </a:r>
          </a:p>
        </p:txBody>
      </p:sp>
    </p:spTree>
    <p:extLst>
      <p:ext uri="{BB962C8B-B14F-4D97-AF65-F5344CB8AC3E}">
        <p14:creationId xmlns:p14="http://schemas.microsoft.com/office/powerpoint/2010/main" val="25135750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2026-07-24T21:32:35.2290000Z</dcterms:created>
  <dcterms:modified xsi:type="dcterms:W3CDTF">2026-07-24T21:32:35.2290000Z</dcterms:modified>
</coreProperties>
</file>